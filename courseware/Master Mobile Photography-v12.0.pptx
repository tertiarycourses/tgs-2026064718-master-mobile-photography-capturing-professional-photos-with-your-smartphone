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  <p:sldId id="361" r:id="rId112"/>
    <p:sldId id="362" r:id="rId113"/>
    <p:sldId id="363" r:id="rId114"/>
    <p:sldId id="364" r:id="rId115"/>
    <p:sldId id="365" r:id="rId116"/>
    <p:sldId id="366" r:id="rId117"/>
    <p:sldId id="367" r:id="rId118"/>
    <p:sldId id="368" r:id="rId119"/>
    <p:sldId id="369" r:id="rId120"/>
    <p:sldId id="370" r:id="rId121"/>
    <p:sldId id="371" r:id="rId122"/>
    <p:sldId id="372" r:id="rId123"/>
    <p:sldId id="373" r:id="rId124"/>
    <p:sldId id="374" r:id="rId125"/>
    <p:sldId id="375" r:id="rId126"/>
    <p:sldId id="376" r:id="rId127"/>
    <p:sldId id="377" r:id="rId128"/>
    <p:sldId id="378" r:id="rId129"/>
    <p:sldId id="379" r:id="rId130"/>
    <p:sldId id="380" r:id="rId131"/>
    <p:sldId id="381" r:id="rId132"/>
    <p:sldId id="382" r:id="rId133"/>
    <p:sldId id="383" r:id="rId134"/>
    <p:sldId id="384" r:id="rId135"/>
    <p:sldId id="385" r:id="rId136"/>
    <p:sldId id="386" r:id="rId137"/>
    <p:sldId id="387" r:id="rId138"/>
    <p:sldId id="388" r:id="rId139"/>
    <p:sldId id="389" r:id="rId140"/>
    <p:sldId id="390" r:id="rId141"/>
    <p:sldId id="391" r:id="rId142"/>
    <p:sldId id="392" r:id="rId143"/>
    <p:sldId id="393" r:id="rId144"/>
    <p:sldId id="394" r:id="rId145"/>
    <p:sldId id="395" r:id="rId14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Relationship Id="rId106" Type="http://schemas.openxmlformats.org/officeDocument/2006/relationships/slide" Target="slides/slide100.xml"/><Relationship Id="rId107" Type="http://schemas.openxmlformats.org/officeDocument/2006/relationships/slide" Target="slides/slide101.xml"/><Relationship Id="rId108" Type="http://schemas.openxmlformats.org/officeDocument/2006/relationships/slide" Target="slides/slide102.xml"/><Relationship Id="rId109" Type="http://schemas.openxmlformats.org/officeDocument/2006/relationships/slide" Target="slides/slide103.xml"/><Relationship Id="rId110" Type="http://schemas.openxmlformats.org/officeDocument/2006/relationships/slide" Target="slides/slide104.xml"/><Relationship Id="rId111" Type="http://schemas.openxmlformats.org/officeDocument/2006/relationships/slide" Target="slides/slide105.xml"/><Relationship Id="rId112" Type="http://schemas.openxmlformats.org/officeDocument/2006/relationships/slide" Target="slides/slide106.xml"/><Relationship Id="rId113" Type="http://schemas.openxmlformats.org/officeDocument/2006/relationships/slide" Target="slides/slide107.xml"/><Relationship Id="rId114" Type="http://schemas.openxmlformats.org/officeDocument/2006/relationships/slide" Target="slides/slide108.xml"/><Relationship Id="rId115" Type="http://schemas.openxmlformats.org/officeDocument/2006/relationships/slide" Target="slides/slide109.xml"/><Relationship Id="rId116" Type="http://schemas.openxmlformats.org/officeDocument/2006/relationships/slide" Target="slides/slide110.xml"/><Relationship Id="rId117" Type="http://schemas.openxmlformats.org/officeDocument/2006/relationships/slide" Target="slides/slide111.xml"/><Relationship Id="rId118" Type="http://schemas.openxmlformats.org/officeDocument/2006/relationships/slide" Target="slides/slide112.xml"/><Relationship Id="rId119" Type="http://schemas.openxmlformats.org/officeDocument/2006/relationships/slide" Target="slides/slide113.xml"/><Relationship Id="rId120" Type="http://schemas.openxmlformats.org/officeDocument/2006/relationships/slide" Target="slides/slide114.xml"/><Relationship Id="rId121" Type="http://schemas.openxmlformats.org/officeDocument/2006/relationships/slide" Target="slides/slide115.xml"/><Relationship Id="rId122" Type="http://schemas.openxmlformats.org/officeDocument/2006/relationships/slide" Target="slides/slide116.xml"/><Relationship Id="rId123" Type="http://schemas.openxmlformats.org/officeDocument/2006/relationships/slide" Target="slides/slide117.xml"/><Relationship Id="rId124" Type="http://schemas.openxmlformats.org/officeDocument/2006/relationships/slide" Target="slides/slide118.xml"/><Relationship Id="rId125" Type="http://schemas.openxmlformats.org/officeDocument/2006/relationships/slide" Target="slides/slide119.xml"/><Relationship Id="rId126" Type="http://schemas.openxmlformats.org/officeDocument/2006/relationships/slide" Target="slides/slide120.xml"/><Relationship Id="rId127" Type="http://schemas.openxmlformats.org/officeDocument/2006/relationships/slide" Target="slides/slide121.xml"/><Relationship Id="rId128" Type="http://schemas.openxmlformats.org/officeDocument/2006/relationships/slide" Target="slides/slide122.xml"/><Relationship Id="rId129" Type="http://schemas.openxmlformats.org/officeDocument/2006/relationships/slide" Target="slides/slide123.xml"/><Relationship Id="rId130" Type="http://schemas.openxmlformats.org/officeDocument/2006/relationships/slide" Target="slides/slide124.xml"/><Relationship Id="rId131" Type="http://schemas.openxmlformats.org/officeDocument/2006/relationships/slide" Target="slides/slide125.xml"/><Relationship Id="rId132" Type="http://schemas.openxmlformats.org/officeDocument/2006/relationships/slide" Target="slides/slide126.xml"/><Relationship Id="rId133" Type="http://schemas.openxmlformats.org/officeDocument/2006/relationships/slide" Target="slides/slide127.xml"/><Relationship Id="rId134" Type="http://schemas.openxmlformats.org/officeDocument/2006/relationships/slide" Target="slides/slide128.xml"/><Relationship Id="rId135" Type="http://schemas.openxmlformats.org/officeDocument/2006/relationships/slide" Target="slides/slide129.xml"/><Relationship Id="rId136" Type="http://schemas.openxmlformats.org/officeDocument/2006/relationships/slide" Target="slides/slide130.xml"/><Relationship Id="rId137" Type="http://schemas.openxmlformats.org/officeDocument/2006/relationships/slide" Target="slides/slide131.xml"/><Relationship Id="rId138" Type="http://schemas.openxmlformats.org/officeDocument/2006/relationships/slide" Target="slides/slide132.xml"/><Relationship Id="rId139" Type="http://schemas.openxmlformats.org/officeDocument/2006/relationships/slide" Target="slides/slide133.xml"/><Relationship Id="rId140" Type="http://schemas.openxmlformats.org/officeDocument/2006/relationships/slide" Target="slides/slide134.xml"/><Relationship Id="rId141" Type="http://schemas.openxmlformats.org/officeDocument/2006/relationships/slide" Target="slides/slide135.xml"/><Relationship Id="rId142" Type="http://schemas.openxmlformats.org/officeDocument/2006/relationships/slide" Target="slides/slide136.xml"/><Relationship Id="rId143" Type="http://schemas.openxmlformats.org/officeDocument/2006/relationships/slide" Target="slides/slide137.xml"/><Relationship Id="rId144" Type="http://schemas.openxmlformats.org/officeDocument/2006/relationships/slide" Target="slides/slide138.xml"/><Relationship Id="rId145" Type="http://schemas.openxmlformats.org/officeDocument/2006/relationships/slide" Target="slides/slide139.xml"/><Relationship Id="rId146" Type="http://schemas.openxmlformats.org/officeDocument/2006/relationships/slide" Target="slides/slide14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tertiarycourses/TGS-2026064718-Master-Mobile-Photography-Capturing-Professional-Photos-with-Your-Smartphone" TargetMode="Externa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cover-hero-v12.png"/>
          <p:cNvPicPr>
            <a:picLocks noChangeAspect="1"/>
          </p:cNvPicPr>
          <p:nvPr/>
        </p:nvPicPr>
        <p:blipFill>
          <a:blip r:embed="rId2"/>
          <a:srcRect l="21747" r="21747"/>
          <a:stretch>
            <a:fillRect/>
          </a:stretch>
        </p:blipFill>
        <p:spPr>
          <a:xfrm>
            <a:off x="5303520" y="0"/>
            <a:ext cx="6885432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5074920" y="0"/>
            <a:ext cx="548640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475488"/>
            <a:ext cx="443484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08A73"/>
                </a:solidFill>
                <a:latin typeface="Arial"/>
              </a:rPr>
              <a:t>WSQ · CAMERA OPERATIONS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960120"/>
            <a:ext cx="4526280" cy="21488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Master Mobile Photography: Capturing Professional Photos with Your Smartphone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3319272"/>
            <a:ext cx="4251960" cy="7132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0">
                <a:solidFill>
                  <a:srgbClr val="5B6372"/>
                </a:solidFill>
                <a:latin typeface="Arial"/>
              </a:rPr>
              <a:t>Capture with intent · compose with purpose · edit with restraint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4261104"/>
            <a:ext cx="4251960" cy="123444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4480560"/>
            <a:ext cx="3794760" cy="82296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TGS-2026064718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Version v12.0 · 19 August 2026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Trainer: Dr Alfred Ang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5788152"/>
            <a:ext cx="4389120" cy="42062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5B6372"/>
                </a:solidFill>
                <a:latin typeface="Arial"/>
              </a:rPr>
              <a:t>Tertiary Infotech Academy Pte Ltd · UEN 201200696W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1083564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TRAQOM · SSG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835640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Digital Attendance (Mandatory)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86384" y="1700784"/>
            <a:ext cx="10561320" cy="59436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32688" y="1801368"/>
            <a:ext cx="384048" cy="384048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1819656"/>
            <a:ext cx="384048" cy="32918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90472" y="1783080"/>
            <a:ext cx="9555480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Take AM, PM and Assessment digital attendance for this WSQ-funded course.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86384" y="2450592"/>
            <a:ext cx="10561320" cy="59436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32688" y="2551176"/>
            <a:ext cx="384048" cy="384048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2569464"/>
            <a:ext cx="384048" cy="32918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90472" y="2532888"/>
            <a:ext cx="9555480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The trainer or administrator displays the SSG attendance QR code.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86384" y="3200400"/>
            <a:ext cx="10561320" cy="59436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32688" y="3300984"/>
            <a:ext cx="384048" cy="384048"/>
          </a:xfrm>
          <a:prstGeom prst="ellipse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3319272"/>
            <a:ext cx="384048" cy="32918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90472" y="3282696"/>
            <a:ext cx="9555480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Scan with Singpass/mobile camera and submit each required attendance.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86384" y="3950208"/>
            <a:ext cx="10561320" cy="59436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32688" y="4050792"/>
            <a:ext cx="384048" cy="384048"/>
          </a:xfrm>
          <a:prstGeom prst="ellipse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2688" y="4069080"/>
            <a:ext cx="384048" cy="32918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90472" y="4032504"/>
            <a:ext cx="9555480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At least 75% attendance and a Competent assessment outcome are required.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8368" y="6318504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8368" y="6382512"/>
            <a:ext cx="484632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Master Mobile Photography · TGS-2026064718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0" y="6382512"/>
            <a:ext cx="50292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98480" y="6382512"/>
            <a:ext cx="73152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5B6372"/>
          </a:solidFill>
          <a:ln>
            <a:solidFill>
              <a:srgbClr val="5B63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1083564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5B6372"/>
                </a:solidFill>
                <a:latin typeface="Arial"/>
              </a:rPr>
              <a:t>YOUR TRAINER · GENERAL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835640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About the Trainer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77240" y="1737360"/>
            <a:ext cx="3337560" cy="425196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664208" y="2212848"/>
            <a:ext cx="1554480" cy="1554480"/>
          </a:xfrm>
          <a:prstGeom prst="ellipse">
            <a:avLst/>
          </a:prstGeom>
          <a:solidFill>
            <a:srgbClr val="5B6372"/>
          </a:solidFill>
          <a:ln>
            <a:solidFill>
              <a:srgbClr val="5B63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64208" y="2487168"/>
            <a:ext cx="1554480" cy="7315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4000" b="1">
                <a:solidFill>
                  <a:srgbClr val="FFFFFF"/>
                </a:solidFill>
                <a:latin typeface="Arial"/>
              </a:rPr>
              <a:t>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160520"/>
            <a:ext cx="306324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1">
                <a:solidFill>
                  <a:srgbClr val="161B26"/>
                </a:solidFill>
                <a:latin typeface="Arial"/>
              </a:rPr>
              <a:t>Your Trainer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754880"/>
            <a:ext cx="3063240" cy="7315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Complete before delivery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60" y="1737360"/>
            <a:ext cx="6949440" cy="67818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80560" y="1737360"/>
            <a:ext cx="91440" cy="678180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54880" y="1783080"/>
            <a:ext cx="6400800" cy="640080"/>
          </a:xfrm>
          <a:prstGeom prst="rect">
            <a:avLst/>
          </a:prstGeom>
          <a:noFill/>
        </p:spPr>
        <p:txBody>
          <a:bodyPr wrap="square" lIns="27432" rIns="27432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1F6FEB"/>
                </a:solidFill>
                <a:latin typeface="Arial"/>
              </a:rPr>
              <a:t>NAME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________________________________________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80560" y="2446020"/>
            <a:ext cx="6949440" cy="67818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480560" y="2446020"/>
            <a:ext cx="91440" cy="678180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54880" y="2491739"/>
            <a:ext cx="6400800" cy="640080"/>
          </a:xfrm>
          <a:prstGeom prst="rect">
            <a:avLst/>
          </a:prstGeom>
          <a:noFill/>
        </p:spPr>
        <p:txBody>
          <a:bodyPr wrap="square" lIns="27432" rIns="27432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6D3FD2"/>
                </a:solidFill>
                <a:latin typeface="Arial"/>
              </a:rPr>
              <a:t>TITLE / DESIGNATION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________________________________________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480560" y="3154680"/>
            <a:ext cx="6949440" cy="67818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480560" y="3154680"/>
            <a:ext cx="91440" cy="678180"/>
          </a:xfrm>
          <a:prstGeom prst="rect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754880" y="3200400"/>
            <a:ext cx="6400800" cy="640080"/>
          </a:xfrm>
          <a:prstGeom prst="rect">
            <a:avLst/>
          </a:prstGeom>
          <a:noFill/>
        </p:spPr>
        <p:txBody>
          <a:bodyPr wrap="square" lIns="27432" rIns="27432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108A73"/>
                </a:solidFill>
                <a:latin typeface="Arial"/>
              </a:rPr>
              <a:t>QUALIFICATIONS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________________________________________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480560" y="3863339"/>
            <a:ext cx="6949440" cy="67818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480560" y="3863339"/>
            <a:ext cx="91440" cy="678180"/>
          </a:xfrm>
          <a:prstGeom prst="rect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754880" y="3909059"/>
            <a:ext cx="6400800" cy="640080"/>
          </a:xfrm>
          <a:prstGeom prst="rect">
            <a:avLst/>
          </a:prstGeom>
          <a:noFill/>
        </p:spPr>
        <p:txBody>
          <a:bodyPr wrap="square" lIns="27432" rIns="27432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16845B"/>
                </a:solidFill>
                <a:latin typeface="Arial"/>
              </a:rPr>
              <a:t>AREAS OF EXPERTISE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________________________________________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480560" y="4572000"/>
            <a:ext cx="6949440" cy="67818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480560" y="4572000"/>
            <a:ext cx="91440" cy="678180"/>
          </a:xfrm>
          <a:prstGeom prst="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754880" y="4617720"/>
            <a:ext cx="6400800" cy="640080"/>
          </a:xfrm>
          <a:prstGeom prst="rect">
            <a:avLst/>
          </a:prstGeom>
          <a:noFill/>
        </p:spPr>
        <p:txBody>
          <a:bodyPr wrap="square" lIns="27432" rIns="27432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C77600"/>
                </a:solidFill>
                <a:latin typeface="Arial"/>
              </a:rPr>
              <a:t>TRAINING EXPERIENCE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________________________________________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480560" y="5280660"/>
            <a:ext cx="6949440" cy="67818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480560" y="5280660"/>
            <a:ext cx="91440" cy="678180"/>
          </a:xfrm>
          <a:prstGeom prst="rect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754880" y="5326380"/>
            <a:ext cx="6400800" cy="640080"/>
          </a:xfrm>
          <a:prstGeom prst="rect">
            <a:avLst/>
          </a:prstGeom>
          <a:noFill/>
        </p:spPr>
        <p:txBody>
          <a:bodyPr wrap="square" lIns="27432" rIns="27432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C2413A"/>
                </a:solidFill>
                <a:latin typeface="Arial"/>
              </a:rPr>
              <a:t>CONTACT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________________________________________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58368" y="6318504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8368" y="6382512"/>
            <a:ext cx="484632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Master Mobile Photography · TGS-2026064718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0" y="6382512"/>
            <a:ext cx="50292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698480" y="6382512"/>
            <a:ext cx="73152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1083564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YOUR TRAINER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835640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About the Trainer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77240" y="1737360"/>
            <a:ext cx="3337560" cy="425196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664208" y="2212848"/>
            <a:ext cx="1554480" cy="1554480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64208" y="2487168"/>
            <a:ext cx="1554480" cy="7315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4000" b="1">
                <a:solidFill>
                  <a:srgbClr val="FFFFFF"/>
                </a:solidFill>
                <a:latin typeface="Arial"/>
              </a:rPr>
              <a:t>AA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160520"/>
            <a:ext cx="306324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1">
                <a:solidFill>
                  <a:srgbClr val="161B26"/>
                </a:solidFill>
                <a:latin typeface="Arial"/>
              </a:rPr>
              <a:t>Dr Alfred Ang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754880"/>
            <a:ext cx="3063240" cy="7315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Principal Trainer · Tertiary Infotech Academy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60" y="1737360"/>
            <a:ext cx="6949440" cy="101727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80560" y="1737360"/>
            <a:ext cx="91440" cy="1017270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54880" y="1783080"/>
            <a:ext cx="6400800" cy="960120"/>
          </a:xfrm>
          <a:prstGeom prst="rect">
            <a:avLst/>
          </a:prstGeom>
          <a:noFill/>
        </p:spPr>
        <p:txBody>
          <a:bodyPr wrap="square" lIns="27432" rIns="27432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1F6FEB"/>
                </a:solidFill>
                <a:latin typeface="Arial"/>
              </a:rPr>
              <a:t>ROLE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Principal Trainer and courseware lead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80560" y="2800350"/>
            <a:ext cx="6949440" cy="101727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480560" y="2800350"/>
            <a:ext cx="91440" cy="1017270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54880" y="2846070"/>
            <a:ext cx="6400800" cy="960120"/>
          </a:xfrm>
          <a:prstGeom prst="rect">
            <a:avLst/>
          </a:prstGeom>
          <a:noFill/>
        </p:spPr>
        <p:txBody>
          <a:bodyPr wrap="square" lIns="27432" rIns="27432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6D3FD2"/>
                </a:solidFill>
                <a:latin typeface="Arial"/>
              </a:rPr>
              <a:t>EXPERTISE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AI, automation, software and visual learning design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480560" y="3863339"/>
            <a:ext cx="6949440" cy="101727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480560" y="3863339"/>
            <a:ext cx="91440" cy="1017270"/>
          </a:xfrm>
          <a:prstGeom prst="rect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754880" y="3909059"/>
            <a:ext cx="6400800" cy="960120"/>
          </a:xfrm>
          <a:prstGeom prst="rect">
            <a:avLst/>
          </a:prstGeom>
          <a:noFill/>
        </p:spPr>
        <p:txBody>
          <a:bodyPr wrap="square" lIns="27432" rIns="27432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108A73"/>
                </a:solidFill>
                <a:latin typeface="Arial"/>
              </a:rPr>
              <a:t>DELIVERS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WSQ and professional digital-skills programmes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480560" y="4926330"/>
            <a:ext cx="6949440" cy="101727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480560" y="4926330"/>
            <a:ext cx="91440" cy="1017270"/>
          </a:xfrm>
          <a:prstGeom prst="rect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754880" y="4972050"/>
            <a:ext cx="6400800" cy="960120"/>
          </a:xfrm>
          <a:prstGeom prst="rect">
            <a:avLst/>
          </a:prstGeom>
          <a:noFill/>
        </p:spPr>
        <p:txBody>
          <a:bodyPr wrap="square" lIns="27432" rIns="27432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16845B"/>
                </a:solidFill>
                <a:latin typeface="Arial"/>
              </a:rPr>
              <a:t>ORGANISATION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Tertiary Infotech Academy Pte Ltd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8368" y="6318504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8368" y="6382512"/>
            <a:ext cx="484632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Master Mobile Photography · TGS-2026064718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0" y="6382512"/>
            <a:ext cx="50292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698480" y="6382512"/>
            <a:ext cx="73152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1083564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6D3FD2"/>
                </a:solidFill>
                <a:latin typeface="Arial"/>
              </a:rPr>
              <a:t>ICEBREAKER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835640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Let's Know Each Other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86384" y="1700784"/>
            <a:ext cx="10561320" cy="59436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32688" y="1801368"/>
            <a:ext cx="384048" cy="384048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1819656"/>
            <a:ext cx="384048" cy="32918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90472" y="1783080"/>
            <a:ext cx="9555480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Name, organisation and role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86384" y="2450592"/>
            <a:ext cx="10561320" cy="59436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32688" y="2551176"/>
            <a:ext cx="384048" cy="384048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2569464"/>
            <a:ext cx="384048" cy="32918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90472" y="2532888"/>
            <a:ext cx="9555480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Your main photography use case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86384" y="3200400"/>
            <a:ext cx="10561320" cy="59436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32688" y="3300984"/>
            <a:ext cx="384048" cy="384048"/>
          </a:xfrm>
          <a:prstGeom prst="ellipse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3319272"/>
            <a:ext cx="384048" cy="32918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90472" y="3282696"/>
            <a:ext cx="9555480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Phone model and camera experience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86384" y="3950208"/>
            <a:ext cx="10561320" cy="59436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32688" y="4050792"/>
            <a:ext cx="384048" cy="384048"/>
          </a:xfrm>
          <a:prstGeom prst="ellipse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2688" y="4069080"/>
            <a:ext cx="384048" cy="32918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90472" y="4032504"/>
            <a:ext cx="9555480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One result you want by the end of Day 2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8368" y="6318504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8368" y="6382512"/>
            <a:ext cx="484632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Master Mobile Photography · TGS-2026064718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0" y="6382512"/>
            <a:ext cx="50292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98480" y="6382512"/>
            <a:ext cx="73152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1083564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HOUSEKEEPING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835640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Ground Rules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664208"/>
            <a:ext cx="2585465" cy="210312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664208"/>
            <a:ext cx="82296" cy="2103120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847088"/>
            <a:ext cx="420624" cy="420624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865376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792224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Phone on silent except during guided capture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322576"/>
            <a:ext cx="2091689" cy="133502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Phone on silent except during guided capture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08426" y="1664208"/>
            <a:ext cx="2585465" cy="210312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408426" y="1664208"/>
            <a:ext cx="82296" cy="2103120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627882" y="1847088"/>
            <a:ext cx="420624" cy="420624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27882" y="1865376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58234" y="1792224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Participate actively and ask questions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64458" y="2322576"/>
            <a:ext cx="2091689" cy="133502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Participate actively and ask questions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58483" y="1664208"/>
            <a:ext cx="2585465" cy="210312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58483" y="1664208"/>
            <a:ext cx="82296" cy="2103120"/>
          </a:xfrm>
          <a:prstGeom prst="rect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377940" y="1847088"/>
            <a:ext cx="420624" cy="420624"/>
          </a:xfrm>
          <a:prstGeom prst="ellipse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77940" y="1865376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08292" y="1792224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Respect people, locations and differing views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14516" y="2322576"/>
            <a:ext cx="2091689" cy="133502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Respect people, locations and differing views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908542" y="1664208"/>
            <a:ext cx="2585465" cy="210312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908542" y="1664208"/>
            <a:ext cx="82296" cy="2103120"/>
          </a:xfrm>
          <a:prstGeom prst="rect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127998" y="1847088"/>
            <a:ext cx="420624" cy="420624"/>
          </a:xfrm>
          <a:prstGeom prst="ellipse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27998" y="1865376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58350" y="1792224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One conversation at a time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64574" y="2322576"/>
            <a:ext cx="2091689" cy="133502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One conversation at a time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58368" y="3931920"/>
            <a:ext cx="2585465" cy="210312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58368" y="3931920"/>
            <a:ext cx="82296" cy="2103120"/>
          </a:xfrm>
          <a:prstGeom prst="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877824" y="4114800"/>
            <a:ext cx="420624" cy="420624"/>
          </a:xfrm>
          <a:prstGeom prst="ellipse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77824" y="4133088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408176" y="4059936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Return from breaks punctually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4400" y="4590288"/>
            <a:ext cx="2091689" cy="133502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Return from breaks punctually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408426" y="3931920"/>
            <a:ext cx="2585465" cy="210312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3408426" y="3931920"/>
            <a:ext cx="82296" cy="2103120"/>
          </a:xfrm>
          <a:prstGeom prst="rect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3627882" y="4114800"/>
            <a:ext cx="420624" cy="420624"/>
          </a:xfrm>
          <a:prstGeom prst="ellipse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627882" y="4133088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158234" y="4059936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Stop any activity that becomes unsafe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664458" y="4590288"/>
            <a:ext cx="2091689" cy="133502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Stop any activity that becomes unsafe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58368" y="6318504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58368" y="6382512"/>
            <a:ext cx="484632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Master Mobile Photography · TGS-2026064718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657600" y="6382512"/>
            <a:ext cx="50292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698480" y="6382512"/>
            <a:ext cx="73152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1083564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COURSE AT A GLANCE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835640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Course Profile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00784"/>
            <a:ext cx="5349240" cy="512064"/>
          </a:xfrm>
          <a:prstGeom prst="roundRect">
            <a:avLst>
              <a:gd name="adj" fmla="val 8000"/>
            </a:avLst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9536" y="1828800"/>
            <a:ext cx="493776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Programme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2331720"/>
            <a:ext cx="5349240" cy="340156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32688" y="2651760"/>
            <a:ext cx="347472" cy="347472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2670048"/>
            <a:ext cx="347472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35607" y="2615184"/>
            <a:ext cx="4251960" cy="51206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2 days · 16 hours</a:t>
            </a:r>
          </a:p>
        </p:txBody>
      </p:sp>
      <p:sp>
        <p:nvSpPr>
          <p:cNvPr id="12" name="Oval 11"/>
          <p:cNvSpPr/>
          <p:nvPr/>
        </p:nvSpPr>
        <p:spPr>
          <a:xfrm>
            <a:off x="932688" y="3310128"/>
            <a:ext cx="347472" cy="347472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328415"/>
            <a:ext cx="347472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35607" y="3273552"/>
            <a:ext cx="4251960" cy="51206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Beginner level</a:t>
            </a:r>
          </a:p>
        </p:txBody>
      </p:sp>
      <p:sp>
        <p:nvSpPr>
          <p:cNvPr id="15" name="Oval 14"/>
          <p:cNvSpPr/>
          <p:nvPr/>
        </p:nvSpPr>
        <p:spPr>
          <a:xfrm>
            <a:off x="932688" y="3968496"/>
            <a:ext cx="347472" cy="347472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3986783"/>
            <a:ext cx="347472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35607" y="3931920"/>
            <a:ext cx="4251960" cy="51206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Camera Operations</a:t>
            </a:r>
          </a:p>
        </p:txBody>
      </p:sp>
      <p:sp>
        <p:nvSpPr>
          <p:cNvPr id="18" name="Oval 17"/>
          <p:cNvSpPr/>
          <p:nvPr/>
        </p:nvSpPr>
        <p:spPr>
          <a:xfrm>
            <a:off x="932688" y="4626864"/>
            <a:ext cx="347472" cy="347472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2688" y="4645152"/>
            <a:ext cx="347472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35607" y="4590288"/>
            <a:ext cx="4251960" cy="51206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TSC MED-MPN-3034-1.1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44768" y="1700784"/>
            <a:ext cx="5349240" cy="512064"/>
          </a:xfrm>
          <a:prstGeom prst="roundRect">
            <a:avLst>
              <a:gd name="adj" fmla="val 8000"/>
            </a:avLst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45936" y="1828800"/>
            <a:ext cx="493776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What to bring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44768" y="2331720"/>
            <a:ext cx="5349240" cy="340156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19088" y="2651760"/>
            <a:ext cx="347472" cy="347472"/>
          </a:xfrm>
          <a:prstGeom prst="ellipse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19088" y="2670048"/>
            <a:ext cx="347472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22007" y="2615184"/>
            <a:ext cx="4251960" cy="51206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Smartphone with camera</a:t>
            </a:r>
          </a:p>
        </p:txBody>
      </p:sp>
      <p:sp>
        <p:nvSpPr>
          <p:cNvPr id="27" name="Oval 26"/>
          <p:cNvSpPr/>
          <p:nvPr/>
        </p:nvSpPr>
        <p:spPr>
          <a:xfrm>
            <a:off x="6419088" y="3310128"/>
            <a:ext cx="347472" cy="347472"/>
          </a:xfrm>
          <a:prstGeom prst="ellipse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19088" y="3328415"/>
            <a:ext cx="347472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22007" y="3273552"/>
            <a:ext cx="4251960" cy="51206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Optional laptop for file review</a:t>
            </a:r>
          </a:p>
        </p:txBody>
      </p:sp>
      <p:sp>
        <p:nvSpPr>
          <p:cNvPr id="30" name="Oval 29"/>
          <p:cNvSpPr/>
          <p:nvPr/>
        </p:nvSpPr>
        <p:spPr>
          <a:xfrm>
            <a:off x="6419088" y="3968496"/>
            <a:ext cx="347472" cy="347472"/>
          </a:xfrm>
          <a:prstGeom prst="ellipse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19088" y="3986783"/>
            <a:ext cx="347472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22007" y="3931920"/>
            <a:ext cx="4251960" cy="51206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Activities in individual folders</a:t>
            </a:r>
          </a:p>
        </p:txBody>
      </p:sp>
      <p:sp>
        <p:nvSpPr>
          <p:cNvPr id="33" name="Oval 32"/>
          <p:cNvSpPr/>
          <p:nvPr/>
        </p:nvSpPr>
        <p:spPr>
          <a:xfrm>
            <a:off x="6419088" y="4626864"/>
            <a:ext cx="347472" cy="347472"/>
          </a:xfrm>
          <a:prstGeom prst="ellipse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19088" y="4645152"/>
            <a:ext cx="347472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22007" y="4590288"/>
            <a:ext cx="4251960" cy="51206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WA and Practical Performance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58368" y="6318504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58368" y="6382512"/>
            <a:ext cx="484632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Master Mobile Photography · TGS-2026064718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657600" y="6382512"/>
            <a:ext cx="50292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698480" y="6382512"/>
            <a:ext cx="73152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1083564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SMARTPHONE IMAGING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835640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How a Smartphone Builds an Image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55648"/>
            <a:ext cx="3401568" cy="3977639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55648"/>
            <a:ext cx="3401568" cy="109728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084831"/>
            <a:ext cx="2834640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Optics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816352"/>
            <a:ext cx="2852928" cy="2514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The lens and camera module set field of view, perspective and how much light reaches the sensor.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06824" y="1755648"/>
            <a:ext cx="3401568" cy="3977639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06824" y="1755648"/>
            <a:ext cx="3401568" cy="109728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62856" y="2084831"/>
            <a:ext cx="2834640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1">
                <a:solidFill>
                  <a:srgbClr val="6D3FD2"/>
                </a:solidFill>
                <a:latin typeface="Arial"/>
              </a:rPr>
              <a:t>Sensor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62856" y="2816352"/>
            <a:ext cx="2852928" cy="2514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The sensor records light within physical limits such as noise, motion blur and dynamic range.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55280" y="1755648"/>
            <a:ext cx="3401568" cy="3977639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955280" y="1755648"/>
            <a:ext cx="3401568" cy="109728"/>
          </a:xfrm>
          <a:prstGeom prst="rect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11312" y="2084831"/>
            <a:ext cx="2834640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1">
                <a:solidFill>
                  <a:srgbClr val="108A73"/>
                </a:solidFill>
                <a:latin typeface="Arial"/>
              </a:rPr>
              <a:t>Computation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11312" y="2816352"/>
            <a:ext cx="2852928" cy="2514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The phone aligns and merges frames, then applies tone, colour, sharpening and noise reduction.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8368" y="6318504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" y="6382512"/>
            <a:ext cx="484632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Master Mobile Photography · TGS-2026064718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0" y="6382512"/>
            <a:ext cx="50292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98480" y="6382512"/>
            <a:ext cx="73152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1083564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WHAT YOU'LL ACHIEVE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835640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Learning Outcomes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664208"/>
            <a:ext cx="2585465" cy="43708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664208"/>
            <a:ext cx="82296" cy="4370832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847088"/>
            <a:ext cx="420624" cy="420624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865376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792224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LO1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322576"/>
            <a:ext cx="2091689" cy="3602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Set up a mobile phone camera for shooting and interpret a shot plan.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08426" y="1664208"/>
            <a:ext cx="2585465" cy="43708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408426" y="1664208"/>
            <a:ext cx="82296" cy="4370832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627882" y="1847088"/>
            <a:ext cx="420624" cy="420624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27882" y="1865376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58234" y="1792224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LO2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64458" y="2322576"/>
            <a:ext cx="2091689" cy="3602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Perform basic mobile photography while meeting safety requirements.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58483" y="1664208"/>
            <a:ext cx="2585465" cy="43708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58483" y="1664208"/>
            <a:ext cx="82296" cy="4370832"/>
          </a:xfrm>
          <a:prstGeom prst="rect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377940" y="1847088"/>
            <a:ext cx="420624" cy="420624"/>
          </a:xfrm>
          <a:prstGeom prst="ellipse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77940" y="1865376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08292" y="1792224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LO3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14516" y="2322576"/>
            <a:ext cx="2091689" cy="3602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Apply framing and composition techniques using a mobile phone camera.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908542" y="1664208"/>
            <a:ext cx="2585465" cy="43708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908542" y="1664208"/>
            <a:ext cx="82296" cy="4370832"/>
          </a:xfrm>
          <a:prstGeom prst="rect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127998" y="1847088"/>
            <a:ext cx="420624" cy="420624"/>
          </a:xfrm>
          <a:prstGeom prst="ellipse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27998" y="1865376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58350" y="1792224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LO4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64574" y="2322576"/>
            <a:ext cx="2091689" cy="3602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Enhance visual quality and effects using capture and editing controls.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58368" y="6318504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8368" y="6382512"/>
            <a:ext cx="484632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Master Mobile Photography · TGS-2026064718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0" y="6382512"/>
            <a:ext cx="50292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698480" y="6382512"/>
            <a:ext cx="73152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1083564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6D3FD2"/>
                </a:solidFill>
                <a:latin typeface="Arial"/>
              </a:rPr>
              <a:t>KNOWLEDGE K1–K8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835640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Skills Framework Coverage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664208"/>
            <a:ext cx="2585465" cy="210312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664208"/>
            <a:ext cx="82296" cy="2103120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847088"/>
            <a:ext cx="420624" cy="420624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865376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792224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K1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322576"/>
            <a:ext cx="2091689" cy="133502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Technical specifications for camera equipment and accessories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08426" y="1664208"/>
            <a:ext cx="2585465" cy="210312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408426" y="1664208"/>
            <a:ext cx="82296" cy="2103120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627882" y="1847088"/>
            <a:ext cx="420624" cy="420624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27882" y="1865376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58234" y="1792224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K2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64458" y="2322576"/>
            <a:ext cx="2091689" cy="133502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Features and functions of camera equipment and accessories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58483" y="1664208"/>
            <a:ext cx="2585465" cy="210312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58483" y="1664208"/>
            <a:ext cx="82296" cy="2103120"/>
          </a:xfrm>
          <a:prstGeom prst="rect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377940" y="1847088"/>
            <a:ext cx="420624" cy="420624"/>
          </a:xfrm>
          <a:prstGeom prst="ellipse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77940" y="1865376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08292" y="1792224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K3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14516" y="2322576"/>
            <a:ext cx="2091689" cy="133502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Instructions for operating different cameras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908542" y="1664208"/>
            <a:ext cx="2585465" cy="210312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908542" y="1664208"/>
            <a:ext cx="82296" cy="2103120"/>
          </a:xfrm>
          <a:prstGeom prst="rect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127998" y="1847088"/>
            <a:ext cx="420624" cy="420624"/>
          </a:xfrm>
          <a:prstGeom prst="ellipse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27998" y="1865376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58350" y="1792224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K4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64574" y="2322576"/>
            <a:ext cx="2091689" cy="133502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Camera positions used to shoot and frame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58368" y="3931920"/>
            <a:ext cx="2585465" cy="210312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58368" y="3931920"/>
            <a:ext cx="82296" cy="2103120"/>
          </a:xfrm>
          <a:prstGeom prst="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877824" y="4114800"/>
            <a:ext cx="420624" cy="420624"/>
          </a:xfrm>
          <a:prstGeom prst="ellipse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77824" y="4133088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408176" y="4059936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K5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4400" y="4590288"/>
            <a:ext cx="2091689" cy="133502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Principles of picture composition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408426" y="3931920"/>
            <a:ext cx="2585465" cy="210312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3408426" y="3931920"/>
            <a:ext cx="82296" cy="2103120"/>
          </a:xfrm>
          <a:prstGeom prst="rect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3627882" y="4114800"/>
            <a:ext cx="420624" cy="420624"/>
          </a:xfrm>
          <a:prstGeom prst="ellipse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627882" y="4133088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158234" y="4059936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K6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664458" y="4590288"/>
            <a:ext cx="2091689" cy="133502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Cinematography techniques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158483" y="3931920"/>
            <a:ext cx="2585465" cy="210312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158483" y="3931920"/>
            <a:ext cx="82296" cy="2103120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6377940" y="4114800"/>
            <a:ext cx="420624" cy="420624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377940" y="4133088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908292" y="4059936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K7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14516" y="4590288"/>
            <a:ext cx="2091689" cy="133502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Specialty camera equipment and accessories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908542" y="3931920"/>
            <a:ext cx="2585465" cy="210312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8908542" y="3931920"/>
            <a:ext cx="82296" cy="2103120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9127998" y="4114800"/>
            <a:ext cx="420624" cy="420624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127998" y="4133088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658350" y="4059936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K8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164574" y="4590288"/>
            <a:ext cx="2091689" cy="133502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Safety regulations and procedures for camera operations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58368" y="6318504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58368" y="6382512"/>
            <a:ext cx="484632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Master Mobile Photography · TGS-2026064718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657600" y="6382512"/>
            <a:ext cx="50292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698480" y="6382512"/>
            <a:ext cx="73152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1083564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ABILITIES A1–A7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835640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Ability Coverage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664208"/>
            <a:ext cx="2585465" cy="210312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664208"/>
            <a:ext cx="82296" cy="2103120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847088"/>
            <a:ext cx="420624" cy="420624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865376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792224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A1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322576"/>
            <a:ext cx="2091689" cy="133502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Interpret detailed shot plans and technical requirements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08426" y="1664208"/>
            <a:ext cx="2585465" cy="210312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408426" y="1664208"/>
            <a:ext cx="82296" cy="2103120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627882" y="1847088"/>
            <a:ext cx="420624" cy="420624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27882" y="1865376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58234" y="1792224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A2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64458" y="2322576"/>
            <a:ext cx="2091689" cy="133502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Coordinate teams for mounted or complex shots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58483" y="1664208"/>
            <a:ext cx="2585465" cy="210312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58483" y="1664208"/>
            <a:ext cx="82296" cy="2103120"/>
          </a:xfrm>
          <a:prstGeom prst="rect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377940" y="1847088"/>
            <a:ext cx="420624" cy="420624"/>
          </a:xfrm>
          <a:prstGeom prst="ellipse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77940" y="1865376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08292" y="1792224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A3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14516" y="2322576"/>
            <a:ext cx="2091689" cy="133502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Inspect equipment for correct and safe fitting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908542" y="1664208"/>
            <a:ext cx="2585465" cy="210312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908542" y="1664208"/>
            <a:ext cx="82296" cy="2103120"/>
          </a:xfrm>
          <a:prstGeom prst="rect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127998" y="1847088"/>
            <a:ext cx="420624" cy="420624"/>
          </a:xfrm>
          <a:prstGeom prst="ellipse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27998" y="1865376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58350" y="1792224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A4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64574" y="2322576"/>
            <a:ext cx="2091689" cy="133502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Operate cameras to meet aesthetic requirements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58368" y="3931920"/>
            <a:ext cx="2585465" cy="210312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58368" y="3931920"/>
            <a:ext cx="82296" cy="2103120"/>
          </a:xfrm>
          <a:prstGeom prst="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877824" y="4114800"/>
            <a:ext cx="420624" cy="420624"/>
          </a:xfrm>
          <a:prstGeom prst="ellipse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77824" y="4133088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408176" y="4059936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A5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4400" y="4590288"/>
            <a:ext cx="2091689" cy="133502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Control camera movement, framing and composition safely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408426" y="3931920"/>
            <a:ext cx="2585465" cy="210312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3408426" y="3931920"/>
            <a:ext cx="82296" cy="2103120"/>
          </a:xfrm>
          <a:prstGeom prst="rect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3627882" y="4114800"/>
            <a:ext cx="420624" cy="420624"/>
          </a:xfrm>
          <a:prstGeom prst="ellipse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627882" y="4133088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158234" y="4059936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A6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664458" y="4590288"/>
            <a:ext cx="2091689" cy="133502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Alter settings or equipment to compensate for variables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158483" y="3931920"/>
            <a:ext cx="2585465" cy="210312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158483" y="3931920"/>
            <a:ext cx="82296" cy="2103120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6377940" y="4114800"/>
            <a:ext cx="420624" cy="420624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377940" y="4133088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908292" y="4059936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A7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14516" y="4590288"/>
            <a:ext cx="2091689" cy="133502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Provide feedback on angles and movement to improve visual effects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58368" y="6318504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58368" y="6382512"/>
            <a:ext cx="484632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Master Mobile Photography · TGS-2026064718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657600" y="6382512"/>
            <a:ext cx="50292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698480" y="6382512"/>
            <a:ext cx="73152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1083564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SCHEDULE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835640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Lesson Plan — Day 1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00784"/>
            <a:ext cx="5349240" cy="512064"/>
          </a:xfrm>
          <a:prstGeom prst="roundRect">
            <a:avLst>
              <a:gd name="adj" fmla="val 8000"/>
            </a:avLst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9536" y="1828800"/>
            <a:ext cx="493776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Morning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2331720"/>
            <a:ext cx="5349240" cy="340156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32688" y="2651760"/>
            <a:ext cx="347472" cy="347472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2670048"/>
            <a:ext cx="347472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35607" y="2615184"/>
            <a:ext cx="4251960" cy="51206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09:00 Admin, outcomes and assessment briefing</a:t>
            </a:r>
          </a:p>
        </p:txBody>
      </p:sp>
      <p:sp>
        <p:nvSpPr>
          <p:cNvPr id="12" name="Oval 11"/>
          <p:cNvSpPr/>
          <p:nvPr/>
        </p:nvSpPr>
        <p:spPr>
          <a:xfrm>
            <a:off x="932688" y="3310128"/>
            <a:ext cx="347472" cy="347472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328415"/>
            <a:ext cx="347472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35607" y="3273552"/>
            <a:ext cx="4251960" cy="51206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09:45 Topic 1 concepts</a:t>
            </a:r>
          </a:p>
        </p:txBody>
      </p:sp>
      <p:sp>
        <p:nvSpPr>
          <p:cNvPr id="15" name="Oval 14"/>
          <p:cNvSpPr/>
          <p:nvPr/>
        </p:nvSpPr>
        <p:spPr>
          <a:xfrm>
            <a:off x="932688" y="3968496"/>
            <a:ext cx="347472" cy="347472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3986783"/>
            <a:ext cx="347472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35607" y="3931920"/>
            <a:ext cx="4251960" cy="51206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11:20 Activity 1</a:t>
            </a:r>
          </a:p>
        </p:txBody>
      </p:sp>
      <p:sp>
        <p:nvSpPr>
          <p:cNvPr id="18" name="Oval 17"/>
          <p:cNvSpPr/>
          <p:nvPr/>
        </p:nvSpPr>
        <p:spPr>
          <a:xfrm>
            <a:off x="932688" y="4626864"/>
            <a:ext cx="347472" cy="347472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2688" y="4645152"/>
            <a:ext cx="347472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35607" y="4590288"/>
            <a:ext cx="4251960" cy="51206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12:15 Lunch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44768" y="1700784"/>
            <a:ext cx="5349240" cy="512064"/>
          </a:xfrm>
          <a:prstGeom prst="roundRect">
            <a:avLst>
              <a:gd name="adj" fmla="val 8000"/>
            </a:avLst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45936" y="1828800"/>
            <a:ext cx="493776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Afternoon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44768" y="2331720"/>
            <a:ext cx="5349240" cy="340156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19088" y="2651760"/>
            <a:ext cx="347472" cy="347472"/>
          </a:xfrm>
          <a:prstGeom prst="ellipse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19088" y="2670048"/>
            <a:ext cx="347472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22007" y="2615184"/>
            <a:ext cx="4251960" cy="51206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13:00 Activity 2</a:t>
            </a:r>
          </a:p>
        </p:txBody>
      </p:sp>
      <p:sp>
        <p:nvSpPr>
          <p:cNvPr id="27" name="Oval 26"/>
          <p:cNvSpPr/>
          <p:nvPr/>
        </p:nvSpPr>
        <p:spPr>
          <a:xfrm>
            <a:off x="6419088" y="3310128"/>
            <a:ext cx="347472" cy="347472"/>
          </a:xfrm>
          <a:prstGeom prst="ellipse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19088" y="3328415"/>
            <a:ext cx="347472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22007" y="3273552"/>
            <a:ext cx="4251960" cy="51206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14:00 Topic 2 concepts</a:t>
            </a:r>
          </a:p>
        </p:txBody>
      </p:sp>
      <p:sp>
        <p:nvSpPr>
          <p:cNvPr id="30" name="Oval 29"/>
          <p:cNvSpPr/>
          <p:nvPr/>
        </p:nvSpPr>
        <p:spPr>
          <a:xfrm>
            <a:off x="6419088" y="3968496"/>
            <a:ext cx="347472" cy="347472"/>
          </a:xfrm>
          <a:prstGeom prst="ellipse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19088" y="3986783"/>
            <a:ext cx="347472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22007" y="3931920"/>
            <a:ext cx="4251960" cy="51206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16:00 Activities 3–4</a:t>
            </a:r>
          </a:p>
        </p:txBody>
      </p:sp>
      <p:sp>
        <p:nvSpPr>
          <p:cNvPr id="33" name="Oval 32"/>
          <p:cNvSpPr/>
          <p:nvPr/>
        </p:nvSpPr>
        <p:spPr>
          <a:xfrm>
            <a:off x="6419088" y="4626864"/>
            <a:ext cx="347472" cy="347472"/>
          </a:xfrm>
          <a:prstGeom prst="ellipse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19088" y="4645152"/>
            <a:ext cx="347472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22007" y="4590288"/>
            <a:ext cx="4251960" cy="51206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17:40 Review and Day 1 close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58368" y="6318504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58368" y="6382512"/>
            <a:ext cx="484632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Master Mobile Photography · TGS-2026064718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657600" y="6382512"/>
            <a:ext cx="50292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698480" y="6382512"/>
            <a:ext cx="73152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1083564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SCHEDULE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835640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Lesson Plan — Day 2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00784"/>
            <a:ext cx="5349240" cy="512064"/>
          </a:xfrm>
          <a:prstGeom prst="roundRect">
            <a:avLst>
              <a:gd name="adj" fmla="val 8000"/>
            </a:avLst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9536" y="1828800"/>
            <a:ext cx="493776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Morning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2331720"/>
            <a:ext cx="5349240" cy="340156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32688" y="2651760"/>
            <a:ext cx="347472" cy="347472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2670048"/>
            <a:ext cx="347472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35607" y="2615184"/>
            <a:ext cx="4251960" cy="51206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09:00 Topic 3 concepts</a:t>
            </a:r>
          </a:p>
        </p:txBody>
      </p:sp>
      <p:sp>
        <p:nvSpPr>
          <p:cNvPr id="12" name="Oval 11"/>
          <p:cNvSpPr/>
          <p:nvPr/>
        </p:nvSpPr>
        <p:spPr>
          <a:xfrm>
            <a:off x="932688" y="3310128"/>
            <a:ext cx="347472" cy="347472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328415"/>
            <a:ext cx="347472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35607" y="3273552"/>
            <a:ext cx="4251960" cy="51206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10:30 Activities 5–6</a:t>
            </a:r>
          </a:p>
        </p:txBody>
      </p:sp>
      <p:sp>
        <p:nvSpPr>
          <p:cNvPr id="15" name="Oval 14"/>
          <p:cNvSpPr/>
          <p:nvPr/>
        </p:nvSpPr>
        <p:spPr>
          <a:xfrm>
            <a:off x="932688" y="3968496"/>
            <a:ext cx="347472" cy="347472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3986783"/>
            <a:ext cx="347472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35607" y="3931920"/>
            <a:ext cx="4251960" cy="51206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12:15 Lunch</a:t>
            </a:r>
          </a:p>
        </p:txBody>
      </p:sp>
      <p:sp>
        <p:nvSpPr>
          <p:cNvPr id="18" name="Oval 17"/>
          <p:cNvSpPr/>
          <p:nvPr/>
        </p:nvSpPr>
        <p:spPr>
          <a:xfrm>
            <a:off x="932688" y="4626864"/>
            <a:ext cx="347472" cy="347472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2688" y="4645152"/>
            <a:ext cx="347472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35607" y="4590288"/>
            <a:ext cx="4251960" cy="51206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13:00 Topic 4 concepts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44768" y="1700784"/>
            <a:ext cx="5349240" cy="512064"/>
          </a:xfrm>
          <a:prstGeom prst="roundRect">
            <a:avLst>
              <a:gd name="adj" fmla="val 8000"/>
            </a:avLst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45936" y="1828800"/>
            <a:ext cx="493776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Afternoon and assessment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44768" y="2331720"/>
            <a:ext cx="5349240" cy="340156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19088" y="2651760"/>
            <a:ext cx="347472" cy="347472"/>
          </a:xfrm>
          <a:prstGeom prst="ellipse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19088" y="2670048"/>
            <a:ext cx="347472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22007" y="2615184"/>
            <a:ext cx="4251960" cy="51206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14:00 Activities 7–8 and course review</a:t>
            </a:r>
          </a:p>
        </p:txBody>
      </p:sp>
      <p:sp>
        <p:nvSpPr>
          <p:cNvPr id="27" name="Oval 26"/>
          <p:cNvSpPr/>
          <p:nvPr/>
        </p:nvSpPr>
        <p:spPr>
          <a:xfrm>
            <a:off x="6419088" y="3310128"/>
            <a:ext cx="347472" cy="347472"/>
          </a:xfrm>
          <a:prstGeom prst="ellipse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19088" y="3328415"/>
            <a:ext cx="347472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22007" y="3273552"/>
            <a:ext cx="4251960" cy="51206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15:00 Written Assessment · 90 min</a:t>
            </a:r>
          </a:p>
        </p:txBody>
      </p:sp>
      <p:sp>
        <p:nvSpPr>
          <p:cNvPr id="30" name="Oval 29"/>
          <p:cNvSpPr/>
          <p:nvPr/>
        </p:nvSpPr>
        <p:spPr>
          <a:xfrm>
            <a:off x="6419088" y="3968496"/>
            <a:ext cx="347472" cy="347472"/>
          </a:xfrm>
          <a:prstGeom prst="ellipse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19088" y="3986783"/>
            <a:ext cx="347472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22007" y="3931920"/>
            <a:ext cx="4251960" cy="51206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16:30 Practical Performance · 90 min</a:t>
            </a:r>
          </a:p>
        </p:txBody>
      </p:sp>
      <p:sp>
        <p:nvSpPr>
          <p:cNvPr id="33" name="Oval 32"/>
          <p:cNvSpPr/>
          <p:nvPr/>
        </p:nvSpPr>
        <p:spPr>
          <a:xfrm>
            <a:off x="6419088" y="4626864"/>
            <a:ext cx="347472" cy="347472"/>
          </a:xfrm>
          <a:prstGeom prst="ellipse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19088" y="4645152"/>
            <a:ext cx="347472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22007" y="4590288"/>
            <a:ext cx="4251960" cy="51206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18:00 End of class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58368" y="6318504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58368" y="6382512"/>
            <a:ext cx="484632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Master Mobile Photography · TGS-2026064718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657600" y="6382512"/>
            <a:ext cx="50292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698480" y="6382512"/>
            <a:ext cx="73152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1083564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2413A"/>
                </a:solidFill>
                <a:latin typeface="Arial"/>
              </a:rPr>
              <a:t>BEFORE ASSESSMENT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835640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Briefing for Assessment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86384" y="1700784"/>
            <a:ext cx="10561320" cy="59436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32688" y="1801368"/>
            <a:ext cx="384048" cy="384048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1819656"/>
            <a:ext cx="384048" cy="32918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90472" y="1783080"/>
            <a:ext cx="9555480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Individual, open-book work; no discussion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86384" y="2450592"/>
            <a:ext cx="10561320" cy="59436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32688" y="2551176"/>
            <a:ext cx="384048" cy="384048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2569464"/>
            <a:ext cx="384048" cy="32918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90472" y="2532888"/>
            <a:ext cx="9555480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Use only the slides, Learner Guide and approved materials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86384" y="3200400"/>
            <a:ext cx="10561320" cy="59436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32688" y="3300984"/>
            <a:ext cx="384048" cy="384048"/>
          </a:xfrm>
          <a:prstGeom prst="ellipse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3319272"/>
            <a:ext cx="384048" cy="32918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90472" y="3282696"/>
            <a:ext cx="9555480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No photographs or recordings of assessment scripts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86384" y="3950208"/>
            <a:ext cx="10561320" cy="59436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32688" y="4050792"/>
            <a:ext cx="384048" cy="384048"/>
          </a:xfrm>
          <a:prstGeom prst="ellipse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2688" y="4069080"/>
            <a:ext cx="384048" cy="32918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90472" y="4032504"/>
            <a:ext cx="9555480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Keep phones/materials under the table unless instructed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86384" y="4700016"/>
            <a:ext cx="10561320" cy="59436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32688" y="4800600"/>
            <a:ext cx="384048" cy="384048"/>
          </a:xfrm>
          <a:prstGeom prst="ellipse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32688" y="4818888"/>
            <a:ext cx="384048" cy="32918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90472" y="4782312"/>
            <a:ext cx="9555480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Submit on the LMS and sign the Assessment Summary Record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58368" y="6318504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8368" y="6382512"/>
            <a:ext cx="484632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Master Mobile Photography · TGS-2026064718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0" y="6382512"/>
            <a:ext cx="50292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698480" y="6382512"/>
            <a:ext cx="73152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1083564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6D3FD2"/>
                </a:solidFill>
                <a:latin typeface="Arial"/>
              </a:rPr>
              <a:t>FINAL ASSESSMENT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835640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Assessment and Funding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00784"/>
            <a:ext cx="5349240" cy="512064"/>
          </a:xfrm>
          <a:prstGeom prst="roundRect">
            <a:avLst>
              <a:gd name="adj" fmla="val 8000"/>
            </a:avLst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9536" y="1828800"/>
            <a:ext cx="493776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Knowledge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2331720"/>
            <a:ext cx="5349240" cy="340156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32688" y="2651760"/>
            <a:ext cx="347472" cy="347472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2670048"/>
            <a:ext cx="347472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35607" y="2615184"/>
            <a:ext cx="4251960" cy="51206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Written Assessment (SAQ)</a:t>
            </a:r>
          </a:p>
        </p:txBody>
      </p:sp>
      <p:sp>
        <p:nvSpPr>
          <p:cNvPr id="12" name="Oval 11"/>
          <p:cNvSpPr/>
          <p:nvPr/>
        </p:nvSpPr>
        <p:spPr>
          <a:xfrm>
            <a:off x="932688" y="3310128"/>
            <a:ext cx="347472" cy="347472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328415"/>
            <a:ext cx="347472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35607" y="3273552"/>
            <a:ext cx="4251960" cy="51206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8 open-ended questions</a:t>
            </a:r>
          </a:p>
        </p:txBody>
      </p:sp>
      <p:sp>
        <p:nvSpPr>
          <p:cNvPr id="15" name="Oval 14"/>
          <p:cNvSpPr/>
          <p:nvPr/>
        </p:nvSpPr>
        <p:spPr>
          <a:xfrm>
            <a:off x="932688" y="3968496"/>
            <a:ext cx="347472" cy="347472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3986783"/>
            <a:ext cx="347472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35607" y="3931920"/>
            <a:ext cx="4251960" cy="51206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K1–K8</a:t>
            </a:r>
          </a:p>
        </p:txBody>
      </p:sp>
      <p:sp>
        <p:nvSpPr>
          <p:cNvPr id="18" name="Oval 17"/>
          <p:cNvSpPr/>
          <p:nvPr/>
        </p:nvSpPr>
        <p:spPr>
          <a:xfrm>
            <a:off x="932688" y="4626864"/>
            <a:ext cx="347472" cy="347472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2688" y="4645152"/>
            <a:ext cx="347472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35607" y="4590288"/>
            <a:ext cx="4251960" cy="51206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90 minutes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44768" y="1700784"/>
            <a:ext cx="5349240" cy="512064"/>
          </a:xfrm>
          <a:prstGeom prst="roundRect">
            <a:avLst>
              <a:gd name="adj" fmla="val 8000"/>
            </a:avLst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45936" y="1828800"/>
            <a:ext cx="493776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Ability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44768" y="2331720"/>
            <a:ext cx="5349240" cy="340156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19088" y="2651760"/>
            <a:ext cx="347472" cy="347472"/>
          </a:xfrm>
          <a:prstGeom prst="ellipse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19088" y="2670048"/>
            <a:ext cx="347472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22007" y="2615184"/>
            <a:ext cx="4251960" cy="51206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Practical Performance</a:t>
            </a:r>
          </a:p>
        </p:txBody>
      </p:sp>
      <p:sp>
        <p:nvSpPr>
          <p:cNvPr id="27" name="Oval 26"/>
          <p:cNvSpPr/>
          <p:nvPr/>
        </p:nvSpPr>
        <p:spPr>
          <a:xfrm>
            <a:off x="6419088" y="3310128"/>
            <a:ext cx="347472" cy="347472"/>
          </a:xfrm>
          <a:prstGeom prst="ellipse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19088" y="3328415"/>
            <a:ext cx="347472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22007" y="3273552"/>
            <a:ext cx="4251960" cy="51206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3 integrated tasks</a:t>
            </a:r>
          </a:p>
        </p:txBody>
      </p:sp>
      <p:sp>
        <p:nvSpPr>
          <p:cNvPr id="30" name="Oval 29"/>
          <p:cNvSpPr/>
          <p:nvPr/>
        </p:nvSpPr>
        <p:spPr>
          <a:xfrm>
            <a:off x="6419088" y="3968496"/>
            <a:ext cx="347472" cy="347472"/>
          </a:xfrm>
          <a:prstGeom prst="ellipse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19088" y="3986783"/>
            <a:ext cx="347472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22007" y="3931920"/>
            <a:ext cx="4251960" cy="51206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A1–A7</a:t>
            </a:r>
          </a:p>
        </p:txBody>
      </p:sp>
      <p:sp>
        <p:nvSpPr>
          <p:cNvPr id="33" name="Oval 32"/>
          <p:cNvSpPr/>
          <p:nvPr/>
        </p:nvSpPr>
        <p:spPr>
          <a:xfrm>
            <a:off x="6419088" y="4626864"/>
            <a:ext cx="347472" cy="347472"/>
          </a:xfrm>
          <a:prstGeom prst="ellipse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19088" y="4645152"/>
            <a:ext cx="347472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22007" y="4590288"/>
            <a:ext cx="4251960" cy="51206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90 minutes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58368" y="6318504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58368" y="6382512"/>
            <a:ext cx="484632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Master Mobile Photography · TGS-2026064718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657600" y="6382512"/>
            <a:ext cx="50292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698480" y="6382512"/>
            <a:ext cx="73152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1083564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ON ASSESSMENT DAY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835640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Assessment Flow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77240" y="2148840"/>
            <a:ext cx="1878177" cy="288036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48840"/>
            <a:ext cx="1878177" cy="91440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341424" y="2532888"/>
            <a:ext cx="749808" cy="749808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41424" y="2660904"/>
            <a:ext cx="749808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3544" y="3584448"/>
            <a:ext cx="1585569" cy="11887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TRAQOM digital attendance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55417" y="3337560"/>
            <a:ext cx="310896" cy="4572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966313" y="2148840"/>
            <a:ext cx="1878177" cy="288036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966313" y="2148840"/>
            <a:ext cx="1878177" cy="91440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530498" y="2532888"/>
            <a:ext cx="749808" cy="749808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30498" y="2660904"/>
            <a:ext cx="749808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12617" y="3584448"/>
            <a:ext cx="1585569" cy="11887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Assessment digital attendance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44491" y="3337560"/>
            <a:ext cx="310896" cy="4572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155387" y="2148840"/>
            <a:ext cx="1878177" cy="288036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155387" y="2148840"/>
            <a:ext cx="1878177" cy="91440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719572" y="2532888"/>
            <a:ext cx="749808" cy="749808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719572" y="2660904"/>
            <a:ext cx="749808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01691" y="3584448"/>
            <a:ext cx="1585569" cy="11887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Sit WA then PP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33564" y="3337560"/>
            <a:ext cx="310896" cy="4572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44460" y="2148840"/>
            <a:ext cx="1878177" cy="288036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344460" y="2148840"/>
            <a:ext cx="1878177" cy="91440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908645" y="2532888"/>
            <a:ext cx="749808" cy="749808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08645" y="2660904"/>
            <a:ext cx="749808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90764" y="3584448"/>
            <a:ext cx="1585569" cy="11887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Submit answers on LMS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22638" y="3337560"/>
            <a:ext cx="310896" cy="4572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533534" y="2148840"/>
            <a:ext cx="1878177" cy="288036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533534" y="2148840"/>
            <a:ext cx="1878177" cy="91440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0097719" y="2532888"/>
            <a:ext cx="749808" cy="749808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097719" y="2660904"/>
            <a:ext cx="749808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5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79838" y="3584448"/>
            <a:ext cx="1585569" cy="11887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Sign Assessment Summary Record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58368" y="6318504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58368" y="6382512"/>
            <a:ext cx="484632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Master Mobile Photography · TGS-2026064718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0" y="6382512"/>
            <a:ext cx="50292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98480" y="6382512"/>
            <a:ext cx="73152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1083564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LEARNER MATERIALS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835640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Access the Course Activities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00784"/>
            <a:ext cx="5349240" cy="512064"/>
          </a:xfrm>
          <a:prstGeom prst="roundRect">
            <a:avLst>
              <a:gd name="adj" fmla="val 8000"/>
            </a:avLst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9536" y="1828800"/>
            <a:ext cx="493776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Clone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2331720"/>
            <a:ext cx="5349240" cy="340156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32688" y="2651760"/>
            <a:ext cx="347472" cy="347472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2670048"/>
            <a:ext cx="347472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35607" y="2615184"/>
            <a:ext cx="4251960" cy="51206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Open the course repository</a:t>
            </a:r>
          </a:p>
        </p:txBody>
      </p:sp>
      <p:sp>
        <p:nvSpPr>
          <p:cNvPr id="12" name="Oval 11"/>
          <p:cNvSpPr/>
          <p:nvPr/>
        </p:nvSpPr>
        <p:spPr>
          <a:xfrm>
            <a:off x="932688" y="3310128"/>
            <a:ext cx="347472" cy="347472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328415"/>
            <a:ext cx="347472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35607" y="3273552"/>
            <a:ext cx="4251960" cy="51206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Copy the repository address</a:t>
            </a:r>
          </a:p>
        </p:txBody>
      </p:sp>
      <p:sp>
        <p:nvSpPr>
          <p:cNvPr id="15" name="Oval 14"/>
          <p:cNvSpPr/>
          <p:nvPr/>
        </p:nvSpPr>
        <p:spPr>
          <a:xfrm>
            <a:off x="932688" y="3968496"/>
            <a:ext cx="347472" cy="347472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3986783"/>
            <a:ext cx="347472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35607" y="3931920"/>
            <a:ext cx="4251960" cy="51206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Open the activities folder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44768" y="1700784"/>
            <a:ext cx="5349240" cy="512064"/>
          </a:xfrm>
          <a:prstGeom prst="roundRect">
            <a:avLst>
              <a:gd name="adj" fmla="val 8000"/>
            </a:avLst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45936" y="1828800"/>
            <a:ext cx="493776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Download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44768" y="2331720"/>
            <a:ext cx="5349240" cy="340156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19088" y="2651760"/>
            <a:ext cx="347472" cy="347472"/>
          </a:xfrm>
          <a:prstGeom prst="ellipse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19088" y="2670048"/>
            <a:ext cx="347472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22007" y="2615184"/>
            <a:ext cx="4251960" cy="51206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Choose Code · Download ZIP</a:t>
            </a:r>
          </a:p>
        </p:txBody>
      </p:sp>
      <p:sp>
        <p:nvSpPr>
          <p:cNvPr id="24" name="Oval 23"/>
          <p:cNvSpPr/>
          <p:nvPr/>
        </p:nvSpPr>
        <p:spPr>
          <a:xfrm>
            <a:off x="6419088" y="3310128"/>
            <a:ext cx="347472" cy="347472"/>
          </a:xfrm>
          <a:prstGeom prst="ellipse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19088" y="3328415"/>
            <a:ext cx="347472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22007" y="3273552"/>
            <a:ext cx="4251960" cy="51206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Extract the downloaded file</a:t>
            </a:r>
          </a:p>
        </p:txBody>
      </p:sp>
      <p:sp>
        <p:nvSpPr>
          <p:cNvPr id="27" name="Oval 26"/>
          <p:cNvSpPr/>
          <p:nvPr/>
        </p:nvSpPr>
        <p:spPr>
          <a:xfrm>
            <a:off x="6419088" y="3968496"/>
            <a:ext cx="347472" cy="347472"/>
          </a:xfrm>
          <a:prstGeom prst="ellipse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19088" y="3986783"/>
            <a:ext cx="347472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22007" y="3931920"/>
            <a:ext cx="4251960" cy="51206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Each activity is self-contained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58368" y="6318504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8368" y="6382512"/>
            <a:ext cx="484632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Master Mobile Photography · TGS-2026064718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0" y="6382512"/>
            <a:ext cx="50292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698480" y="6382512"/>
            <a:ext cx="73152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17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68680" y="5797296"/>
            <a:ext cx="1037844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900" b="1">
                <a:solidFill>
                  <a:srgbClr val="1F6FEB"/>
                </a:solidFill>
                <a:latin typeface="Arial"/>
                <a:hlinkClick r:id="rId2"/>
              </a:rPr>
              <a:t>https://github.com/tertiarycourses/TGS-2026064718-Master-Mobile-Photography-Capturing-Professional-Photos-with-Your-Smartphone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1083564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DOWNLOAD COURSE MATERIAL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835640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Courseware and Assessment on the LMS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86384" y="1700784"/>
            <a:ext cx="10561320" cy="59436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32688" y="1801368"/>
            <a:ext cx="384048" cy="384048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1819656"/>
            <a:ext cx="384048" cy="32918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90472" y="1783080"/>
            <a:ext cx="9555480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Open the LMS/TMS portal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86384" y="2450592"/>
            <a:ext cx="10561320" cy="59436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32688" y="2551176"/>
            <a:ext cx="384048" cy="384048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2569464"/>
            <a:ext cx="384048" cy="32918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90472" y="2532888"/>
            <a:ext cx="9555480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Download the learner slides and Learner Guide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86384" y="3200400"/>
            <a:ext cx="10561320" cy="59436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32688" y="3300984"/>
            <a:ext cx="384048" cy="384048"/>
          </a:xfrm>
          <a:prstGeom prst="ellipse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3319272"/>
            <a:ext cx="384048" cy="32918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90472" y="3282696"/>
            <a:ext cx="9555480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Use the detailed activity procedures in the Learner Guide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86384" y="3950208"/>
            <a:ext cx="10561320" cy="59436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32688" y="4050792"/>
            <a:ext cx="384048" cy="384048"/>
          </a:xfrm>
          <a:prstGeom prst="ellipse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2688" y="4069080"/>
            <a:ext cx="384048" cy="32918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90472" y="4032504"/>
            <a:ext cx="9555480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Submit the two assessment instruments on the LMS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8368" y="6318504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8368" y="6382512"/>
            <a:ext cx="484632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Master Mobile Photography · TGS-2026064718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0" y="6382512"/>
            <a:ext cx="50292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98480" y="6382512"/>
            <a:ext cx="73152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58368" y="1737360"/>
            <a:ext cx="10835640" cy="3291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58368" y="1737360"/>
            <a:ext cx="128016" cy="3291840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80160" y="2148840"/>
            <a:ext cx="868680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TOPIC 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2606040"/>
            <a:ext cx="8961120" cy="9144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3400" b="1">
                <a:solidFill>
                  <a:srgbClr val="161B26"/>
                </a:solidFill>
                <a:latin typeface="Arial"/>
              </a:rPr>
              <a:t>Setting Up a Mobile Camera for Shooting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3703320"/>
            <a:ext cx="8961120" cy="7315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Camera systems · accessories · inspection · shot planning · team coordination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38360" y="2194560"/>
            <a:ext cx="1097280" cy="109728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5600" b="1">
                <a:solidFill>
                  <a:srgbClr val="1F6FEB"/>
                </a:solidFill>
                <a:latin typeface="Arial"/>
              </a:rPr>
              <a:t>01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6318504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6382512"/>
            <a:ext cx="484632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Master Mobile Photography · TGS-2026064718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6382512"/>
            <a:ext cx="50292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98480" y="6382512"/>
            <a:ext cx="73152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1083564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K1 · K2 · A1 · A2 · A3 · PART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835640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Topic 01 Roadmap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664208"/>
            <a:ext cx="2585465" cy="210312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664208"/>
            <a:ext cx="82296" cy="2103120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847088"/>
            <a:ext cx="420624" cy="420624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865376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792224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From Film to Computational Cameras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322576"/>
            <a:ext cx="2091689" cy="133502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From Film to Computational Cameras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08426" y="1664208"/>
            <a:ext cx="2585465" cy="210312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408426" y="1664208"/>
            <a:ext cx="82296" cy="2103120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627882" y="1847088"/>
            <a:ext cx="420624" cy="420624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27882" y="1865376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58234" y="1792224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Inside a Smartphone Camera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64458" y="2322576"/>
            <a:ext cx="2091689" cy="133502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Inside a Smartphone Camera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58483" y="1664208"/>
            <a:ext cx="2585465" cy="210312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58483" y="1664208"/>
            <a:ext cx="82296" cy="2103120"/>
          </a:xfrm>
          <a:prstGeom prst="rect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377940" y="1847088"/>
            <a:ext cx="420624" cy="420624"/>
          </a:xfrm>
          <a:prstGeom prst="ellipse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77940" y="1865376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08292" y="1792224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Camera Types and Choosing Well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14516" y="2322576"/>
            <a:ext cx="2091689" cy="133502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Camera Types and Choosing Well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908542" y="1664208"/>
            <a:ext cx="2585465" cy="210312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908542" y="1664208"/>
            <a:ext cx="82296" cy="2103120"/>
          </a:xfrm>
          <a:prstGeom prst="rect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127998" y="1847088"/>
            <a:ext cx="420624" cy="420624"/>
          </a:xfrm>
          <a:prstGeom prst="ellipse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27998" y="1865376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58350" y="1792224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The Multi-Camera Phone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64574" y="2322576"/>
            <a:ext cx="2091689" cy="133502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The Multi-Camera Phone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58368" y="3931920"/>
            <a:ext cx="2585465" cy="210312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58368" y="3931920"/>
            <a:ext cx="82296" cy="2103120"/>
          </a:xfrm>
          <a:prstGeom prst="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877824" y="4114800"/>
            <a:ext cx="420624" cy="420624"/>
          </a:xfrm>
          <a:prstGeom prst="ellipse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77824" y="4133088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408176" y="4059936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Fixed Aperture, Variable Decisions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4400" y="4590288"/>
            <a:ext cx="2091689" cy="133502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Fixed Aperture, Variable Decisions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408426" y="3931920"/>
            <a:ext cx="2585465" cy="210312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3408426" y="3931920"/>
            <a:ext cx="82296" cy="2103120"/>
          </a:xfrm>
          <a:prstGeom prst="rect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3627882" y="4114800"/>
            <a:ext cx="420624" cy="420624"/>
          </a:xfrm>
          <a:prstGeom prst="ellipse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627882" y="4133088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158234" y="4059936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File Formats and Resolution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664458" y="4590288"/>
            <a:ext cx="2091689" cy="133502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File Formats and Resolution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158483" y="3931920"/>
            <a:ext cx="2585465" cy="210312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158483" y="3931920"/>
            <a:ext cx="82296" cy="2103120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6377940" y="4114800"/>
            <a:ext cx="420624" cy="420624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377940" y="4133088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908292" y="4059936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Why Mobile Photography Works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14516" y="4590288"/>
            <a:ext cx="2091689" cy="133502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Why Mobile Photography Works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908542" y="3931920"/>
            <a:ext cx="2585465" cy="210312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8908542" y="3931920"/>
            <a:ext cx="82296" cy="2103120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9127998" y="4114800"/>
            <a:ext cx="420624" cy="420624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127998" y="4133088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658350" y="4059936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Limits to Plan Around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164574" y="4590288"/>
            <a:ext cx="2091689" cy="133502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Limits to Plan Around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58368" y="6318504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58368" y="6382512"/>
            <a:ext cx="484632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Master Mobile Photography · TGS-2026064718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657600" y="6382512"/>
            <a:ext cx="50292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698480" y="6382512"/>
            <a:ext cx="73152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1083564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K1 · K2 · A1 · A2 · A3 · PART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835640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Topic 01 Roadmap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664208"/>
            <a:ext cx="3502152" cy="1347216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664208"/>
            <a:ext cx="82296" cy="1347216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847088"/>
            <a:ext cx="420624" cy="420624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865376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792224"/>
            <a:ext cx="260604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Stability Accessories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322576"/>
            <a:ext cx="3008376" cy="5791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Stability Accessories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25112" y="1664208"/>
            <a:ext cx="3502152" cy="1347216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25112" y="1664208"/>
            <a:ext cx="82296" cy="1347216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544568" y="1847088"/>
            <a:ext cx="420624" cy="420624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44568" y="1865376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74920" y="1792224"/>
            <a:ext cx="260604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Optical and Lighting Accessories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81144" y="2322576"/>
            <a:ext cx="3008376" cy="5791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Optical and Lighting Accessories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991856" y="1664208"/>
            <a:ext cx="3502152" cy="1347216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991856" y="1664208"/>
            <a:ext cx="82296" cy="1347216"/>
          </a:xfrm>
          <a:prstGeom prst="rect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211312" y="1847088"/>
            <a:ext cx="420624" cy="420624"/>
          </a:xfrm>
          <a:prstGeom prst="ellipse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11312" y="1865376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41664" y="1792224"/>
            <a:ext cx="260604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Accessory Selection Matrix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47888" y="2322576"/>
            <a:ext cx="3008376" cy="5791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Accessory Selection Matrix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8368" y="3176016"/>
            <a:ext cx="3502152" cy="1347216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58368" y="3176016"/>
            <a:ext cx="82296" cy="1347216"/>
          </a:xfrm>
          <a:prstGeom prst="rect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77824" y="3358896"/>
            <a:ext cx="420624" cy="420624"/>
          </a:xfrm>
          <a:prstGeom prst="ellipse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77824" y="3377184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08176" y="3304032"/>
            <a:ext cx="260604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The Pre-Shoot Inspection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3834384"/>
            <a:ext cx="3008376" cy="5791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The Pre-Shoot Inspection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25112" y="3176016"/>
            <a:ext cx="3502152" cy="1347216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325112" y="3176016"/>
            <a:ext cx="82296" cy="1347216"/>
          </a:xfrm>
          <a:prstGeom prst="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4544568" y="3358896"/>
            <a:ext cx="420624" cy="420624"/>
          </a:xfrm>
          <a:prstGeom prst="ellipse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44568" y="3377184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74920" y="3304032"/>
            <a:ext cx="260604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Safe Camera Handling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81144" y="3834384"/>
            <a:ext cx="3008376" cy="5791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Safe Camera Handling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991856" y="3176016"/>
            <a:ext cx="3502152" cy="1347216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991856" y="3176016"/>
            <a:ext cx="82296" cy="1347216"/>
          </a:xfrm>
          <a:prstGeom prst="rect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8211312" y="3358896"/>
            <a:ext cx="420624" cy="420624"/>
          </a:xfrm>
          <a:prstGeom prst="ellipse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211312" y="3377184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741664" y="3304032"/>
            <a:ext cx="260604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Anatomy of a Shot Plan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47888" y="3834384"/>
            <a:ext cx="3008376" cy="5791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Anatomy of a Shot Plan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58368" y="4687824"/>
            <a:ext cx="3502152" cy="1347216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58368" y="4687824"/>
            <a:ext cx="82296" cy="1347216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877824" y="4870704"/>
            <a:ext cx="420624" cy="420624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77824" y="4888992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408176" y="4815840"/>
            <a:ext cx="260604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Translate a Brief into Pictures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14400" y="5346192"/>
            <a:ext cx="3008376" cy="5791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Translate a Brief into Pictures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4325112" y="4687824"/>
            <a:ext cx="3502152" cy="1347216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4325112" y="4687824"/>
            <a:ext cx="82296" cy="1347216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4544568" y="4870704"/>
            <a:ext cx="420624" cy="420624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544568" y="4888992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074920" y="4815840"/>
            <a:ext cx="260604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Coordinate a Mounted Shot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581144" y="5346192"/>
            <a:ext cx="3008376" cy="5791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Coordinate a Mounted Shot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7991856" y="4687824"/>
            <a:ext cx="3502152" cy="1347216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7991856" y="4687824"/>
            <a:ext cx="82296" cy="1347216"/>
          </a:xfrm>
          <a:prstGeom prst="rect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8211312" y="4870704"/>
            <a:ext cx="420624" cy="420624"/>
          </a:xfrm>
          <a:prstGeom prst="ellipse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211312" y="4888992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9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741664" y="4815840"/>
            <a:ext cx="260604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Privacy, Property and Consent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247888" y="5346192"/>
            <a:ext cx="3008376" cy="5791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Privacy, Property and Consent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58368" y="6318504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58368" y="6382512"/>
            <a:ext cx="484632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Master Mobile Photography · TGS-2026064718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657600" y="6382512"/>
            <a:ext cx="50292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0698480" y="6382512"/>
            <a:ext cx="73152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1083564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01 · K1 · K2 · A1 · A2 · A3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835640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From Film to Computational Cameras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664208"/>
            <a:ext cx="2585465" cy="43708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664208"/>
            <a:ext cx="82296" cy="4370832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847088"/>
            <a:ext cx="420624" cy="420624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865376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792224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35 mm film records light chemically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322576"/>
            <a:ext cx="2091689" cy="3602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35 mm film records light chemically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08426" y="1664208"/>
            <a:ext cx="2585465" cy="43708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408426" y="1664208"/>
            <a:ext cx="82296" cy="4370832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627882" y="1847088"/>
            <a:ext cx="420624" cy="420624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27882" y="1865376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58234" y="1792224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Digital cameras record light on a sensor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64458" y="2322576"/>
            <a:ext cx="2091689" cy="3602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Digital cameras record light on a sensor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58483" y="1664208"/>
            <a:ext cx="2585465" cy="43708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58483" y="1664208"/>
            <a:ext cx="82296" cy="4370832"/>
          </a:xfrm>
          <a:prstGeom prst="rect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377940" y="1847088"/>
            <a:ext cx="420624" cy="420624"/>
          </a:xfrm>
          <a:prstGeom prst="ellipse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77940" y="1865376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08292" y="1792224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Smartphones combine optics, sensor and algorithms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14516" y="2322576"/>
            <a:ext cx="2091689" cy="3602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Smartphones combine optics, sensor and algorithms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908542" y="1664208"/>
            <a:ext cx="2585465" cy="43708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908542" y="1664208"/>
            <a:ext cx="82296" cy="4370832"/>
          </a:xfrm>
          <a:prstGeom prst="rect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127998" y="1847088"/>
            <a:ext cx="420624" cy="420624"/>
          </a:xfrm>
          <a:prstGeom prst="ellipse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27998" y="1865376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58350" y="1792224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The useful question is fitness for purpose—not status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64574" y="2322576"/>
            <a:ext cx="2091689" cy="3602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The useful question is fitness for purpose—not status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58368" y="6318504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8368" y="6382512"/>
            <a:ext cx="484632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Master Mobile Photography · TGS-2026064718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0" y="6382512"/>
            <a:ext cx="50292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698480" y="6382512"/>
            <a:ext cx="73152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1083564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01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835640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Inside a Smartphone Camera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77240" y="2148840"/>
            <a:ext cx="2425446" cy="288036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48840"/>
            <a:ext cx="2425446" cy="91440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615059" y="2532888"/>
            <a:ext cx="749808" cy="749808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15059" y="2660904"/>
            <a:ext cx="749808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3544" y="3584448"/>
            <a:ext cx="2132838" cy="11887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Lens gathers and directs light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2686" y="3337560"/>
            <a:ext cx="310896" cy="4572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513582" y="2148840"/>
            <a:ext cx="2425446" cy="288036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513582" y="2148840"/>
            <a:ext cx="2425446" cy="91440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351401" y="2532888"/>
            <a:ext cx="749808" cy="749808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51401" y="2660904"/>
            <a:ext cx="749808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9886" y="3584448"/>
            <a:ext cx="2132838" cy="11887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Sensor converts light into electrical data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39028" y="3337560"/>
            <a:ext cx="310896" cy="4572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49924" y="2148840"/>
            <a:ext cx="2425446" cy="288036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49924" y="2148840"/>
            <a:ext cx="2425446" cy="91440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087743" y="2532888"/>
            <a:ext cx="749808" cy="749808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087743" y="2660904"/>
            <a:ext cx="749808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96228" y="3584448"/>
            <a:ext cx="2132838" cy="11887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Image processor reduces noise and builds colour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75370" y="3337560"/>
            <a:ext cx="310896" cy="4572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986266" y="2148840"/>
            <a:ext cx="2425446" cy="288036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986266" y="2148840"/>
            <a:ext cx="2425446" cy="91440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824085" y="2532888"/>
            <a:ext cx="749808" cy="749808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824085" y="2660904"/>
            <a:ext cx="749808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32570" y="3584448"/>
            <a:ext cx="2132838" cy="11887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Computational capture may merge several frames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58368" y="6318504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8368" y="6382512"/>
            <a:ext cx="484632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Master Mobile Photography · TGS-2026064718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0" y="6382512"/>
            <a:ext cx="50292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698480" y="6382512"/>
            <a:ext cx="73152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1083564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01 · K1 · K2 · A1 · A2 · A3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835640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Camera Types and Choosing Well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664208"/>
            <a:ext cx="2585465" cy="43708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664208"/>
            <a:ext cx="82296" cy="4370832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847088"/>
            <a:ext cx="420624" cy="420624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865376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792224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Film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322576"/>
            <a:ext cx="2091689" cy="3602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tactile process and finite frames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08426" y="1664208"/>
            <a:ext cx="2585465" cy="43708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408426" y="1664208"/>
            <a:ext cx="82296" cy="4370832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627882" y="1847088"/>
            <a:ext cx="420624" cy="420624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27882" y="1865376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58234" y="1792224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Dedicated digital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64458" y="2322576"/>
            <a:ext cx="2091689" cy="3602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larger controls and system lenses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58483" y="1664208"/>
            <a:ext cx="2585465" cy="43708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58483" y="1664208"/>
            <a:ext cx="82296" cy="4370832"/>
          </a:xfrm>
          <a:prstGeom prst="rect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377940" y="1847088"/>
            <a:ext cx="420624" cy="420624"/>
          </a:xfrm>
          <a:prstGeom prst="ellipse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77940" y="1865376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08292" y="1792224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Mobile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14516" y="2322576"/>
            <a:ext cx="2091689" cy="3602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always available, connected and discreet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908542" y="1664208"/>
            <a:ext cx="2585465" cy="43708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908542" y="1664208"/>
            <a:ext cx="82296" cy="4370832"/>
          </a:xfrm>
          <a:prstGeom prst="rect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127998" y="1847088"/>
            <a:ext cx="420624" cy="420624"/>
          </a:xfrm>
          <a:prstGeom prst="ellipse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27998" y="1865376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58350" y="1792224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Choose by purpose, budget, speed and acceptable quality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64574" y="2322576"/>
            <a:ext cx="2091689" cy="3602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Choose by purpose, budget, speed and acceptable quality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58368" y="6318504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8368" y="6382512"/>
            <a:ext cx="484632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Master Mobile Photography · TGS-2026064718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0" y="6382512"/>
            <a:ext cx="50292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698480" y="6382512"/>
            <a:ext cx="73152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1083564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01 · K1 · K2 · A1 · A2 · A3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835640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The Multi-Camera Phone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664208"/>
            <a:ext cx="2585465" cy="43708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664208"/>
            <a:ext cx="82296" cy="4370832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847088"/>
            <a:ext cx="420624" cy="420624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865376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792224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Ultra-wide expands the field of view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322576"/>
            <a:ext cx="2091689" cy="3602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Ultra-wide expands the field of view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08426" y="1664208"/>
            <a:ext cx="2585465" cy="43708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408426" y="1664208"/>
            <a:ext cx="82296" cy="4370832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627882" y="1847088"/>
            <a:ext cx="420624" cy="420624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27882" y="1865376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58234" y="1792224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Wide/main camera is usually the strongest all-rounder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64458" y="2322576"/>
            <a:ext cx="2091689" cy="3602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Wide/main camera is usually the strongest all-rounder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58483" y="1664208"/>
            <a:ext cx="2585465" cy="43708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58483" y="1664208"/>
            <a:ext cx="82296" cy="4370832"/>
          </a:xfrm>
          <a:prstGeom prst="rect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377940" y="1847088"/>
            <a:ext cx="420624" cy="420624"/>
          </a:xfrm>
          <a:prstGeom prst="ellipse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77940" y="1865376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08292" y="1792224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Telephoto changes framing without walking closer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14516" y="2322576"/>
            <a:ext cx="2091689" cy="3602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Telephoto changes framing without walking closer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908542" y="1664208"/>
            <a:ext cx="2585465" cy="43708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908542" y="1664208"/>
            <a:ext cx="82296" cy="4370832"/>
          </a:xfrm>
          <a:prstGeom prst="rect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127998" y="1847088"/>
            <a:ext cx="420624" cy="420624"/>
          </a:xfrm>
          <a:prstGeom prst="ellipse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27998" y="1865376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58350" y="1792224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Macro/depth/periscope modules vary by device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64574" y="2322576"/>
            <a:ext cx="2091689" cy="3602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Macro/depth/periscope modules vary by device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58368" y="6318504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8368" y="6382512"/>
            <a:ext cx="484632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Master Mobile Photography · TGS-2026064718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0" y="6382512"/>
            <a:ext cx="50292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698480" y="6382512"/>
            <a:ext cx="73152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1083564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01 · K1 · K2 · A1 · A2 · A3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835640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Fixed Aperture, Variable Decisions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664208"/>
            <a:ext cx="2585465" cy="43708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664208"/>
            <a:ext cx="82296" cy="4370832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847088"/>
            <a:ext cx="420624" cy="420624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865376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792224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Most phone lenses use a fixed physical aperture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322576"/>
            <a:ext cx="2091689" cy="3602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Most phone lenses use a fixed physical aperture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08426" y="1664208"/>
            <a:ext cx="2585465" cy="43708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408426" y="1664208"/>
            <a:ext cx="82296" cy="4370832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627882" y="1847088"/>
            <a:ext cx="420624" cy="420624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27882" y="1865376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58234" y="1792224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Shutter time and ISO remain key exposure controls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64458" y="2322576"/>
            <a:ext cx="2091689" cy="3602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Shutter time and ISO remain key exposure controls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58483" y="1664208"/>
            <a:ext cx="2585465" cy="43708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58483" y="1664208"/>
            <a:ext cx="82296" cy="4370832"/>
          </a:xfrm>
          <a:prstGeom prst="rect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377940" y="1847088"/>
            <a:ext cx="420624" cy="420624"/>
          </a:xfrm>
          <a:prstGeom prst="ellipse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77940" y="1865376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08292" y="1792224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Portrait blur is often computed from depth data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14516" y="2322576"/>
            <a:ext cx="2091689" cy="3602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Portrait blur is often computed from depth data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908542" y="1664208"/>
            <a:ext cx="2585465" cy="43708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908542" y="1664208"/>
            <a:ext cx="82296" cy="4370832"/>
          </a:xfrm>
          <a:prstGeom prst="rect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127998" y="1847088"/>
            <a:ext cx="420624" cy="420624"/>
          </a:xfrm>
          <a:prstGeom prst="ellipse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27998" y="1865376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58350" y="1792224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Do not promise an aperture control a phone does not have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64574" y="2322576"/>
            <a:ext cx="2091689" cy="3602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Do not promise an aperture control a phone does not have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58368" y="6318504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8368" y="6382512"/>
            <a:ext cx="484632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Master Mobile Photography · TGS-2026064718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0" y="6382512"/>
            <a:ext cx="50292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698480" y="6382512"/>
            <a:ext cx="73152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1083564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01 · K1 · K2 · A1 · A2 · A3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835640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File Formats and Resolution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664208"/>
            <a:ext cx="2585465" cy="43708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664208"/>
            <a:ext cx="82296" cy="4370832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847088"/>
            <a:ext cx="420624" cy="420624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865376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792224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JPEG/HEIF are processed and compact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322576"/>
            <a:ext cx="2091689" cy="3602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JPEG/HEIF are processed and compact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08426" y="1664208"/>
            <a:ext cx="2585465" cy="43708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408426" y="1664208"/>
            <a:ext cx="82296" cy="4370832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627882" y="1847088"/>
            <a:ext cx="420624" cy="420624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27882" y="1865376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58234" y="1792224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RAW preserves more adjustment latitude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64458" y="2322576"/>
            <a:ext cx="2091689" cy="3602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RAW preserves more adjustment latitude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58483" y="1664208"/>
            <a:ext cx="2585465" cy="43708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58483" y="1664208"/>
            <a:ext cx="82296" cy="4370832"/>
          </a:xfrm>
          <a:prstGeom prst="rect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377940" y="1847088"/>
            <a:ext cx="420624" cy="420624"/>
          </a:xfrm>
          <a:prstGeom prst="ellipse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77940" y="1865376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08292" y="1792224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Higher resolution gives crop room but uses storage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14516" y="2322576"/>
            <a:ext cx="2091689" cy="3602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Higher resolution gives crop room but uses storage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908542" y="1664208"/>
            <a:ext cx="2585465" cy="43708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908542" y="1664208"/>
            <a:ext cx="82296" cy="4370832"/>
          </a:xfrm>
          <a:prstGeom prst="rect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127998" y="1847088"/>
            <a:ext cx="420624" cy="420624"/>
          </a:xfrm>
          <a:prstGeom prst="ellipse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27998" y="1865376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58350" y="1792224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Select format and aspect ratio for the final channel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64574" y="2322576"/>
            <a:ext cx="2091689" cy="3602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Select format and aspect ratio for the final channel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58368" y="6318504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8368" y="6382512"/>
            <a:ext cx="484632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Master Mobile Photography · TGS-2026064718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0" y="6382512"/>
            <a:ext cx="50292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698480" y="6382512"/>
            <a:ext cx="73152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1083564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01 · K1 · K2 · A1 · A2 · A3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835640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Why Mobile Photography Works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664208"/>
            <a:ext cx="2585465" cy="43708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664208"/>
            <a:ext cx="82296" cy="4370832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847088"/>
            <a:ext cx="420624" cy="420624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865376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792224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The camera is already with you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322576"/>
            <a:ext cx="2091689" cy="3602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The camera is already with you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08426" y="1664208"/>
            <a:ext cx="2585465" cy="43708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408426" y="1664208"/>
            <a:ext cx="82296" cy="4370832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627882" y="1847088"/>
            <a:ext cx="420624" cy="420624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27882" y="1865376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58234" y="1792224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Capture, edit and share on one device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64458" y="2322576"/>
            <a:ext cx="2091689" cy="3602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Capture, edit and share on one device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58483" y="1664208"/>
            <a:ext cx="2585465" cy="43708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58483" y="1664208"/>
            <a:ext cx="82296" cy="4370832"/>
          </a:xfrm>
          <a:prstGeom prst="rect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377940" y="1847088"/>
            <a:ext cx="420624" cy="420624"/>
          </a:xfrm>
          <a:prstGeom prst="ellipse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77940" y="1865376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08292" y="1792224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Small size supports candid and low-profile work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14516" y="2322576"/>
            <a:ext cx="2091689" cy="3602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Small size supports candid and low-profile work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908542" y="1664208"/>
            <a:ext cx="2585465" cy="43708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908542" y="1664208"/>
            <a:ext cx="82296" cy="4370832"/>
          </a:xfrm>
          <a:prstGeom prst="rect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127998" y="1847088"/>
            <a:ext cx="420624" cy="420624"/>
          </a:xfrm>
          <a:prstGeom prst="ellipse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27998" y="1865376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58350" y="1792224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Accessories cost less than a full camera system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64574" y="2322576"/>
            <a:ext cx="2091689" cy="3602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Accessories cost less than a full camera system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58368" y="6318504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8368" y="6382512"/>
            <a:ext cx="484632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Master Mobile Photography · TGS-2026064718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0" y="6382512"/>
            <a:ext cx="50292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698480" y="6382512"/>
            <a:ext cx="73152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1083564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01 · K1 · K2 · A1 · A2 · A3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835640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Limits to Plan Around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664208"/>
            <a:ext cx="2585465" cy="43708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664208"/>
            <a:ext cx="82296" cy="4370832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847088"/>
            <a:ext cx="420624" cy="420624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865376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792224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Small sensors struggle when light is scarce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322576"/>
            <a:ext cx="2091689" cy="3602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Small sensors struggle when light is scarce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08426" y="1664208"/>
            <a:ext cx="2585465" cy="43708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408426" y="1664208"/>
            <a:ext cx="82296" cy="4370832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627882" y="1847088"/>
            <a:ext cx="420624" cy="420624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27882" y="1865376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58234" y="1792224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Digital zoom removes pixels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64458" y="2322576"/>
            <a:ext cx="2091689" cy="3602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Digital zoom removes pixels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58483" y="1664208"/>
            <a:ext cx="2585465" cy="43708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58483" y="1664208"/>
            <a:ext cx="82296" cy="4370832"/>
          </a:xfrm>
          <a:prstGeom prst="rect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377940" y="1847088"/>
            <a:ext cx="420624" cy="420624"/>
          </a:xfrm>
          <a:prstGeom prst="ellipse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77940" y="1865376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08292" y="1792224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Tiny lenses exaggerate flare and smudges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14516" y="2322576"/>
            <a:ext cx="2091689" cy="3602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Tiny lenses exaggerate flare and smudges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908542" y="1664208"/>
            <a:ext cx="2585465" cy="43708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908542" y="1664208"/>
            <a:ext cx="82296" cy="4370832"/>
          </a:xfrm>
          <a:prstGeom prst="rect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127998" y="1847088"/>
            <a:ext cx="420624" cy="420624"/>
          </a:xfrm>
          <a:prstGeom prst="ellipse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27998" y="1865376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58350" y="1792224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Automation can misread focus, colour or depth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64574" y="2322576"/>
            <a:ext cx="2091689" cy="3602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Automation can misread focus, colour or depth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58368" y="6318504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8368" y="6382512"/>
            <a:ext cx="484632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Master Mobile Photography · TGS-2026064718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0" y="6382512"/>
            <a:ext cx="50292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698480" y="6382512"/>
            <a:ext cx="73152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1083564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01 · K1 · K2 · A1 · A2 · A3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835640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Stability Accessories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664208"/>
            <a:ext cx="2585465" cy="43708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664208"/>
            <a:ext cx="82296" cy="4370832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847088"/>
            <a:ext cx="420624" cy="420624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865376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792224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Two-handed grip reduces shake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322576"/>
            <a:ext cx="2091689" cy="3602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Two-handed grip reduces shake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08426" y="1664208"/>
            <a:ext cx="2585465" cy="43708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408426" y="1664208"/>
            <a:ext cx="82296" cy="4370832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627882" y="1847088"/>
            <a:ext cx="420624" cy="420624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27882" y="1865376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58234" y="1792224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Tripod supports low light, panorama and repeatable framing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64458" y="2322576"/>
            <a:ext cx="2091689" cy="3602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Tripod supports low light, panorama and repeatable framing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58483" y="1664208"/>
            <a:ext cx="2585465" cy="43708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58483" y="1664208"/>
            <a:ext cx="82296" cy="4370832"/>
          </a:xfrm>
          <a:prstGeom prst="rect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377940" y="1847088"/>
            <a:ext cx="420624" cy="420624"/>
          </a:xfrm>
          <a:prstGeom prst="ellipse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77940" y="1865376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08292" y="1792224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Bluetooth or timer release avoids touch vibration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14516" y="2322576"/>
            <a:ext cx="2091689" cy="3602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Bluetooth or timer release avoids touch vibration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908542" y="1664208"/>
            <a:ext cx="2585465" cy="43708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908542" y="1664208"/>
            <a:ext cx="82296" cy="4370832"/>
          </a:xfrm>
          <a:prstGeom prst="rect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127998" y="1847088"/>
            <a:ext cx="420624" cy="420624"/>
          </a:xfrm>
          <a:prstGeom prst="ellipse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27998" y="1865376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58350" y="1792224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A clamp must fit the phone and tighten securely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64574" y="2322576"/>
            <a:ext cx="2091689" cy="3602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A clamp must fit the phone and tighten securely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58368" y="6318504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8368" y="6382512"/>
            <a:ext cx="484632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Master Mobile Photography · TGS-2026064718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0" y="6382512"/>
            <a:ext cx="50292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698480" y="6382512"/>
            <a:ext cx="73152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1083564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01 · K1 · K2 · A1 · A2 · A3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835640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Optical and Lighting Accessories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664208"/>
            <a:ext cx="2585465" cy="43708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664208"/>
            <a:ext cx="82296" cy="4370832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847088"/>
            <a:ext cx="420624" cy="420624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865376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792224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Clip-on lenses must align with the correct module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322576"/>
            <a:ext cx="2091689" cy="3602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Clip-on lenses must align with the correct module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08426" y="1664208"/>
            <a:ext cx="2585465" cy="43708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408426" y="1664208"/>
            <a:ext cx="82296" cy="4370832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627882" y="1847088"/>
            <a:ext cx="420624" cy="420624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27882" y="1865376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58234" y="1792224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Filters can control glare or incoming light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64458" y="2322576"/>
            <a:ext cx="2091689" cy="3602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Filters can control glare or incoming light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58483" y="1664208"/>
            <a:ext cx="2585465" cy="43708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58483" y="1664208"/>
            <a:ext cx="82296" cy="4370832"/>
          </a:xfrm>
          <a:prstGeom prst="rect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377940" y="1847088"/>
            <a:ext cx="420624" cy="420624"/>
          </a:xfrm>
          <a:prstGeom prst="ellipse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77940" y="1865376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08292" y="1792224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LED panels provide continuous, directional light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14516" y="2322576"/>
            <a:ext cx="2091689" cy="3602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LED panels provide continuous, directional light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908542" y="1664208"/>
            <a:ext cx="2585465" cy="43708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908542" y="1664208"/>
            <a:ext cx="82296" cy="4370832"/>
          </a:xfrm>
          <a:prstGeom prst="rect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127998" y="1847088"/>
            <a:ext cx="420624" cy="420624"/>
          </a:xfrm>
          <a:prstGeom prst="ellipse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27998" y="1865376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58350" y="1792224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A power bank protects a long assignment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64574" y="2322576"/>
            <a:ext cx="2091689" cy="3602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A power bank protects a long assignment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58368" y="6318504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8368" y="6382512"/>
            <a:ext cx="484632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Master Mobile Photography · TGS-2026064718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0" y="6382512"/>
            <a:ext cx="50292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698480" y="6382512"/>
            <a:ext cx="73152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1083564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01 · K1 · K2 · A1 · A2 · A3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835640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Accessory Selection Matrix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664208"/>
            <a:ext cx="2585465" cy="43708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664208"/>
            <a:ext cx="82296" cy="4370832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847088"/>
            <a:ext cx="420624" cy="420624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865376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792224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Need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322576"/>
            <a:ext cx="2091689" cy="3602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solve a real capture problem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08426" y="1664208"/>
            <a:ext cx="2585465" cy="43708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408426" y="1664208"/>
            <a:ext cx="82296" cy="4370832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627882" y="1847088"/>
            <a:ext cx="420624" cy="420624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27882" y="1865376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58234" y="1792224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Fit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64458" y="2322576"/>
            <a:ext cx="2091689" cy="3602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verify model, clamp and load compatibility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58483" y="1664208"/>
            <a:ext cx="2585465" cy="43708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58483" y="1664208"/>
            <a:ext cx="82296" cy="4370832"/>
          </a:xfrm>
          <a:prstGeom prst="rect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377940" y="1847088"/>
            <a:ext cx="420624" cy="420624"/>
          </a:xfrm>
          <a:prstGeom prst="ellipse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77940" y="1865376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08292" y="1792224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Quality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14516" y="2322576"/>
            <a:ext cx="2091689" cy="3602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check sharpness, flare and build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908542" y="1664208"/>
            <a:ext cx="2585465" cy="43708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908542" y="1664208"/>
            <a:ext cx="82296" cy="4370832"/>
          </a:xfrm>
          <a:prstGeom prst="rect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127998" y="1847088"/>
            <a:ext cx="420624" cy="420624"/>
          </a:xfrm>
          <a:prstGeom prst="ellipse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27998" y="1865376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58350" y="1792224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Safety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64574" y="2322576"/>
            <a:ext cx="2091689" cy="3602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inspect edges, joints, heat and cables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58368" y="6318504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8368" y="6382512"/>
            <a:ext cx="484632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Master Mobile Photography · TGS-2026064718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0" y="6382512"/>
            <a:ext cx="50292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698480" y="6382512"/>
            <a:ext cx="73152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1083564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01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835640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The Pre-Shoot Inspection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77240" y="2148840"/>
            <a:ext cx="2425446" cy="288036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48840"/>
            <a:ext cx="2425446" cy="91440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615059" y="2532888"/>
            <a:ext cx="749808" cy="749808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15059" y="2660904"/>
            <a:ext cx="749808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3544" y="3584448"/>
            <a:ext cx="2132838" cy="11887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Clean all active lenses with a microfibre cloth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2686" y="3337560"/>
            <a:ext cx="310896" cy="4572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513582" y="2148840"/>
            <a:ext cx="2425446" cy="288036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513582" y="2148840"/>
            <a:ext cx="2425446" cy="91440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351401" y="2532888"/>
            <a:ext cx="749808" cy="749808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51401" y="2660904"/>
            <a:ext cx="749808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9886" y="3584448"/>
            <a:ext cx="2132838" cy="11887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Check battery, storage and chosen format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39028" y="3337560"/>
            <a:ext cx="310896" cy="4572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49924" y="2148840"/>
            <a:ext cx="2425446" cy="288036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49924" y="2148840"/>
            <a:ext cx="2425446" cy="91440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087743" y="2532888"/>
            <a:ext cx="749808" cy="749808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087743" y="2660904"/>
            <a:ext cx="749808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96228" y="3584448"/>
            <a:ext cx="2132838" cy="11887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Test tripod locks, clamp, remote and light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75370" y="3337560"/>
            <a:ext cx="310896" cy="4572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986266" y="2148840"/>
            <a:ext cx="2425446" cy="288036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986266" y="2148840"/>
            <a:ext cx="2425446" cy="91440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824085" y="2532888"/>
            <a:ext cx="749808" cy="749808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824085" y="2660904"/>
            <a:ext cx="749808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32570" y="3584448"/>
            <a:ext cx="2132838" cy="11887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Record defects and remove unsafe equipment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58368" y="6318504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8368" y="6382512"/>
            <a:ext cx="484632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Master Mobile Photography · TGS-2026064718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0" y="6382512"/>
            <a:ext cx="50292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698480" y="6382512"/>
            <a:ext cx="73152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33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1083564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01 · K1 · K2 · A1 · A2 · A3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835640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Safe Camera Handling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664208"/>
            <a:ext cx="2585465" cy="43708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664208"/>
            <a:ext cx="82296" cy="4370832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847088"/>
            <a:ext cx="420624" cy="420624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865376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792224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Keep fingers clear of lenses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322576"/>
            <a:ext cx="2091689" cy="3602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Keep fingers clear of lenses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08426" y="1664208"/>
            <a:ext cx="2585465" cy="43708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408426" y="1664208"/>
            <a:ext cx="82296" cy="4370832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627882" y="1847088"/>
            <a:ext cx="420624" cy="420624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27882" y="1865376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58234" y="1792224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Stand balanced and stop before composing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64458" y="2322576"/>
            <a:ext cx="2091689" cy="3602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Stand balanced and stop before composing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58483" y="1664208"/>
            <a:ext cx="2585465" cy="43708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58483" y="1664208"/>
            <a:ext cx="82296" cy="4370832"/>
          </a:xfrm>
          <a:prstGeom prst="rect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377940" y="1847088"/>
            <a:ext cx="420624" cy="420624"/>
          </a:xfrm>
          <a:prstGeom prst="ellipse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77940" y="1865376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08292" y="1792224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Use a wrist strap where a drop could injure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14516" y="2322576"/>
            <a:ext cx="2091689" cy="3602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Use a wrist strap where a drop could injure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908542" y="1664208"/>
            <a:ext cx="2585465" cy="43708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908542" y="1664208"/>
            <a:ext cx="82296" cy="4370832"/>
          </a:xfrm>
          <a:prstGeom prst="rect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127998" y="1847088"/>
            <a:ext cx="420624" cy="420624"/>
          </a:xfrm>
          <a:prstGeom prst="ellipse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27998" y="1865376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58350" y="1792224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Never step backward into traffic or hazards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64574" y="2322576"/>
            <a:ext cx="2091689" cy="3602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Never step backward into traffic or hazards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58368" y="6318504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8368" y="6382512"/>
            <a:ext cx="484632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Master Mobile Photography · TGS-2026064718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0" y="6382512"/>
            <a:ext cx="50292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698480" y="6382512"/>
            <a:ext cx="73152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34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1083564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01 · K1 · K2 · A1 · A2 · A3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835640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Anatomy of a Shot Plan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664208"/>
            <a:ext cx="2585465" cy="43708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664208"/>
            <a:ext cx="82296" cy="4370832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847088"/>
            <a:ext cx="420624" cy="420624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865376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792224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Objective and audience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322576"/>
            <a:ext cx="2091689" cy="3602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Objective and audience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08426" y="1664208"/>
            <a:ext cx="2585465" cy="43708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408426" y="1664208"/>
            <a:ext cx="82296" cy="4370832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627882" y="1847088"/>
            <a:ext cx="420624" cy="420624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27882" y="1865376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58234" y="1792224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Subject, location and production style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64458" y="2322576"/>
            <a:ext cx="2091689" cy="3602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Subject, location and production style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58483" y="1664208"/>
            <a:ext cx="2585465" cy="43708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58483" y="1664208"/>
            <a:ext cx="82296" cy="4370832"/>
          </a:xfrm>
          <a:prstGeom prst="rect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377940" y="1847088"/>
            <a:ext cx="420624" cy="420624"/>
          </a:xfrm>
          <a:prstGeom prst="ellipse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77940" y="1865376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08292" y="1792224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Shot list with size, angle and composition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14516" y="2322576"/>
            <a:ext cx="2091689" cy="3602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Shot list with size, angle and composition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908542" y="1664208"/>
            <a:ext cx="2585465" cy="43708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908542" y="1664208"/>
            <a:ext cx="82296" cy="4370832"/>
          </a:xfrm>
          <a:prstGeom prst="rect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127998" y="1847088"/>
            <a:ext cx="420624" cy="420624"/>
          </a:xfrm>
          <a:prstGeom prst="ellipse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27998" y="1865376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58350" y="1792224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Light, settings, equipment, safety and permissions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64574" y="2322576"/>
            <a:ext cx="2091689" cy="3602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Light, settings, equipment, safety and permissions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58368" y="6318504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8368" y="6382512"/>
            <a:ext cx="484632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Master Mobile Photography · TGS-2026064718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0" y="6382512"/>
            <a:ext cx="50292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698480" y="6382512"/>
            <a:ext cx="73152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35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1083564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01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835640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Translate a Brief into Pictures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77240" y="2148840"/>
            <a:ext cx="2425446" cy="288036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48840"/>
            <a:ext cx="2425446" cy="91440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615059" y="2532888"/>
            <a:ext cx="749808" cy="749808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15059" y="2660904"/>
            <a:ext cx="749808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3544" y="3584448"/>
            <a:ext cx="2132838" cy="11887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Identify the message the client needs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2686" y="3337560"/>
            <a:ext cx="310896" cy="4572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513582" y="2148840"/>
            <a:ext cx="2425446" cy="288036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513582" y="2148840"/>
            <a:ext cx="2425446" cy="91440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351401" y="2532888"/>
            <a:ext cx="749808" cy="749808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51401" y="2660904"/>
            <a:ext cx="749808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9886" y="3584448"/>
            <a:ext cx="2132838" cy="11887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Select a visual style that supports it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39028" y="3337560"/>
            <a:ext cx="310896" cy="4572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49924" y="2148840"/>
            <a:ext cx="2425446" cy="288036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49924" y="2148840"/>
            <a:ext cx="2425446" cy="91440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087743" y="2532888"/>
            <a:ext cx="749808" cy="749808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087743" y="2660904"/>
            <a:ext cx="749808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96228" y="3584448"/>
            <a:ext cx="2132838" cy="11887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Turn deliverables into observable shot requirements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75370" y="3337560"/>
            <a:ext cx="310896" cy="4572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986266" y="2148840"/>
            <a:ext cx="2425446" cy="288036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986266" y="2148840"/>
            <a:ext cx="2425446" cy="91440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824085" y="2532888"/>
            <a:ext cx="749808" cy="749808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824085" y="2660904"/>
            <a:ext cx="749808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32570" y="3584448"/>
            <a:ext cx="2132838" cy="11887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Define acceptance criteria before capture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58368" y="6318504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8368" y="6382512"/>
            <a:ext cx="484632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Master Mobile Photography · TGS-2026064718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0" y="6382512"/>
            <a:ext cx="50292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698480" y="6382512"/>
            <a:ext cx="73152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36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1083564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01 · K1 · K2 · A1 · A2 · A3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835640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Coordinate a Mounted Shot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664208"/>
            <a:ext cx="2585465" cy="43708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664208"/>
            <a:ext cx="82296" cy="4370832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847088"/>
            <a:ext cx="420624" cy="420624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865376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792224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Agree roles and a clear call sequence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322576"/>
            <a:ext cx="2091689" cy="3602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Agree roles and a clear call sequence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08426" y="1664208"/>
            <a:ext cx="2585465" cy="43708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408426" y="1664208"/>
            <a:ext cx="82296" cy="4370832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627882" y="1847088"/>
            <a:ext cx="420624" cy="420624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27882" y="1865376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58234" y="1792224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Mark the tripod footprint away from public flow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64458" y="2322576"/>
            <a:ext cx="2091689" cy="3602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Mark the tripod footprint away from public flow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58483" y="1664208"/>
            <a:ext cx="2585465" cy="43708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58483" y="1664208"/>
            <a:ext cx="82296" cy="4370832"/>
          </a:xfrm>
          <a:prstGeom prst="rect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377940" y="1847088"/>
            <a:ext cx="420624" cy="420624"/>
          </a:xfrm>
          <a:prstGeom prst="ellipse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77940" y="1865376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08292" y="1792224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Confirm horizon, sweep direction and start/end points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14516" y="2322576"/>
            <a:ext cx="2091689" cy="3602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Confirm horizon, sweep direction and start/end points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908542" y="1664208"/>
            <a:ext cx="2585465" cy="43708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908542" y="1664208"/>
            <a:ext cx="82296" cy="4370832"/>
          </a:xfrm>
          <a:prstGeom prst="rect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127998" y="1847088"/>
            <a:ext cx="420624" cy="420624"/>
          </a:xfrm>
          <a:prstGeom prst="ellipse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27998" y="1865376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58350" y="1792224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Stop when people enter the operating zone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64574" y="2322576"/>
            <a:ext cx="2091689" cy="3602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Stop when people enter the operating zone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58368" y="6318504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8368" y="6382512"/>
            <a:ext cx="484632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Master Mobile Photography · TGS-2026064718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0" y="6382512"/>
            <a:ext cx="50292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698480" y="6382512"/>
            <a:ext cx="73152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37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1083564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01 · K1 · K2 · A1 · A2 · A3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835640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Privacy, Property and Consent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664208"/>
            <a:ext cx="2585465" cy="43708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664208"/>
            <a:ext cx="82296" cy="4370832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847088"/>
            <a:ext cx="420624" cy="420624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865376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792224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Ask permission for identifiable people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322576"/>
            <a:ext cx="2091689" cy="3602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Ask permission for identifiable people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08426" y="1664208"/>
            <a:ext cx="2585465" cy="43708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408426" y="1664208"/>
            <a:ext cx="82296" cy="4370832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627882" y="1847088"/>
            <a:ext cx="420624" cy="420624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27882" y="1865376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58234" y="1792224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Avoid confidential screens, documents and badges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64458" y="2322576"/>
            <a:ext cx="2091689" cy="3602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Avoid confidential screens, documents and badges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58483" y="1664208"/>
            <a:ext cx="2585465" cy="43708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58483" y="1664208"/>
            <a:ext cx="82296" cy="4370832"/>
          </a:xfrm>
          <a:prstGeom prst="rect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377940" y="1847088"/>
            <a:ext cx="420624" cy="420624"/>
          </a:xfrm>
          <a:prstGeom prst="ellipse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77940" y="1865376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08292" y="1792224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Respect property rules and restricted locations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14516" y="2322576"/>
            <a:ext cx="2091689" cy="3602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Respect property rules and restricted locations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908542" y="1664208"/>
            <a:ext cx="2585465" cy="43708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908542" y="1664208"/>
            <a:ext cx="82296" cy="4370832"/>
          </a:xfrm>
          <a:prstGeom prst="rect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127998" y="1847088"/>
            <a:ext cx="420624" cy="420624"/>
          </a:xfrm>
          <a:prstGeom prst="ellipse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27998" y="1865376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58350" y="1792224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Do not publish logos or faces without authority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64574" y="2322576"/>
            <a:ext cx="2091689" cy="3602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Do not publish logos or faces without authority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58368" y="6318504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8368" y="6382512"/>
            <a:ext cx="484632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Master Mobile Photography · TGS-2026064718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0" y="6382512"/>
            <a:ext cx="50292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698480" y="6382512"/>
            <a:ext cx="73152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38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1083564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TOPIC 01 · REAL-USE-CASE ACTIVITY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835640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Plan and Inspect a Café Product Shoot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673352"/>
            <a:ext cx="1325880" cy="438912"/>
          </a:xfrm>
          <a:prstGeom prst="roundRect">
            <a:avLst>
              <a:gd name="adj" fmla="val 8000"/>
            </a:avLst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773936"/>
            <a:ext cx="132588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ACTIVITY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2331720"/>
            <a:ext cx="6903720" cy="10972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A neighbourhood café needs eight smartphone photographs of a signature dish and wellness product for a launch post.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3675887"/>
            <a:ext cx="6903720" cy="141732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886200"/>
            <a:ext cx="6400800" cy="100584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8A73"/>
                </a:solidFill>
                <a:latin typeface="Arial"/>
              </a:rPr>
              <a:t>YOU'LL PRODUCE</a:t>
            </a:r>
          </a:p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Approved shot plan, equipment inspection, safety check and two test frames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Full procedures: Learner Guide and Activity folder</a:t>
            </a:r>
          </a:p>
        </p:txBody>
      </p:sp>
      <p:pic>
        <p:nvPicPr>
          <p:cNvPr id="11" name="Picture 10" descr="cover-hero-v12.png"/>
          <p:cNvPicPr>
            <a:picLocks noChangeAspect="1"/>
          </p:cNvPicPr>
          <p:nvPr/>
        </p:nvPicPr>
        <p:blipFill>
          <a:blip r:embed="rId2"/>
          <a:srcRect l="19979" r="19979"/>
          <a:stretch>
            <a:fillRect/>
          </a:stretch>
        </p:blipFill>
        <p:spPr>
          <a:xfrm>
            <a:off x="7845552" y="1673352"/>
            <a:ext cx="3648456" cy="341985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58368" y="5376672"/>
            <a:ext cx="10744200" cy="4572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A1 · A3 · Smartphone, microfibre cloth, tabletop tripod, LED panel, reflector, power bank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6318504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" y="6382512"/>
            <a:ext cx="484632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Master Mobile Photography · TGS-2026064718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0" y="6382512"/>
            <a:ext cx="50292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98480" y="6382512"/>
            <a:ext cx="73152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39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1083564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ACTIVITY 1 · ANALYSE BEFORE CAPTURE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835640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Visual Brief and Reference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cover-hero-v12.png"/>
          <p:cNvPicPr>
            <a:picLocks noChangeAspect="1"/>
          </p:cNvPicPr>
          <p:nvPr/>
        </p:nvPicPr>
        <p:blipFill>
          <a:blip r:embed="rId2"/>
          <a:srcRect l="7673" r="7673"/>
          <a:stretch>
            <a:fillRect/>
          </a:stretch>
        </p:blipFill>
        <p:spPr>
          <a:xfrm>
            <a:off x="658368" y="1645920"/>
            <a:ext cx="6629400" cy="4407408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562088" y="1664208"/>
            <a:ext cx="3931920" cy="84124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772400" y="1856232"/>
            <a:ext cx="411480" cy="411480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0" y="1901952"/>
            <a:ext cx="41148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66760" y="1801368"/>
            <a:ext cx="2880360" cy="5669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What attracts attention first?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62088" y="2688336"/>
            <a:ext cx="3931920" cy="84124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772400" y="2880360"/>
            <a:ext cx="411480" cy="411480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0" y="2926080"/>
            <a:ext cx="41148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66760" y="2825496"/>
            <a:ext cx="2880360" cy="5669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Which light, angle and composition choices are visible?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62088" y="3712464"/>
            <a:ext cx="3931920" cy="84124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772400" y="3904488"/>
            <a:ext cx="411480" cy="411480"/>
          </a:xfrm>
          <a:prstGeom prst="ellipse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0" y="3950208"/>
            <a:ext cx="41148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6760" y="3849624"/>
            <a:ext cx="2880360" cy="5669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What could fail technically or ethically?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562088" y="4736592"/>
            <a:ext cx="3931920" cy="84124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772400" y="4928616"/>
            <a:ext cx="411480" cy="411480"/>
          </a:xfrm>
          <a:prstGeom prst="ellipse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0" y="4974336"/>
            <a:ext cx="41148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66760" y="4873752"/>
            <a:ext cx="2880360" cy="5669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Which acceptance criterion does the image demonstrate?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8368" y="6318504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8368" y="6382512"/>
            <a:ext cx="484632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Master Mobile Photography · TGS-2026064718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0" y="6382512"/>
            <a:ext cx="50292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698480" y="6382512"/>
            <a:ext cx="73152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40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1083564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6845B"/>
                </a:solidFill>
                <a:latin typeface="Arial"/>
              </a:rPr>
              <a:t>ACTIVITY 1 · VERIFY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835640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Acceptance Review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1755648"/>
            <a:ext cx="10424160" cy="713232"/>
          </a:xfrm>
          <a:prstGeom prst="roundRect">
            <a:avLst>
              <a:gd name="adj" fmla="val 8000"/>
            </a:avLst>
          </a:prstGeom>
          <a:solidFill>
            <a:srgbClr val="E8F7EE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51560" y="1911095"/>
            <a:ext cx="402336" cy="402336"/>
          </a:xfrm>
          <a:prstGeom prst="ellipse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1938528"/>
            <a:ext cx="402336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883664"/>
            <a:ext cx="9144000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All eight shots map to a clear purpose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2670048"/>
            <a:ext cx="10424160" cy="713232"/>
          </a:xfrm>
          <a:prstGeom prst="roundRect">
            <a:avLst>
              <a:gd name="adj" fmla="val 8000"/>
            </a:avLst>
          </a:prstGeom>
          <a:solidFill>
            <a:srgbClr val="E8F7EE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51560" y="2825496"/>
            <a:ext cx="402336" cy="402336"/>
          </a:xfrm>
          <a:prstGeom prst="ellipse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" y="2852928"/>
            <a:ext cx="402336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91640" y="2798064"/>
            <a:ext cx="9144000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Inspection checklist is complete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3584448"/>
            <a:ext cx="10424160" cy="713232"/>
          </a:xfrm>
          <a:prstGeom prst="roundRect">
            <a:avLst>
              <a:gd name="adj" fmla="val 8000"/>
            </a:avLst>
          </a:prstGeom>
          <a:solidFill>
            <a:srgbClr val="E8F7EE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051560" y="3739896"/>
            <a:ext cx="402336" cy="402336"/>
          </a:xfrm>
          <a:prstGeom prst="ellipse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51560" y="3767328"/>
            <a:ext cx="402336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91640" y="3712463"/>
            <a:ext cx="9144000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No unsafe equipment remains in use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4498848"/>
            <a:ext cx="10424160" cy="713232"/>
          </a:xfrm>
          <a:prstGeom prst="roundRect">
            <a:avLst>
              <a:gd name="adj" fmla="val 8000"/>
            </a:avLst>
          </a:prstGeom>
          <a:solidFill>
            <a:srgbClr val="E8F7EE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51560" y="4654296"/>
            <a:ext cx="402336" cy="402336"/>
          </a:xfrm>
          <a:prstGeom prst="ellipse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51560" y="4681728"/>
            <a:ext cx="402336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91640" y="4626864"/>
            <a:ext cx="9144000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Test frames meet focus and highlight criteria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2960" y="5532120"/>
            <a:ext cx="10424160" cy="43891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05840" y="5623560"/>
            <a:ext cx="1005840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Evidence: final images · completed checklist · settings/decision log · peer feedback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58368" y="6318504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8368" y="6382512"/>
            <a:ext cx="484632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Master Mobile Photography · TGS-2026064718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0" y="6382512"/>
            <a:ext cx="50292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98480" y="6382512"/>
            <a:ext cx="73152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41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1083564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TOPIC 01 · REAL-USE-CASE ACTIVITY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835640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Coordinate a Safe Retail Panorama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673352"/>
            <a:ext cx="1325880" cy="438912"/>
          </a:xfrm>
          <a:prstGeom prst="roundRect">
            <a:avLst>
              <a:gd name="adj" fmla="val 8000"/>
            </a:avLst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773936"/>
            <a:ext cx="132588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ACTIVITY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2331720"/>
            <a:ext cx="6903720" cy="10972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A retail centre needs a clean panorama and supporting wide photographs showing an atrium without obstructing public movement.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3675887"/>
            <a:ext cx="6903720" cy="141732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886200"/>
            <a:ext cx="6400800" cy="100584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8A73"/>
                </a:solidFill>
                <a:latin typeface="Arial"/>
              </a:rPr>
              <a:t>YOU'LL PRODUCE</a:t>
            </a:r>
          </a:p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Role call sheet, safe tripod setup, panorama and two supporting wide shots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Full procedures: Learner Guide and Activity folder</a:t>
            </a:r>
          </a:p>
        </p:txBody>
      </p:sp>
      <p:pic>
        <p:nvPicPr>
          <p:cNvPr id="11" name="Picture 10" descr="activity-02-panorama-team.png"/>
          <p:cNvPicPr>
            <a:picLocks noChangeAspect="1"/>
          </p:cNvPicPr>
          <p:nvPr/>
        </p:nvPicPr>
        <p:blipFill>
          <a:blip r:embed="rId2"/>
          <a:srcRect l="19979" r="19979"/>
          <a:stretch>
            <a:fillRect/>
          </a:stretch>
        </p:blipFill>
        <p:spPr>
          <a:xfrm>
            <a:off x="7845552" y="1673352"/>
            <a:ext cx="3648456" cy="341985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58368" y="5376672"/>
            <a:ext cx="10744200" cy="4572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A2 · A4 · Smartphone, tripod and clamp, Bluetooth remote, floor markers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6318504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" y="6382512"/>
            <a:ext cx="484632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Master Mobile Photography · TGS-2026064718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0" y="6382512"/>
            <a:ext cx="50292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98480" y="6382512"/>
            <a:ext cx="73152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42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1083564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ACTIVITY 2 · ANALYSE BEFORE CAPTURE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835640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Visual Brief and Reference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activity-02-panorama-team.png"/>
          <p:cNvPicPr>
            <a:picLocks noChangeAspect="1"/>
          </p:cNvPicPr>
          <p:nvPr/>
        </p:nvPicPr>
        <p:blipFill>
          <a:blip r:embed="rId2"/>
          <a:srcRect l="7673" r="7673"/>
          <a:stretch>
            <a:fillRect/>
          </a:stretch>
        </p:blipFill>
        <p:spPr>
          <a:xfrm>
            <a:off x="658368" y="1645920"/>
            <a:ext cx="6629400" cy="4407408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562088" y="1664208"/>
            <a:ext cx="3931920" cy="84124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772400" y="1856232"/>
            <a:ext cx="411480" cy="411480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0" y="1901952"/>
            <a:ext cx="41148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66760" y="1801368"/>
            <a:ext cx="2880360" cy="5669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What attracts attention first?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62088" y="2688336"/>
            <a:ext cx="3931920" cy="84124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772400" y="2880360"/>
            <a:ext cx="411480" cy="411480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0" y="2926080"/>
            <a:ext cx="41148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66760" y="2825496"/>
            <a:ext cx="2880360" cy="5669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Which light, angle and composition choices are visible?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62088" y="3712464"/>
            <a:ext cx="3931920" cy="84124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772400" y="3904488"/>
            <a:ext cx="411480" cy="411480"/>
          </a:xfrm>
          <a:prstGeom prst="ellipse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0" y="3950208"/>
            <a:ext cx="41148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6760" y="3849624"/>
            <a:ext cx="2880360" cy="5669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What could fail technically or ethically?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562088" y="4736592"/>
            <a:ext cx="3931920" cy="84124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772400" y="4928616"/>
            <a:ext cx="411480" cy="411480"/>
          </a:xfrm>
          <a:prstGeom prst="ellipse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0" y="4974336"/>
            <a:ext cx="41148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66760" y="4873752"/>
            <a:ext cx="2880360" cy="5669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Which acceptance criterion does the image demonstrate?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8368" y="6318504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8368" y="6382512"/>
            <a:ext cx="484632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Master Mobile Photography · TGS-2026064718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0" y="6382512"/>
            <a:ext cx="50292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698480" y="6382512"/>
            <a:ext cx="73152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43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1083564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6845B"/>
                </a:solidFill>
                <a:latin typeface="Arial"/>
              </a:rPr>
              <a:t>ACTIVITY 2 · VERIFY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835640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Acceptance Review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1755648"/>
            <a:ext cx="10424160" cy="713232"/>
          </a:xfrm>
          <a:prstGeom prst="roundRect">
            <a:avLst>
              <a:gd name="adj" fmla="val 8000"/>
            </a:avLst>
          </a:prstGeom>
          <a:solidFill>
            <a:srgbClr val="E8F7EE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51560" y="1911095"/>
            <a:ext cx="402336" cy="402336"/>
          </a:xfrm>
          <a:prstGeom prst="ellipse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1938528"/>
            <a:ext cx="402336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883664"/>
            <a:ext cx="9144000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Roles and stop signals are documented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2670048"/>
            <a:ext cx="10424160" cy="713232"/>
          </a:xfrm>
          <a:prstGeom prst="roundRect">
            <a:avLst>
              <a:gd name="adj" fmla="val 8000"/>
            </a:avLst>
          </a:prstGeom>
          <a:solidFill>
            <a:srgbClr val="E8F7EE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51560" y="2825496"/>
            <a:ext cx="402336" cy="402336"/>
          </a:xfrm>
          <a:prstGeom prst="ellipse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" y="2852928"/>
            <a:ext cx="402336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91640" y="2798064"/>
            <a:ext cx="9144000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Tripod is stable and non-obstructive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3584448"/>
            <a:ext cx="10424160" cy="713232"/>
          </a:xfrm>
          <a:prstGeom prst="roundRect">
            <a:avLst>
              <a:gd name="adj" fmla="val 8000"/>
            </a:avLst>
          </a:prstGeom>
          <a:solidFill>
            <a:srgbClr val="E8F7EE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051560" y="3739896"/>
            <a:ext cx="402336" cy="402336"/>
          </a:xfrm>
          <a:prstGeom prst="ellipse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51560" y="3767328"/>
            <a:ext cx="402336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91640" y="3712463"/>
            <a:ext cx="9144000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Panorama has a level horizon and clean seams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4498848"/>
            <a:ext cx="10424160" cy="713232"/>
          </a:xfrm>
          <a:prstGeom prst="roundRect">
            <a:avLst>
              <a:gd name="adj" fmla="val 8000"/>
            </a:avLst>
          </a:prstGeom>
          <a:solidFill>
            <a:srgbClr val="E8F7EE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51560" y="4654296"/>
            <a:ext cx="402336" cy="402336"/>
          </a:xfrm>
          <a:prstGeom prst="ellipse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51560" y="4681728"/>
            <a:ext cx="402336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91640" y="4626864"/>
            <a:ext cx="9144000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Supporting shots meet the aesthetic brief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2960" y="5532120"/>
            <a:ext cx="10424160" cy="43891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05840" y="5623560"/>
            <a:ext cx="1005840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Evidence: final images · completed checklist · settings/decision log · peer feedback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58368" y="6318504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8368" y="6382512"/>
            <a:ext cx="484632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Master Mobile Photography · TGS-2026064718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0" y="6382512"/>
            <a:ext cx="50292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98480" y="6382512"/>
            <a:ext cx="73152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44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1083564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CHECK YOUR UNDERSTANDING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835640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Topic 01 Recap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664208"/>
            <a:ext cx="2585465" cy="43708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664208"/>
            <a:ext cx="82296" cy="4370832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847088"/>
            <a:ext cx="420624" cy="420624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865376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792224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Explain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322576"/>
            <a:ext cx="2091689" cy="3602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Anatomy of a Shot Plan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08426" y="1664208"/>
            <a:ext cx="2585465" cy="43708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408426" y="1664208"/>
            <a:ext cx="82296" cy="4370832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627882" y="1847088"/>
            <a:ext cx="420624" cy="420624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27882" y="1865376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58234" y="1792224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Explain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64458" y="2322576"/>
            <a:ext cx="2091689" cy="3602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Translate a Brief into Pictures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58483" y="1664208"/>
            <a:ext cx="2585465" cy="43708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58483" y="1664208"/>
            <a:ext cx="82296" cy="4370832"/>
          </a:xfrm>
          <a:prstGeom prst="rect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377940" y="1847088"/>
            <a:ext cx="420624" cy="420624"/>
          </a:xfrm>
          <a:prstGeom prst="ellipse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77940" y="1865376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08292" y="1792224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Explain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14516" y="2322576"/>
            <a:ext cx="2091689" cy="3602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Coordinate a Mounted Shot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908542" y="1664208"/>
            <a:ext cx="2585465" cy="43708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908542" y="1664208"/>
            <a:ext cx="82296" cy="4370832"/>
          </a:xfrm>
          <a:prstGeom prst="rect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127998" y="1847088"/>
            <a:ext cx="420624" cy="420624"/>
          </a:xfrm>
          <a:prstGeom prst="ellipse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27998" y="1865376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58350" y="1792224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Explain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64574" y="2322576"/>
            <a:ext cx="2091689" cy="3602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Privacy, Property and Consent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58368" y="6318504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8368" y="6382512"/>
            <a:ext cx="484632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Master Mobile Photography · TGS-2026064718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0" y="6382512"/>
            <a:ext cx="50292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698480" y="6382512"/>
            <a:ext cx="73152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45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2377440"/>
            <a:ext cx="12191695" cy="9144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4400" b="1">
                <a:solidFill>
                  <a:srgbClr val="161B26"/>
                </a:solidFill>
                <a:latin typeface="Arial"/>
              </a:rPr>
              <a:t>Lunch Break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3520440"/>
            <a:ext cx="12191695" cy="5486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1">
                <a:solidFill>
                  <a:srgbClr val="C77600"/>
                </a:solidFill>
                <a:latin typeface="Arial"/>
              </a:rPr>
              <a:t>45 minutes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6318504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6382512"/>
            <a:ext cx="484632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Master Mobile Photography · TGS-2026064718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0" y="6382512"/>
            <a:ext cx="50292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98480" y="6382512"/>
            <a:ext cx="73152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46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58368" y="1737360"/>
            <a:ext cx="10835640" cy="3291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58368" y="1737360"/>
            <a:ext cx="128016" cy="3291840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80160" y="2148840"/>
            <a:ext cx="868680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6D3FD2"/>
                </a:solidFill>
                <a:latin typeface="Arial"/>
              </a:rPr>
              <a:t>TOPIC 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2606040"/>
            <a:ext cx="8961120" cy="9144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3400" b="1">
                <a:solidFill>
                  <a:srgbClr val="161B26"/>
                </a:solidFill>
                <a:latin typeface="Arial"/>
              </a:rPr>
              <a:t>Basic Mobile Photography Skills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3703320"/>
            <a:ext cx="8961120" cy="7315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Exposure · focus · colour · light · lenses · low-light and motion control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38360" y="2194560"/>
            <a:ext cx="1097280" cy="109728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5600" b="1">
                <a:solidFill>
                  <a:srgbClr val="6D3FD2"/>
                </a:solidFill>
                <a:latin typeface="Arial"/>
              </a:rPr>
              <a:t>02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6318504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6382512"/>
            <a:ext cx="484632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Master Mobile Photography · TGS-2026064718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6382512"/>
            <a:ext cx="50292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98480" y="6382512"/>
            <a:ext cx="73152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47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1083564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6D3FD2"/>
                </a:solidFill>
                <a:latin typeface="Arial"/>
              </a:rPr>
              <a:t>K3 · K8 · A3 · A4 · A6 · PART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835640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Topic 02 Roadmap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664208"/>
            <a:ext cx="2585465" cy="210312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664208"/>
            <a:ext cx="82296" cy="2103120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847088"/>
            <a:ext cx="420624" cy="420624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865376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792224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Exposure Is a Creative Choice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322576"/>
            <a:ext cx="2091689" cy="133502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Exposure Is a Creative Choice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08426" y="1664208"/>
            <a:ext cx="2585465" cy="210312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408426" y="1664208"/>
            <a:ext cx="82296" cy="2103120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627882" y="1847088"/>
            <a:ext cx="420624" cy="420624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27882" y="1865376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58234" y="1792224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The Exposure Triangle—Adapted for Phones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64458" y="2322576"/>
            <a:ext cx="2091689" cy="133502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The Exposure Triangle—Adapted for Phones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58483" y="1664208"/>
            <a:ext cx="2585465" cy="210312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58483" y="1664208"/>
            <a:ext cx="82296" cy="2103120"/>
          </a:xfrm>
          <a:prstGeom prst="rect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377940" y="1847088"/>
            <a:ext cx="420624" cy="420624"/>
          </a:xfrm>
          <a:prstGeom prst="ellipse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77940" y="1865376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08292" y="1792224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Shutter Time and Motion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14516" y="2322576"/>
            <a:ext cx="2091689" cy="133502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Shutter Time and Motion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908542" y="1664208"/>
            <a:ext cx="2585465" cy="210312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908542" y="1664208"/>
            <a:ext cx="82296" cy="2103120"/>
          </a:xfrm>
          <a:prstGeom prst="rect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127998" y="1847088"/>
            <a:ext cx="420624" cy="420624"/>
          </a:xfrm>
          <a:prstGeom prst="ellipse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27998" y="1865376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58350" y="1792224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ISO and Image Quality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64574" y="2322576"/>
            <a:ext cx="2091689" cy="133502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ISO and Image Quality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58368" y="3931920"/>
            <a:ext cx="2585465" cy="210312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58368" y="3931920"/>
            <a:ext cx="82296" cy="2103120"/>
          </a:xfrm>
          <a:prstGeom prst="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877824" y="4114800"/>
            <a:ext cx="420624" cy="420624"/>
          </a:xfrm>
          <a:prstGeom prst="ellipse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77824" y="4133088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408176" y="4059936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Tap Focus and Focus Lock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4400" y="4590288"/>
            <a:ext cx="2091689" cy="133502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Tap Focus and Focus Lock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408426" y="3931920"/>
            <a:ext cx="2585465" cy="210312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3408426" y="3931920"/>
            <a:ext cx="82296" cy="2103120"/>
          </a:xfrm>
          <a:prstGeom prst="rect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3627882" y="4114800"/>
            <a:ext cx="420624" cy="420624"/>
          </a:xfrm>
          <a:prstGeom prst="ellipse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627882" y="4133088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158234" y="4059936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Exposure Compensation and AE Lock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664458" y="4590288"/>
            <a:ext cx="2091689" cy="133502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Exposure Compensation and AE Lock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158483" y="3931920"/>
            <a:ext cx="2585465" cy="210312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158483" y="3931920"/>
            <a:ext cx="82296" cy="2103120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6377940" y="4114800"/>
            <a:ext cx="420624" cy="420624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377940" y="4133088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908292" y="4059936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White Balance and Colour Temperature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14516" y="4590288"/>
            <a:ext cx="2091689" cy="133502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White Balance and Colour Temperature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908542" y="3931920"/>
            <a:ext cx="2585465" cy="210312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8908542" y="3931920"/>
            <a:ext cx="82296" cy="2103120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9127998" y="4114800"/>
            <a:ext cx="420624" cy="420624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127998" y="4133088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658350" y="4059936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HDR and Dynamic Range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164574" y="4590288"/>
            <a:ext cx="2091689" cy="133502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HDR and Dynamic Range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58368" y="6318504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58368" y="6382512"/>
            <a:ext cx="484632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Master Mobile Photography · TGS-2026064718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657600" y="6382512"/>
            <a:ext cx="50292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698480" y="6382512"/>
            <a:ext cx="73152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48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1083564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6D3FD2"/>
                </a:solidFill>
                <a:latin typeface="Arial"/>
              </a:rPr>
              <a:t>K3 · K8 · A3 · A4 · A6 · PART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835640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Topic 02 Roadmap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664208"/>
            <a:ext cx="3502152" cy="1347216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664208"/>
            <a:ext cx="82296" cy="1347216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847088"/>
            <a:ext cx="420624" cy="420624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865376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792224"/>
            <a:ext cx="260604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Optical vs Digital Zoom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322576"/>
            <a:ext cx="3008376" cy="5791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Optical vs Digital Zoom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25112" y="1664208"/>
            <a:ext cx="3502152" cy="1347216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25112" y="1664208"/>
            <a:ext cx="82296" cy="1347216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544568" y="1847088"/>
            <a:ext cx="420624" cy="420624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44568" y="1865376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74920" y="1792224"/>
            <a:ext cx="260604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Perspective and Compression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81144" y="2322576"/>
            <a:ext cx="3008376" cy="5791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Perspective and Compression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991856" y="1664208"/>
            <a:ext cx="3502152" cy="1347216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991856" y="1664208"/>
            <a:ext cx="82296" cy="1347216"/>
          </a:xfrm>
          <a:prstGeom prst="rect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211312" y="1847088"/>
            <a:ext cx="420624" cy="420624"/>
          </a:xfrm>
          <a:prstGeom prst="ellipse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11312" y="1865376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41664" y="1792224"/>
            <a:ext cx="260604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Read the Direction of Light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47888" y="2322576"/>
            <a:ext cx="3008376" cy="5791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Read the Direction of Light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8368" y="3176016"/>
            <a:ext cx="3502152" cy="1347216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58368" y="3176016"/>
            <a:ext cx="82296" cy="1347216"/>
          </a:xfrm>
          <a:prstGeom prst="rect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77824" y="3358896"/>
            <a:ext cx="420624" cy="420624"/>
          </a:xfrm>
          <a:prstGeom prst="ellipse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77824" y="3377184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08176" y="3304032"/>
            <a:ext cx="260604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Soft, Hard and Available Light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3834384"/>
            <a:ext cx="3008376" cy="5791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Soft, Hard and Available Light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25112" y="3176016"/>
            <a:ext cx="3502152" cy="1347216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325112" y="3176016"/>
            <a:ext cx="82296" cy="1347216"/>
          </a:xfrm>
          <a:prstGeom prst="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4544568" y="3358896"/>
            <a:ext cx="420624" cy="420624"/>
          </a:xfrm>
          <a:prstGeom prst="ellipse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44568" y="3377184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74920" y="3304032"/>
            <a:ext cx="260604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Golden Hour, Blue Hour and Midday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81144" y="3834384"/>
            <a:ext cx="3008376" cy="5791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Golden Hour, Blue Hour and Midday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991856" y="3176016"/>
            <a:ext cx="3502152" cy="1347216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991856" y="3176016"/>
            <a:ext cx="82296" cy="1347216"/>
          </a:xfrm>
          <a:prstGeom prst="rect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8211312" y="3358896"/>
            <a:ext cx="420624" cy="420624"/>
          </a:xfrm>
          <a:prstGeom prst="ellipse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211312" y="3377184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741664" y="3304032"/>
            <a:ext cx="260604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Night and Low-Light Strategy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47888" y="3834384"/>
            <a:ext cx="3008376" cy="5791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Night and Low-Light Strategy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58368" y="4687824"/>
            <a:ext cx="3502152" cy="1347216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58368" y="4687824"/>
            <a:ext cx="82296" cy="1347216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877824" y="4870704"/>
            <a:ext cx="420624" cy="420624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77824" y="4888992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408176" y="4815840"/>
            <a:ext cx="260604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Burst, Panorama and Portrait Modes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14400" y="5346192"/>
            <a:ext cx="3008376" cy="5791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Burst, Panorama and Portrait Modes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4325112" y="4687824"/>
            <a:ext cx="3502152" cy="1347216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4325112" y="4687824"/>
            <a:ext cx="82296" cy="1347216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4544568" y="4870704"/>
            <a:ext cx="420624" cy="420624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544568" y="4888992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074920" y="4815840"/>
            <a:ext cx="260604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Flash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581144" y="5346192"/>
            <a:ext cx="3008376" cy="5791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Use with Intent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7991856" y="4687824"/>
            <a:ext cx="3502152" cy="1347216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7991856" y="4687824"/>
            <a:ext cx="82296" cy="1347216"/>
          </a:xfrm>
          <a:prstGeom prst="rect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8211312" y="4870704"/>
            <a:ext cx="420624" cy="420624"/>
          </a:xfrm>
          <a:prstGeom prst="ellipse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211312" y="4888992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9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741664" y="4815840"/>
            <a:ext cx="260604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A Clean Capture Routine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247888" y="5346192"/>
            <a:ext cx="3008376" cy="5791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A Clean Capture Routine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58368" y="6318504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58368" y="6382512"/>
            <a:ext cx="484632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Master Mobile Photography · TGS-2026064718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657600" y="6382512"/>
            <a:ext cx="50292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0698480" y="6382512"/>
            <a:ext cx="73152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49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1083564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6D3FD2"/>
                </a:solidFill>
                <a:latin typeface="Arial"/>
              </a:rPr>
              <a:t>TOPIC 02 · K3 · K8 · A3 · A4 · A6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835640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Exposure Is a Creative Choice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664208"/>
            <a:ext cx="2585465" cy="43708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664208"/>
            <a:ext cx="82296" cy="4370832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847088"/>
            <a:ext cx="420624" cy="420624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865376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792224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Protect important highlight detail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322576"/>
            <a:ext cx="2091689" cy="3602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Protect important highlight detail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08426" y="1664208"/>
            <a:ext cx="2585465" cy="43708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408426" y="1664208"/>
            <a:ext cx="82296" cy="4370832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627882" y="1847088"/>
            <a:ext cx="420624" cy="420624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27882" y="1865376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58234" y="1792224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Keep the subject bright enough to read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64458" y="2322576"/>
            <a:ext cx="2091689" cy="3602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Keep the subject bright enough to read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58483" y="1664208"/>
            <a:ext cx="2585465" cy="43708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58483" y="1664208"/>
            <a:ext cx="82296" cy="4370832"/>
          </a:xfrm>
          <a:prstGeom prst="rect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377940" y="1847088"/>
            <a:ext cx="420624" cy="420624"/>
          </a:xfrm>
          <a:prstGeom prst="ellipse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77940" y="1865376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08292" y="1792224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Accept or suppress shadow detail deliberately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14516" y="2322576"/>
            <a:ext cx="2091689" cy="3602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Accept or suppress shadow detail deliberately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908542" y="1664208"/>
            <a:ext cx="2585465" cy="43708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908542" y="1664208"/>
            <a:ext cx="82296" cy="4370832"/>
          </a:xfrm>
          <a:prstGeom prst="rect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127998" y="1847088"/>
            <a:ext cx="420624" cy="420624"/>
          </a:xfrm>
          <a:prstGeom prst="ellipse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27998" y="1865376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58350" y="1792224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Use brightness to support mood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64574" y="2322576"/>
            <a:ext cx="2091689" cy="3602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Use brightness to support mood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58368" y="6318504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8368" y="6382512"/>
            <a:ext cx="484632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Master Mobile Photography · TGS-2026064718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0" y="6382512"/>
            <a:ext cx="50292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698480" y="6382512"/>
            <a:ext cx="73152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50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1083564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6D3FD2"/>
                </a:solidFill>
                <a:latin typeface="Arial"/>
              </a:rPr>
              <a:t>TOPIC 02 · K3 · K8 · A3 · A4 · A6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835640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The Exposure Triangle—Adapted for Phones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664208"/>
            <a:ext cx="2585465" cy="43708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664208"/>
            <a:ext cx="82296" cy="4370832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847088"/>
            <a:ext cx="420624" cy="420624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865376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792224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Shutter time controls motion and incoming light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322576"/>
            <a:ext cx="2091689" cy="3602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Shutter time controls motion and incoming light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08426" y="1664208"/>
            <a:ext cx="2585465" cy="43708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408426" y="1664208"/>
            <a:ext cx="82296" cy="4370832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627882" y="1847088"/>
            <a:ext cx="420624" cy="420624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27882" y="1865376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58234" y="1792224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ISO amplifies the sensor signal and noise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64458" y="2322576"/>
            <a:ext cx="2091689" cy="3602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ISO amplifies the sensor signal and noise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58483" y="1664208"/>
            <a:ext cx="2585465" cy="43708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58483" y="1664208"/>
            <a:ext cx="82296" cy="4370832"/>
          </a:xfrm>
          <a:prstGeom prst="rect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377940" y="1847088"/>
            <a:ext cx="420624" cy="420624"/>
          </a:xfrm>
          <a:prstGeom prst="ellipse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77940" y="1865376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08292" y="1792224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Aperture is normally fixed on the phone module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14516" y="2322576"/>
            <a:ext cx="2091689" cy="3602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Aperture is normally fixed on the phone module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908542" y="1664208"/>
            <a:ext cx="2585465" cy="43708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908542" y="1664208"/>
            <a:ext cx="82296" cy="4370832"/>
          </a:xfrm>
          <a:prstGeom prst="rect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127998" y="1847088"/>
            <a:ext cx="420624" cy="420624"/>
          </a:xfrm>
          <a:prstGeom prst="ellipse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27998" y="1865376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58350" y="1792224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Automation and multi-frame processing share the workload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64574" y="2322576"/>
            <a:ext cx="2091689" cy="3602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Automation and multi-frame processing share the workload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58368" y="6318504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8368" y="6382512"/>
            <a:ext cx="484632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Master Mobile Photography · TGS-2026064718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0" y="6382512"/>
            <a:ext cx="50292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698480" y="6382512"/>
            <a:ext cx="73152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51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1083564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6D3FD2"/>
                </a:solidFill>
                <a:latin typeface="Arial"/>
              </a:rPr>
              <a:t>TOPIC 02 · K3 · K8 · A3 · A4 · A6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835640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Shutter Time and Motion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664208"/>
            <a:ext cx="2585465" cy="43708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664208"/>
            <a:ext cx="82296" cy="4370832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847088"/>
            <a:ext cx="420624" cy="420624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865376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792224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Fast capture freezes action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322576"/>
            <a:ext cx="2091689" cy="3602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Fast capture freezes action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08426" y="1664208"/>
            <a:ext cx="2585465" cy="43708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408426" y="1664208"/>
            <a:ext cx="82296" cy="4370832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627882" y="1847088"/>
            <a:ext cx="420624" cy="420624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27882" y="1865376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58234" y="1792224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Slow capture records motion as blur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64458" y="2322576"/>
            <a:ext cx="2091689" cy="3602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Slow capture records motion as blur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58483" y="1664208"/>
            <a:ext cx="2585465" cy="43708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58483" y="1664208"/>
            <a:ext cx="82296" cy="4370832"/>
          </a:xfrm>
          <a:prstGeom prst="rect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377940" y="1847088"/>
            <a:ext cx="420624" cy="420624"/>
          </a:xfrm>
          <a:prstGeom prst="ellipse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77940" y="1865376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08292" y="1792224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Panning follows a moving subject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14516" y="2322576"/>
            <a:ext cx="2091689" cy="3602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Panning follows a moving subject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908542" y="1664208"/>
            <a:ext cx="2585465" cy="43708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908542" y="1664208"/>
            <a:ext cx="82296" cy="4370832"/>
          </a:xfrm>
          <a:prstGeom prst="rect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127998" y="1847088"/>
            <a:ext cx="420624" cy="420624"/>
          </a:xfrm>
          <a:prstGeom prst="ellipse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27998" y="1865376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58350" y="1792224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Long exposure needs stability and a controlled scene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64574" y="2322576"/>
            <a:ext cx="2091689" cy="3602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Long exposure needs stability and a controlled scene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58368" y="6318504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8368" y="6382512"/>
            <a:ext cx="484632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Master Mobile Photography · TGS-2026064718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0" y="6382512"/>
            <a:ext cx="50292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698480" y="6382512"/>
            <a:ext cx="73152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52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1083564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6D3FD2"/>
                </a:solidFill>
                <a:latin typeface="Arial"/>
              </a:rPr>
              <a:t>TOPIC 02 · K3 · K8 · A3 · A4 · A6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835640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ISO and Image Quality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664208"/>
            <a:ext cx="2585465" cy="43708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664208"/>
            <a:ext cx="82296" cy="4370832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847088"/>
            <a:ext cx="420624" cy="420624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865376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792224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Low ISO generally gives cleaner detail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322576"/>
            <a:ext cx="2091689" cy="3602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Low ISO generally gives cleaner detail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08426" y="1664208"/>
            <a:ext cx="2585465" cy="43708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408426" y="1664208"/>
            <a:ext cx="82296" cy="4370832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627882" y="1847088"/>
            <a:ext cx="420624" cy="420624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27882" y="1865376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58234" y="1792224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Higher ISO helps in low light but adds noise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64458" y="2322576"/>
            <a:ext cx="2091689" cy="3602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Higher ISO helps in low light but adds noise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58483" y="1664208"/>
            <a:ext cx="2585465" cy="43708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58483" y="1664208"/>
            <a:ext cx="82296" cy="4370832"/>
          </a:xfrm>
          <a:prstGeom prst="rect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377940" y="1847088"/>
            <a:ext cx="420624" cy="420624"/>
          </a:xfrm>
          <a:prstGeom prst="ellipse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77940" y="1865376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08292" y="1792224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Stabilise before raising ISO unnecessarily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14516" y="2322576"/>
            <a:ext cx="2091689" cy="3602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Stabilise before raising ISO unnecessarily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908542" y="1664208"/>
            <a:ext cx="2585465" cy="43708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908542" y="1664208"/>
            <a:ext cx="82296" cy="4370832"/>
          </a:xfrm>
          <a:prstGeom prst="rect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127998" y="1847088"/>
            <a:ext cx="420624" cy="420624"/>
          </a:xfrm>
          <a:prstGeom prst="ellipse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27998" y="1865376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58350" y="1792224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Judge the result at useful viewing size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64574" y="2322576"/>
            <a:ext cx="2091689" cy="3602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Judge the result at useful viewing size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58368" y="6318504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8368" y="6382512"/>
            <a:ext cx="484632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Master Mobile Photography · TGS-2026064718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0" y="6382512"/>
            <a:ext cx="50292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698480" y="6382512"/>
            <a:ext cx="73152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53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1083564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6D3FD2"/>
                </a:solidFill>
                <a:latin typeface="Arial"/>
              </a:rPr>
              <a:t>TOPIC 02 · K3 · K8 · A3 · A4 · A6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835640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Tap Focus and Focus Lock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664208"/>
            <a:ext cx="2585465" cy="43708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664208"/>
            <a:ext cx="82296" cy="4370832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847088"/>
            <a:ext cx="420624" cy="420624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865376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792224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Place focus on the intended subject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322576"/>
            <a:ext cx="2091689" cy="3602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Place focus on the intended subject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08426" y="1664208"/>
            <a:ext cx="2585465" cy="43708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408426" y="1664208"/>
            <a:ext cx="82296" cy="4370832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627882" y="1847088"/>
            <a:ext cx="420624" cy="420624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27882" y="1865376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58234" y="1792224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Check eyes for portraits and detail for products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64458" y="2322576"/>
            <a:ext cx="2091689" cy="3602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Check eyes for portraits and detail for products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58483" y="1664208"/>
            <a:ext cx="2585465" cy="43708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58483" y="1664208"/>
            <a:ext cx="82296" cy="4370832"/>
          </a:xfrm>
          <a:prstGeom prst="rect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377940" y="1847088"/>
            <a:ext cx="420624" cy="420624"/>
          </a:xfrm>
          <a:prstGeom prst="ellipse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77940" y="1865376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08292" y="1792224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Lock focus when recomposing or waiting for action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14516" y="2322576"/>
            <a:ext cx="2091689" cy="3602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Lock focus when recomposing or waiting for action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908542" y="1664208"/>
            <a:ext cx="2585465" cy="43708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908542" y="1664208"/>
            <a:ext cx="82296" cy="4370832"/>
          </a:xfrm>
          <a:prstGeom prst="rect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127998" y="1847088"/>
            <a:ext cx="420624" cy="420624"/>
          </a:xfrm>
          <a:prstGeom prst="ellipse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27998" y="1865376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58350" y="1792224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Re-focus if subject distance changes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64574" y="2322576"/>
            <a:ext cx="2091689" cy="3602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Re-focus if subject distance changes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58368" y="6318504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8368" y="6382512"/>
            <a:ext cx="484632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Master Mobile Photography · TGS-2026064718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0" y="6382512"/>
            <a:ext cx="50292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698480" y="6382512"/>
            <a:ext cx="73152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54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1083564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6D3FD2"/>
                </a:solidFill>
                <a:latin typeface="Arial"/>
              </a:rPr>
              <a:t>TOPIC 02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835640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Exposure Compensation and AE Lock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77240" y="2148840"/>
            <a:ext cx="2425446" cy="288036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48840"/>
            <a:ext cx="2425446" cy="91440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615059" y="2532888"/>
            <a:ext cx="749808" cy="749808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15059" y="2660904"/>
            <a:ext cx="749808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3544" y="3584448"/>
            <a:ext cx="2132838" cy="11887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Tap the subject or priority tone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2686" y="3337560"/>
            <a:ext cx="310896" cy="4572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6D3FD2"/>
                </a:solidFill>
                <a:latin typeface="Arial"/>
              </a:rPr>
              <a:t>▶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513582" y="2148840"/>
            <a:ext cx="2425446" cy="288036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513582" y="2148840"/>
            <a:ext cx="2425446" cy="91440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351401" y="2532888"/>
            <a:ext cx="749808" cy="749808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51401" y="2660904"/>
            <a:ext cx="749808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9886" y="3584448"/>
            <a:ext cx="2132838" cy="11887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Move the brightness control up or down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39028" y="3337560"/>
            <a:ext cx="310896" cy="4572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6D3FD2"/>
                </a:solidFill>
                <a:latin typeface="Arial"/>
              </a:rPr>
              <a:t>▶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49924" y="2148840"/>
            <a:ext cx="2425446" cy="288036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49924" y="2148840"/>
            <a:ext cx="2425446" cy="91440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087743" y="2532888"/>
            <a:ext cx="749808" cy="749808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087743" y="2660904"/>
            <a:ext cx="749808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96228" y="3584448"/>
            <a:ext cx="2132838" cy="11887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Lock exposure for a consistent sequence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75370" y="3337560"/>
            <a:ext cx="310896" cy="4572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6D3FD2"/>
                </a:solidFill>
                <a:latin typeface="Arial"/>
              </a:rPr>
              <a:t>▶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986266" y="2148840"/>
            <a:ext cx="2425446" cy="288036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986266" y="2148840"/>
            <a:ext cx="2425446" cy="91440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824085" y="2532888"/>
            <a:ext cx="749808" cy="749808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824085" y="2660904"/>
            <a:ext cx="749808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32570" y="3584448"/>
            <a:ext cx="2132838" cy="11887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Review highlights and re-adjust before capture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58368" y="6318504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8368" y="6382512"/>
            <a:ext cx="484632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Master Mobile Photography · TGS-2026064718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0" y="6382512"/>
            <a:ext cx="50292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698480" y="6382512"/>
            <a:ext cx="73152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55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1083564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6D3FD2"/>
                </a:solidFill>
                <a:latin typeface="Arial"/>
              </a:rPr>
              <a:t>TOPIC 02 · K3 · K8 · A3 · A4 · A6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835640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White Balance and Colour Temperature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664208"/>
            <a:ext cx="2585465" cy="43708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664208"/>
            <a:ext cx="82296" cy="4370832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847088"/>
            <a:ext cx="420624" cy="420624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865376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792224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Warm light shifts toward amber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322576"/>
            <a:ext cx="2091689" cy="3602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Warm light shifts toward amber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08426" y="1664208"/>
            <a:ext cx="2585465" cy="43708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408426" y="1664208"/>
            <a:ext cx="82296" cy="4370832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627882" y="1847088"/>
            <a:ext cx="420624" cy="420624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27882" y="1865376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58234" y="1792224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Cool light shifts toward blue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64458" y="2322576"/>
            <a:ext cx="2091689" cy="3602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Cool light shifts toward blue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58483" y="1664208"/>
            <a:ext cx="2585465" cy="43708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58483" y="1664208"/>
            <a:ext cx="82296" cy="4370832"/>
          </a:xfrm>
          <a:prstGeom prst="rect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377940" y="1847088"/>
            <a:ext cx="420624" cy="420624"/>
          </a:xfrm>
          <a:prstGeom prst="ellipse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77940" y="1865376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08292" y="1792224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Auto white balance may change between frames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14516" y="2322576"/>
            <a:ext cx="2091689" cy="3602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Auto white balance may change between frames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908542" y="1664208"/>
            <a:ext cx="2585465" cy="43708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908542" y="1664208"/>
            <a:ext cx="82296" cy="4370832"/>
          </a:xfrm>
          <a:prstGeom prst="rect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127998" y="1847088"/>
            <a:ext cx="420624" cy="420624"/>
          </a:xfrm>
          <a:prstGeom prst="ellipse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27998" y="1865376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58350" y="1792224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Set a preset or manual value for consistency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64574" y="2322576"/>
            <a:ext cx="2091689" cy="3602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Set a preset or manual value for consistency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58368" y="6318504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8368" y="6382512"/>
            <a:ext cx="484632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Master Mobile Photography · TGS-2026064718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0" y="6382512"/>
            <a:ext cx="50292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698480" y="6382512"/>
            <a:ext cx="73152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56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1083564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6D3FD2"/>
                </a:solidFill>
                <a:latin typeface="Arial"/>
              </a:rPr>
              <a:t>TOPIC 02 · K3 · K8 · A3 · A4 · A6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835640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HDR and Dynamic Range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664208"/>
            <a:ext cx="2585465" cy="43708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664208"/>
            <a:ext cx="82296" cy="4370832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847088"/>
            <a:ext cx="420624" cy="420624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865376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792224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High-contrast scenes exceed one exposure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322576"/>
            <a:ext cx="2091689" cy="3602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High-contrast scenes exceed one exposure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08426" y="1664208"/>
            <a:ext cx="2585465" cy="43708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408426" y="1664208"/>
            <a:ext cx="82296" cy="4370832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627882" y="1847088"/>
            <a:ext cx="420624" cy="420624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27882" y="1865376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58234" y="1792224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HDR blends frames for shadow and highlight detail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64458" y="2322576"/>
            <a:ext cx="2091689" cy="3602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HDR blends frames for shadow and highlight detail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58483" y="1664208"/>
            <a:ext cx="2585465" cy="43708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58483" y="1664208"/>
            <a:ext cx="82296" cy="4370832"/>
          </a:xfrm>
          <a:prstGeom prst="rect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377940" y="1847088"/>
            <a:ext cx="420624" cy="420624"/>
          </a:xfrm>
          <a:prstGeom prst="ellipse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77940" y="1865376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08292" y="1792224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Movement can cause ghosting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14516" y="2322576"/>
            <a:ext cx="2091689" cy="3602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Movement can cause ghosting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908542" y="1664208"/>
            <a:ext cx="2585465" cy="43708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908542" y="1664208"/>
            <a:ext cx="82296" cy="4370832"/>
          </a:xfrm>
          <a:prstGeom prst="rect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127998" y="1847088"/>
            <a:ext cx="420624" cy="420624"/>
          </a:xfrm>
          <a:prstGeom prst="ellipse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27998" y="1865376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58350" y="1792224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Keep the phone steady and inspect edges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64574" y="2322576"/>
            <a:ext cx="2091689" cy="3602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Keep the phone steady and inspect edges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58368" y="6318504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8368" y="6382512"/>
            <a:ext cx="484632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Master Mobile Photography · TGS-2026064718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0" y="6382512"/>
            <a:ext cx="50292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698480" y="6382512"/>
            <a:ext cx="73152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57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1083564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6D3FD2"/>
                </a:solidFill>
                <a:latin typeface="Arial"/>
              </a:rPr>
              <a:t>TOPIC 02 · K3 · K8 · A3 · A4 · A6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835640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Optical vs Digital Zoom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664208"/>
            <a:ext cx="2585465" cy="43708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664208"/>
            <a:ext cx="82296" cy="4370832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847088"/>
            <a:ext cx="420624" cy="420624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865376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792224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Optical steps use another physical camera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322576"/>
            <a:ext cx="2091689" cy="3602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Optical steps use another physical camera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08426" y="1664208"/>
            <a:ext cx="2585465" cy="43708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408426" y="1664208"/>
            <a:ext cx="82296" cy="4370832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627882" y="1847088"/>
            <a:ext cx="420624" cy="420624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27882" y="1865376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58234" y="1792224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Digital zoom crops and enlarges pixels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64458" y="2322576"/>
            <a:ext cx="2091689" cy="3602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Digital zoom crops and enlarges pixels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58483" y="1664208"/>
            <a:ext cx="2585465" cy="43708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58483" y="1664208"/>
            <a:ext cx="82296" cy="4370832"/>
          </a:xfrm>
          <a:prstGeom prst="rect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377940" y="1847088"/>
            <a:ext cx="420624" cy="420624"/>
          </a:xfrm>
          <a:prstGeom prst="ellipse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77940" y="1865376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08292" y="1792224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Move closer when it is safe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14516" y="2322576"/>
            <a:ext cx="2091689" cy="3602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Move closer when it is safe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908542" y="1664208"/>
            <a:ext cx="2585465" cy="43708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908542" y="1664208"/>
            <a:ext cx="82296" cy="4370832"/>
          </a:xfrm>
          <a:prstGeom prst="rect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127998" y="1847088"/>
            <a:ext cx="420624" cy="420624"/>
          </a:xfrm>
          <a:prstGeom prst="ellipse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27998" y="1865376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58350" y="1792224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Crop later when composition allows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64574" y="2322576"/>
            <a:ext cx="2091689" cy="3602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Crop later when composition allows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58368" y="6318504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8368" y="6382512"/>
            <a:ext cx="484632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Master Mobile Photography · TGS-2026064718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0" y="6382512"/>
            <a:ext cx="50292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698480" y="6382512"/>
            <a:ext cx="73152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58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1083564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6D3FD2"/>
                </a:solidFill>
                <a:latin typeface="Arial"/>
              </a:rPr>
              <a:t>TOPIC 02 · K3 · K8 · A3 · A4 · A6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835640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Perspective and Compression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664208"/>
            <a:ext cx="2585465" cy="43708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664208"/>
            <a:ext cx="82296" cy="4370832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847088"/>
            <a:ext cx="420624" cy="420624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865376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792224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Camera position controls perspective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322576"/>
            <a:ext cx="2091689" cy="3602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Camera position controls perspective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08426" y="1664208"/>
            <a:ext cx="2585465" cy="43708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408426" y="1664208"/>
            <a:ext cx="82296" cy="4370832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627882" y="1847088"/>
            <a:ext cx="420624" cy="420624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27882" y="1865376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58234" y="1792224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Close wide-angle views exaggerate near objects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64458" y="2322576"/>
            <a:ext cx="2091689" cy="3602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Close wide-angle views exaggerate near objects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58483" y="1664208"/>
            <a:ext cx="2585465" cy="43708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58483" y="1664208"/>
            <a:ext cx="82296" cy="4370832"/>
          </a:xfrm>
          <a:prstGeom prst="rect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377940" y="1847088"/>
            <a:ext cx="420624" cy="420624"/>
          </a:xfrm>
          <a:prstGeom prst="ellipse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77940" y="1865376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08292" y="1792224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Farther tele views appear more compressed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14516" y="2322576"/>
            <a:ext cx="2091689" cy="3602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Farther tele views appear more compressed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908542" y="1664208"/>
            <a:ext cx="2585465" cy="43708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908542" y="1664208"/>
            <a:ext cx="82296" cy="4370832"/>
          </a:xfrm>
          <a:prstGeom prst="rect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127998" y="1847088"/>
            <a:ext cx="420624" cy="420624"/>
          </a:xfrm>
          <a:prstGeom prst="ellipse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27998" y="1865376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58350" y="1792224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Choose position first, then lens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64574" y="2322576"/>
            <a:ext cx="2091689" cy="3602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Choose position first, then lens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58368" y="6318504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8368" y="6382512"/>
            <a:ext cx="484632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Master Mobile Photography · TGS-2026064718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0" y="6382512"/>
            <a:ext cx="50292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698480" y="6382512"/>
            <a:ext cx="73152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59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1083564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6D3FD2"/>
                </a:solidFill>
                <a:latin typeface="Arial"/>
              </a:rPr>
              <a:t>TOPIC 02 · K3 · K8 · A3 · A4 · A6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835640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Read the Direction of Light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664208"/>
            <a:ext cx="2585465" cy="43708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664208"/>
            <a:ext cx="82296" cy="4370832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847088"/>
            <a:ext cx="420624" cy="420624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865376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792224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Front light reveals detail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322576"/>
            <a:ext cx="2091689" cy="3602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Front light reveals detail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08426" y="1664208"/>
            <a:ext cx="2585465" cy="43708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408426" y="1664208"/>
            <a:ext cx="82296" cy="4370832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627882" y="1847088"/>
            <a:ext cx="420624" cy="420624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27882" y="1865376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58234" y="1792224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Side light models form and texture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64458" y="2322576"/>
            <a:ext cx="2091689" cy="3602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Side light models form and texture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58483" y="1664208"/>
            <a:ext cx="2585465" cy="43708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58483" y="1664208"/>
            <a:ext cx="82296" cy="4370832"/>
          </a:xfrm>
          <a:prstGeom prst="rect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377940" y="1847088"/>
            <a:ext cx="420624" cy="420624"/>
          </a:xfrm>
          <a:prstGeom prst="ellipse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77940" y="1865376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08292" y="1792224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Backlight creates rim light or silhouette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14516" y="2322576"/>
            <a:ext cx="2091689" cy="3602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Backlight creates rim light or silhouette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908542" y="1664208"/>
            <a:ext cx="2585465" cy="43708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908542" y="1664208"/>
            <a:ext cx="82296" cy="4370832"/>
          </a:xfrm>
          <a:prstGeom prst="rect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127998" y="1847088"/>
            <a:ext cx="420624" cy="420624"/>
          </a:xfrm>
          <a:prstGeom prst="ellipse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27998" y="1865376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58350" y="1792224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Top light can deepen eye and nose shadows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64574" y="2322576"/>
            <a:ext cx="2091689" cy="3602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Top light can deepen eye and nose shadows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58368" y="6318504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8368" y="6382512"/>
            <a:ext cx="484632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Master Mobile Photography · TGS-2026064718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0" y="6382512"/>
            <a:ext cx="50292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698480" y="6382512"/>
            <a:ext cx="73152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60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1083564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6D3FD2"/>
                </a:solidFill>
                <a:latin typeface="Arial"/>
              </a:rPr>
              <a:t>TOPIC 02 · K3 · K8 · A3 · A4 · A6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835640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Soft, Hard and Available Light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664208"/>
            <a:ext cx="2585465" cy="43708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664208"/>
            <a:ext cx="82296" cy="4370832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847088"/>
            <a:ext cx="420624" cy="420624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865376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792224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Large close sources create softer transitions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322576"/>
            <a:ext cx="2091689" cy="3602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Large close sources create softer transitions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08426" y="1664208"/>
            <a:ext cx="2585465" cy="43708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408426" y="1664208"/>
            <a:ext cx="82296" cy="4370832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627882" y="1847088"/>
            <a:ext cx="420624" cy="420624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27882" y="1865376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58234" y="1792224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Small or distant sources make hard edges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64458" y="2322576"/>
            <a:ext cx="2091689" cy="3602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Small or distant sources make hard edges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58483" y="1664208"/>
            <a:ext cx="2585465" cy="43708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58483" y="1664208"/>
            <a:ext cx="82296" cy="4370832"/>
          </a:xfrm>
          <a:prstGeom prst="rect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377940" y="1847088"/>
            <a:ext cx="420624" cy="420624"/>
          </a:xfrm>
          <a:prstGeom prst="ellipse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77940" y="1865376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08292" y="1792224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Window light is an efficient soft source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14516" y="2322576"/>
            <a:ext cx="2091689" cy="3602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Window light is an efficient soft source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908542" y="1664208"/>
            <a:ext cx="2585465" cy="43708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908542" y="1664208"/>
            <a:ext cx="82296" cy="4370832"/>
          </a:xfrm>
          <a:prstGeom prst="rect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127998" y="1847088"/>
            <a:ext cx="420624" cy="420624"/>
          </a:xfrm>
          <a:prstGeom prst="ellipse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27998" y="1865376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58350" y="1792224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Use reflectors or white surfaces before flash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64574" y="2322576"/>
            <a:ext cx="2091689" cy="3602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Use reflectors or white surfaces before flash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58368" y="6318504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8368" y="6382512"/>
            <a:ext cx="484632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Master Mobile Photography · TGS-2026064718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0" y="6382512"/>
            <a:ext cx="50292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698480" y="6382512"/>
            <a:ext cx="73152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61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1083564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6D3FD2"/>
                </a:solidFill>
                <a:latin typeface="Arial"/>
              </a:rPr>
              <a:t>TOPIC 02 · K3 · K8 · A3 · A4 · A6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835640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Golden Hour, Blue Hour and Midday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664208"/>
            <a:ext cx="2585465" cy="43708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664208"/>
            <a:ext cx="82296" cy="4370832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847088"/>
            <a:ext cx="420624" cy="420624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865376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792224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Golden hour gives warm directional light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322576"/>
            <a:ext cx="2091689" cy="3602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Golden hour gives warm directional light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08426" y="1664208"/>
            <a:ext cx="2585465" cy="43708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408426" y="1664208"/>
            <a:ext cx="82296" cy="4370832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627882" y="1847088"/>
            <a:ext cx="420624" cy="420624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27882" y="1865376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58234" y="1792224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Blue hour balances sky and city lights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64458" y="2322576"/>
            <a:ext cx="2091689" cy="3602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Blue hour balances sky and city lights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58483" y="1664208"/>
            <a:ext cx="2585465" cy="43708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58483" y="1664208"/>
            <a:ext cx="82296" cy="4370832"/>
          </a:xfrm>
          <a:prstGeom prst="rect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377940" y="1847088"/>
            <a:ext cx="420624" cy="420624"/>
          </a:xfrm>
          <a:prstGeom prst="ellipse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77940" y="1865376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08292" y="1792224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Midday produces hard shadows and bright highlights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14516" y="2322576"/>
            <a:ext cx="2091689" cy="3602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Midday produces hard shadows and bright highlights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908542" y="1664208"/>
            <a:ext cx="2585465" cy="43708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908542" y="1664208"/>
            <a:ext cx="82296" cy="4370832"/>
          </a:xfrm>
          <a:prstGeom prst="rect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127998" y="1847088"/>
            <a:ext cx="420624" cy="420624"/>
          </a:xfrm>
          <a:prstGeom prst="ellipse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27998" y="1865376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58350" y="1792224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Match the time of day to the intended mood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64574" y="2322576"/>
            <a:ext cx="2091689" cy="3602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Match the time of day to the intended mood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58368" y="6318504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8368" y="6382512"/>
            <a:ext cx="484632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Master Mobile Photography · TGS-2026064718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0" y="6382512"/>
            <a:ext cx="50292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698480" y="6382512"/>
            <a:ext cx="73152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62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1083564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6D3FD2"/>
                </a:solidFill>
                <a:latin typeface="Arial"/>
              </a:rPr>
              <a:t>TOPIC 02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835640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Night and Low-Light Strategy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77240" y="2148840"/>
            <a:ext cx="2425446" cy="288036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48840"/>
            <a:ext cx="2425446" cy="91440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615059" y="2532888"/>
            <a:ext cx="749808" cy="749808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15059" y="2660904"/>
            <a:ext cx="749808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3544" y="3584448"/>
            <a:ext cx="2132838" cy="11887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Clean the lens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2686" y="3337560"/>
            <a:ext cx="310896" cy="4572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6D3FD2"/>
                </a:solidFill>
                <a:latin typeface="Arial"/>
              </a:rPr>
              <a:t>▶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513582" y="2148840"/>
            <a:ext cx="2425446" cy="288036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513582" y="2148840"/>
            <a:ext cx="2425446" cy="91440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351401" y="2532888"/>
            <a:ext cx="749808" cy="749808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51401" y="2660904"/>
            <a:ext cx="749808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9886" y="3584448"/>
            <a:ext cx="2132838" cy="11887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Use night mode or a stable support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39028" y="3337560"/>
            <a:ext cx="310896" cy="4572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6D3FD2"/>
                </a:solidFill>
                <a:latin typeface="Arial"/>
              </a:rPr>
              <a:t>▶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49924" y="2148840"/>
            <a:ext cx="2425446" cy="288036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49924" y="2148840"/>
            <a:ext cx="2425446" cy="91440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087743" y="2532888"/>
            <a:ext cx="749808" cy="749808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087743" y="2660904"/>
            <a:ext cx="749808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96228" y="3584448"/>
            <a:ext cx="2132838" cy="11887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Lower exposure to protect bright lamps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75370" y="3337560"/>
            <a:ext cx="310896" cy="4572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6D3FD2"/>
                </a:solidFill>
                <a:latin typeface="Arial"/>
              </a:rPr>
              <a:t>▶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986266" y="2148840"/>
            <a:ext cx="2425446" cy="288036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986266" y="2148840"/>
            <a:ext cx="2425446" cy="91440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824085" y="2532888"/>
            <a:ext cx="749808" cy="749808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824085" y="2660904"/>
            <a:ext cx="749808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32570" y="3584448"/>
            <a:ext cx="2132838" cy="11887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Use available light and expect some texture/noise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58368" y="6318504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8368" y="6382512"/>
            <a:ext cx="484632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Master Mobile Photography · TGS-2026064718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0" y="6382512"/>
            <a:ext cx="50292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698480" y="6382512"/>
            <a:ext cx="73152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63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1083564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6D3FD2"/>
                </a:solidFill>
                <a:latin typeface="Arial"/>
              </a:rPr>
              <a:t>TOPIC 02 · K3 · K8 · A3 · A4 · A6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835640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Burst, Panorama and Portrait Modes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664208"/>
            <a:ext cx="2585465" cy="43708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664208"/>
            <a:ext cx="82296" cy="4370832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847088"/>
            <a:ext cx="420624" cy="420624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865376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792224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Burst improves timing for action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322576"/>
            <a:ext cx="2091689" cy="3602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Burst improves timing for action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08426" y="1664208"/>
            <a:ext cx="2585465" cy="43708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408426" y="1664208"/>
            <a:ext cx="82296" cy="4370832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627882" y="1847088"/>
            <a:ext cx="420624" cy="420624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27882" y="1865376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58234" y="1792224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Panorama stitches a controlled sweep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64458" y="2322576"/>
            <a:ext cx="2091689" cy="3602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Panorama stitches a controlled sweep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58483" y="1664208"/>
            <a:ext cx="2585465" cy="43708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58483" y="1664208"/>
            <a:ext cx="82296" cy="4370832"/>
          </a:xfrm>
          <a:prstGeom prst="rect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377940" y="1847088"/>
            <a:ext cx="420624" cy="420624"/>
          </a:xfrm>
          <a:prstGeom prst="ellipse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77940" y="1865376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08292" y="1792224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Portrait mode estimates subject separation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14516" y="2322576"/>
            <a:ext cx="2091689" cy="3602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Portrait mode estimates subject separation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908542" y="1664208"/>
            <a:ext cx="2585465" cy="43708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908542" y="1664208"/>
            <a:ext cx="82296" cy="4370832"/>
          </a:xfrm>
          <a:prstGeom prst="rect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127998" y="1847088"/>
            <a:ext cx="420624" cy="420624"/>
          </a:xfrm>
          <a:prstGeom prst="ellipse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27998" y="1865376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58350" y="1792224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Review seams, edges and depth errors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64574" y="2322576"/>
            <a:ext cx="2091689" cy="3602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Review seams, edges and depth errors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58368" y="6318504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8368" y="6382512"/>
            <a:ext cx="484632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Master Mobile Photography · TGS-2026064718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0" y="6382512"/>
            <a:ext cx="50292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698480" y="6382512"/>
            <a:ext cx="73152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64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1083564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6D3FD2"/>
                </a:solidFill>
                <a:latin typeface="Arial"/>
              </a:rPr>
              <a:t>TOPIC 02 · K3 · K8 · A3 · A4 · A6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835640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Flash: Use with Intent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664208"/>
            <a:ext cx="2585465" cy="43708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664208"/>
            <a:ext cx="82296" cy="4370832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847088"/>
            <a:ext cx="420624" cy="420624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865376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792224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On-phone flash is small and near the lens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322576"/>
            <a:ext cx="2091689" cy="3602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On-phone flash is small and near the lens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08426" y="1664208"/>
            <a:ext cx="2585465" cy="43708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408426" y="1664208"/>
            <a:ext cx="82296" cy="4370832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627882" y="1847088"/>
            <a:ext cx="420624" cy="420624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27882" y="1865376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58234" y="1792224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It can flatten faces and create hard reflections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64458" y="2322576"/>
            <a:ext cx="2091689" cy="3602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It can flatten faces and create hard reflections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58483" y="1664208"/>
            <a:ext cx="2585465" cy="43708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58483" y="1664208"/>
            <a:ext cx="82296" cy="4370832"/>
          </a:xfrm>
          <a:prstGeom prst="rect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377940" y="1847088"/>
            <a:ext cx="420624" cy="420624"/>
          </a:xfrm>
          <a:prstGeom prst="ellipse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77940" y="1865376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08292" y="1792224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Prefer window, ambient or off-axis LED light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14516" y="2322576"/>
            <a:ext cx="2091689" cy="3602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Prefer window, ambient or off-axis LED light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908542" y="1664208"/>
            <a:ext cx="2585465" cy="43708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908542" y="1664208"/>
            <a:ext cx="82296" cy="4370832"/>
          </a:xfrm>
          <a:prstGeom prst="rect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127998" y="1847088"/>
            <a:ext cx="420624" cy="420624"/>
          </a:xfrm>
          <a:prstGeom prst="ellipse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27998" y="1865376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58350" y="1792224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Use flash only when its look solves the brief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64574" y="2322576"/>
            <a:ext cx="2091689" cy="3602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Use flash only when its look solves the brief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58368" y="6318504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8368" y="6382512"/>
            <a:ext cx="484632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Master Mobile Photography · TGS-2026064718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0" y="6382512"/>
            <a:ext cx="50292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698480" y="6382512"/>
            <a:ext cx="73152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65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1083564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6D3FD2"/>
                </a:solidFill>
                <a:latin typeface="Arial"/>
              </a:rPr>
              <a:t>TOPIC 02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835640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 Clean Capture Routine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77240" y="2148840"/>
            <a:ext cx="2425446" cy="288036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48840"/>
            <a:ext cx="2425446" cy="91440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615059" y="2532888"/>
            <a:ext cx="749808" cy="749808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15059" y="2660904"/>
            <a:ext cx="749808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3544" y="3584448"/>
            <a:ext cx="2132838" cy="11887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Clean · stabilise · frame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2686" y="3337560"/>
            <a:ext cx="310896" cy="4572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6D3FD2"/>
                </a:solidFill>
                <a:latin typeface="Arial"/>
              </a:rPr>
              <a:t>▶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513582" y="2148840"/>
            <a:ext cx="2425446" cy="288036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513582" y="2148840"/>
            <a:ext cx="2425446" cy="91440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351401" y="2532888"/>
            <a:ext cx="749808" cy="749808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51401" y="2660904"/>
            <a:ext cx="749808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9886" y="3584448"/>
            <a:ext cx="2132838" cy="11887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Focus · set brightness · lock if needed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39028" y="3337560"/>
            <a:ext cx="310896" cy="4572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6D3FD2"/>
                </a:solidFill>
                <a:latin typeface="Arial"/>
              </a:rPr>
              <a:t>▶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49924" y="2148840"/>
            <a:ext cx="2425446" cy="288036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49924" y="2148840"/>
            <a:ext cx="2425446" cy="91440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087743" y="2532888"/>
            <a:ext cx="749808" cy="749808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087743" y="2660904"/>
            <a:ext cx="749808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96228" y="3584448"/>
            <a:ext cx="2132838" cy="11887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Capture a short variation set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75370" y="3337560"/>
            <a:ext cx="310896" cy="4572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6D3FD2"/>
                </a:solidFill>
                <a:latin typeface="Arial"/>
              </a:rPr>
              <a:t>▶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986266" y="2148840"/>
            <a:ext cx="2425446" cy="288036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986266" y="2148840"/>
            <a:ext cx="2425446" cy="91440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824085" y="2532888"/>
            <a:ext cx="749808" cy="749808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824085" y="2660904"/>
            <a:ext cx="749808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32570" y="3584448"/>
            <a:ext cx="2132838" cy="11887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Review sharpness, highlights and distractions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58368" y="6318504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8368" y="6382512"/>
            <a:ext cx="484632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Master Mobile Photography · TGS-2026064718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0" y="6382512"/>
            <a:ext cx="50292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698480" y="6382512"/>
            <a:ext cx="73152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66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1083564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TOPIC 02 · REAL-USE-CASE ACTIVITY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835640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Control Exposure and Colour at a Corporate Event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673352"/>
            <a:ext cx="1325880" cy="438912"/>
          </a:xfrm>
          <a:prstGeom prst="roundRect">
            <a:avLst>
              <a:gd name="adj" fmla="val 8000"/>
            </a:avLst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773936"/>
            <a:ext cx="132588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ACTIVITY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2331720"/>
            <a:ext cx="6903720" cy="10972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An event organiser needs speaker and audience photographs under mixed warm stage light and cool ambient light.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3675887"/>
            <a:ext cx="6903720" cy="141732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886200"/>
            <a:ext cx="6400800" cy="100584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8A73"/>
                </a:solidFill>
                <a:latin typeface="Arial"/>
              </a:rPr>
              <a:t>YOU'LL PRODUCE</a:t>
            </a:r>
          </a:p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Exposure/focus test set, white-balance comparison and five usable event frames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Full procedures: Learner Guide and Activity folder</a:t>
            </a:r>
          </a:p>
        </p:txBody>
      </p:sp>
      <p:pic>
        <p:nvPicPr>
          <p:cNvPr id="11" name="Picture 10" descr="activity-03-event-exposure.png"/>
          <p:cNvPicPr>
            <a:picLocks noChangeAspect="1"/>
          </p:cNvPicPr>
          <p:nvPr/>
        </p:nvPicPr>
        <p:blipFill>
          <a:blip r:embed="rId2"/>
          <a:srcRect l="19979" r="19979"/>
          <a:stretch>
            <a:fillRect/>
          </a:stretch>
        </p:blipFill>
        <p:spPr>
          <a:xfrm>
            <a:off x="7845552" y="1673352"/>
            <a:ext cx="3648456" cy="341985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58368" y="5376672"/>
            <a:ext cx="10744200" cy="4572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A4 · A6 · Smartphone with Pro/Manual mode or exposure compensation, optional monopod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6318504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" y="6382512"/>
            <a:ext cx="484632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Master Mobile Photography · TGS-2026064718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0" y="6382512"/>
            <a:ext cx="50292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98480" y="6382512"/>
            <a:ext cx="73152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67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1083564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ACTIVITY 3 · ANALYSE BEFORE CAPTURE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835640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Visual Brief and Reference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activity-03-event-exposure.png"/>
          <p:cNvPicPr>
            <a:picLocks noChangeAspect="1"/>
          </p:cNvPicPr>
          <p:nvPr/>
        </p:nvPicPr>
        <p:blipFill>
          <a:blip r:embed="rId2"/>
          <a:srcRect l="7673" r="7673"/>
          <a:stretch>
            <a:fillRect/>
          </a:stretch>
        </p:blipFill>
        <p:spPr>
          <a:xfrm>
            <a:off x="658368" y="1645920"/>
            <a:ext cx="6629400" cy="4407408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562088" y="1664208"/>
            <a:ext cx="3931920" cy="84124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772400" y="1856232"/>
            <a:ext cx="411480" cy="411480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0" y="1901952"/>
            <a:ext cx="41148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66760" y="1801368"/>
            <a:ext cx="2880360" cy="5669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What attracts attention first?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62088" y="2688336"/>
            <a:ext cx="3931920" cy="84124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772400" y="2880360"/>
            <a:ext cx="411480" cy="411480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0" y="2926080"/>
            <a:ext cx="41148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66760" y="2825496"/>
            <a:ext cx="2880360" cy="5669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Which light, angle and composition choices are visible?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62088" y="3712464"/>
            <a:ext cx="3931920" cy="84124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772400" y="3904488"/>
            <a:ext cx="411480" cy="411480"/>
          </a:xfrm>
          <a:prstGeom prst="ellipse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0" y="3950208"/>
            <a:ext cx="41148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6760" y="3849624"/>
            <a:ext cx="2880360" cy="5669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What could fail technically or ethically?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562088" y="4736592"/>
            <a:ext cx="3931920" cy="84124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772400" y="4928616"/>
            <a:ext cx="411480" cy="411480"/>
          </a:xfrm>
          <a:prstGeom prst="ellipse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0" y="4974336"/>
            <a:ext cx="41148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66760" y="4873752"/>
            <a:ext cx="2880360" cy="5669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Which acceptance criterion does the image demonstrate?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8368" y="6318504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8368" y="6382512"/>
            <a:ext cx="484632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Master Mobile Photography · TGS-2026064718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0" y="6382512"/>
            <a:ext cx="50292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698480" y="6382512"/>
            <a:ext cx="73152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68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1083564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6845B"/>
                </a:solidFill>
                <a:latin typeface="Arial"/>
              </a:rPr>
              <a:t>ACTIVITY 3 · VERIFY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835640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Acceptance Review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1755648"/>
            <a:ext cx="10424160" cy="713232"/>
          </a:xfrm>
          <a:prstGeom prst="roundRect">
            <a:avLst>
              <a:gd name="adj" fmla="val 8000"/>
            </a:avLst>
          </a:prstGeom>
          <a:solidFill>
            <a:srgbClr val="E8F7EE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51560" y="1911095"/>
            <a:ext cx="402336" cy="402336"/>
          </a:xfrm>
          <a:prstGeom prst="ellipse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1938528"/>
            <a:ext cx="402336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883664"/>
            <a:ext cx="9144000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Faces are sharp and readable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2670048"/>
            <a:ext cx="10424160" cy="713232"/>
          </a:xfrm>
          <a:prstGeom prst="roundRect">
            <a:avLst>
              <a:gd name="adj" fmla="val 8000"/>
            </a:avLst>
          </a:prstGeom>
          <a:solidFill>
            <a:srgbClr val="E8F7EE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51560" y="2825496"/>
            <a:ext cx="402336" cy="402336"/>
          </a:xfrm>
          <a:prstGeom prst="ellipse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" y="2852928"/>
            <a:ext cx="402336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91640" y="2798064"/>
            <a:ext cx="9144000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Important highlights are not clipped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3584448"/>
            <a:ext cx="10424160" cy="713232"/>
          </a:xfrm>
          <a:prstGeom prst="roundRect">
            <a:avLst>
              <a:gd name="adj" fmla="val 8000"/>
            </a:avLst>
          </a:prstGeom>
          <a:solidFill>
            <a:srgbClr val="E8F7EE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051560" y="3739896"/>
            <a:ext cx="402336" cy="402336"/>
          </a:xfrm>
          <a:prstGeom prst="ellipse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51560" y="3767328"/>
            <a:ext cx="402336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91640" y="3712463"/>
            <a:ext cx="9144000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White balance is consistent across the sequence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4498848"/>
            <a:ext cx="10424160" cy="713232"/>
          </a:xfrm>
          <a:prstGeom prst="roundRect">
            <a:avLst>
              <a:gd name="adj" fmla="val 8000"/>
            </a:avLst>
          </a:prstGeom>
          <a:solidFill>
            <a:srgbClr val="E8F7EE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51560" y="4654296"/>
            <a:ext cx="402336" cy="402336"/>
          </a:xfrm>
          <a:prstGeom prst="ellipse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51560" y="4681728"/>
            <a:ext cx="402336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91640" y="4626864"/>
            <a:ext cx="9144000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Five frames cover place, action and reaction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2960" y="5532120"/>
            <a:ext cx="10424160" cy="43891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05840" y="5623560"/>
            <a:ext cx="1005840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Evidence: final images · completed checklist · settings/decision log · peer feedback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58368" y="6318504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8368" y="6382512"/>
            <a:ext cx="484632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Master Mobile Photography · TGS-2026064718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0" y="6382512"/>
            <a:ext cx="50292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98480" y="6382512"/>
            <a:ext cx="73152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69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1083564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TOPIC 02 · REAL-USE-CASE ACTIVITY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835640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Freeze and Blur Motion at Blue Hour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673352"/>
            <a:ext cx="1325880" cy="438912"/>
          </a:xfrm>
          <a:prstGeom prst="roundRect">
            <a:avLst>
              <a:gd name="adj" fmla="val 8000"/>
            </a:avLst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773936"/>
            <a:ext cx="132588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ACTIVITY 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2331720"/>
            <a:ext cx="6903720" cy="10972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A city mobility campaign needs one frozen-action frame and one creative motion frame from a safe waterfront location.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3675887"/>
            <a:ext cx="6903720" cy="141732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886200"/>
            <a:ext cx="6400800" cy="100584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8A73"/>
                </a:solidFill>
                <a:latin typeface="Arial"/>
              </a:rPr>
              <a:t>YOU'LL PRODUCE</a:t>
            </a:r>
          </a:p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Frozen-action image, panning image, low-light comparison and settings log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Full procedures: Learner Guide and Activity folder</a:t>
            </a:r>
          </a:p>
        </p:txBody>
      </p:sp>
      <p:pic>
        <p:nvPicPr>
          <p:cNvPr id="11" name="Picture 10" descr="activity-04-motion-low-light.png"/>
          <p:cNvPicPr>
            <a:picLocks noChangeAspect="1"/>
          </p:cNvPicPr>
          <p:nvPr/>
        </p:nvPicPr>
        <p:blipFill>
          <a:blip r:embed="rId2"/>
          <a:srcRect l="19979" r="19979"/>
          <a:stretch>
            <a:fillRect/>
          </a:stretch>
        </p:blipFill>
        <p:spPr>
          <a:xfrm>
            <a:off x="7845552" y="1673352"/>
            <a:ext cx="3648456" cy="341985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58368" y="5376672"/>
            <a:ext cx="10744200" cy="4572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A4 · A5 · A6 · Smartphone with burst/manual controls, tripod or stable support, Bluetooth remote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6318504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" y="6382512"/>
            <a:ext cx="484632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Master Mobile Photography · TGS-2026064718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0" y="6382512"/>
            <a:ext cx="50292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98480" y="6382512"/>
            <a:ext cx="73152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70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1083564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ACTIVITY 4 · ANALYSE BEFORE CAPTURE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835640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Visual Brief and Reference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activity-04-motion-low-light.png"/>
          <p:cNvPicPr>
            <a:picLocks noChangeAspect="1"/>
          </p:cNvPicPr>
          <p:nvPr/>
        </p:nvPicPr>
        <p:blipFill>
          <a:blip r:embed="rId2"/>
          <a:srcRect l="7673" r="7673"/>
          <a:stretch>
            <a:fillRect/>
          </a:stretch>
        </p:blipFill>
        <p:spPr>
          <a:xfrm>
            <a:off x="658368" y="1645920"/>
            <a:ext cx="6629400" cy="4407408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562088" y="1664208"/>
            <a:ext cx="3931920" cy="84124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772400" y="1856232"/>
            <a:ext cx="411480" cy="411480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0" y="1901952"/>
            <a:ext cx="41148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66760" y="1801368"/>
            <a:ext cx="2880360" cy="5669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What attracts attention first?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62088" y="2688336"/>
            <a:ext cx="3931920" cy="84124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772400" y="2880360"/>
            <a:ext cx="411480" cy="411480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0" y="2926080"/>
            <a:ext cx="41148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66760" y="2825496"/>
            <a:ext cx="2880360" cy="5669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Which light, angle and composition choices are visible?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62088" y="3712464"/>
            <a:ext cx="3931920" cy="84124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772400" y="3904488"/>
            <a:ext cx="411480" cy="411480"/>
          </a:xfrm>
          <a:prstGeom prst="ellipse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0" y="3950208"/>
            <a:ext cx="41148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6760" y="3849624"/>
            <a:ext cx="2880360" cy="5669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What could fail technically or ethically?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562088" y="4736592"/>
            <a:ext cx="3931920" cy="84124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772400" y="4928616"/>
            <a:ext cx="411480" cy="411480"/>
          </a:xfrm>
          <a:prstGeom prst="ellipse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0" y="4974336"/>
            <a:ext cx="41148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66760" y="4873752"/>
            <a:ext cx="2880360" cy="5669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Which acceptance criterion does the image demonstrate?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8368" y="6318504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8368" y="6382512"/>
            <a:ext cx="484632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Master Mobile Photography · TGS-2026064718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0" y="6382512"/>
            <a:ext cx="50292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698480" y="6382512"/>
            <a:ext cx="73152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71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1083564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6845B"/>
                </a:solidFill>
                <a:latin typeface="Arial"/>
              </a:rPr>
              <a:t>ACTIVITY 4 · VERIFY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835640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Acceptance Review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1755648"/>
            <a:ext cx="10424160" cy="713232"/>
          </a:xfrm>
          <a:prstGeom prst="roundRect">
            <a:avLst>
              <a:gd name="adj" fmla="val 8000"/>
            </a:avLst>
          </a:prstGeom>
          <a:solidFill>
            <a:srgbClr val="E8F7EE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51560" y="1911095"/>
            <a:ext cx="402336" cy="402336"/>
          </a:xfrm>
          <a:prstGeom prst="ellipse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1938528"/>
            <a:ext cx="402336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883664"/>
            <a:ext cx="9144000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Capture position is safe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2670048"/>
            <a:ext cx="10424160" cy="713232"/>
          </a:xfrm>
          <a:prstGeom prst="roundRect">
            <a:avLst>
              <a:gd name="adj" fmla="val 8000"/>
            </a:avLst>
          </a:prstGeom>
          <a:solidFill>
            <a:srgbClr val="E8F7EE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51560" y="2825496"/>
            <a:ext cx="402336" cy="402336"/>
          </a:xfrm>
          <a:prstGeom prst="ellipse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" y="2852928"/>
            <a:ext cx="402336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91640" y="2798064"/>
            <a:ext cx="9144000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Frozen frame has a readable subject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3584448"/>
            <a:ext cx="10424160" cy="713232"/>
          </a:xfrm>
          <a:prstGeom prst="roundRect">
            <a:avLst>
              <a:gd name="adj" fmla="val 8000"/>
            </a:avLst>
          </a:prstGeom>
          <a:solidFill>
            <a:srgbClr val="E8F7EE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051560" y="3739896"/>
            <a:ext cx="402336" cy="402336"/>
          </a:xfrm>
          <a:prstGeom prst="ellipse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51560" y="3767328"/>
            <a:ext cx="402336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91640" y="3712463"/>
            <a:ext cx="9144000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Panning frame communicates motion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4498848"/>
            <a:ext cx="10424160" cy="713232"/>
          </a:xfrm>
          <a:prstGeom prst="roundRect">
            <a:avLst>
              <a:gd name="adj" fmla="val 8000"/>
            </a:avLst>
          </a:prstGeom>
          <a:solidFill>
            <a:srgbClr val="E8F7EE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51560" y="4654296"/>
            <a:ext cx="402336" cy="402336"/>
          </a:xfrm>
          <a:prstGeom prst="ellipse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51560" y="4681728"/>
            <a:ext cx="402336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91640" y="4626864"/>
            <a:ext cx="9144000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Settings/effect relationship is explained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2960" y="5532120"/>
            <a:ext cx="10424160" cy="43891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05840" y="5623560"/>
            <a:ext cx="1005840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Evidence: final images · completed checklist · settings/decision log · peer feedback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58368" y="6318504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8368" y="6382512"/>
            <a:ext cx="484632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Master Mobile Photography · TGS-2026064718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0" y="6382512"/>
            <a:ext cx="50292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98480" y="6382512"/>
            <a:ext cx="73152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72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1083564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6D3FD2"/>
                </a:solidFill>
                <a:latin typeface="Arial"/>
              </a:rPr>
              <a:t>CHECK YOUR UNDERSTANDING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835640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Topic 02 Recap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664208"/>
            <a:ext cx="2585465" cy="43708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664208"/>
            <a:ext cx="82296" cy="4370832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847088"/>
            <a:ext cx="420624" cy="420624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865376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792224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Explain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322576"/>
            <a:ext cx="2091689" cy="3602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Night and Low-Light Strategy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08426" y="1664208"/>
            <a:ext cx="2585465" cy="43708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408426" y="1664208"/>
            <a:ext cx="82296" cy="4370832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627882" y="1847088"/>
            <a:ext cx="420624" cy="420624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27882" y="1865376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58234" y="1792224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Explain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64458" y="2322576"/>
            <a:ext cx="2091689" cy="3602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Burst, Panorama and Portrait Modes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58483" y="1664208"/>
            <a:ext cx="2585465" cy="43708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58483" y="1664208"/>
            <a:ext cx="82296" cy="4370832"/>
          </a:xfrm>
          <a:prstGeom prst="rect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377940" y="1847088"/>
            <a:ext cx="420624" cy="420624"/>
          </a:xfrm>
          <a:prstGeom prst="ellipse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77940" y="1865376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08292" y="1792224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Explain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14516" y="2322576"/>
            <a:ext cx="2091689" cy="3602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Flash: Use with Intent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908542" y="1664208"/>
            <a:ext cx="2585465" cy="43708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908542" y="1664208"/>
            <a:ext cx="82296" cy="4370832"/>
          </a:xfrm>
          <a:prstGeom prst="rect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127998" y="1847088"/>
            <a:ext cx="420624" cy="420624"/>
          </a:xfrm>
          <a:prstGeom prst="ellipse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27998" y="1865376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58350" y="1792224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Explain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64574" y="2322576"/>
            <a:ext cx="2091689" cy="3602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A Clean Capture Routine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58368" y="6318504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8368" y="6382512"/>
            <a:ext cx="484632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Master Mobile Photography · TGS-2026064718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0" y="6382512"/>
            <a:ext cx="50292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698480" y="6382512"/>
            <a:ext cx="73152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73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2377440"/>
            <a:ext cx="12191695" cy="9144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4400" b="1">
                <a:solidFill>
                  <a:srgbClr val="161B26"/>
                </a:solidFill>
                <a:latin typeface="Arial"/>
              </a:rPr>
              <a:t>End of Day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3520440"/>
            <a:ext cx="12191695" cy="5486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1">
                <a:solidFill>
                  <a:srgbClr val="108A73"/>
                </a:solidFill>
                <a:latin typeface="Arial"/>
              </a:rPr>
              <a:t>Return refreshed for composition and creative capture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6318504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6382512"/>
            <a:ext cx="484632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Master Mobile Photography · TGS-2026064718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0" y="6382512"/>
            <a:ext cx="50292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98480" y="6382512"/>
            <a:ext cx="73152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74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58368" y="1737360"/>
            <a:ext cx="10835640" cy="3291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58368" y="1737360"/>
            <a:ext cx="128016" cy="3291840"/>
          </a:xfrm>
          <a:prstGeom prst="rect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80160" y="2148840"/>
            <a:ext cx="868680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108A73"/>
                </a:solidFill>
                <a:latin typeface="Arial"/>
              </a:rPr>
              <a:t>TOPIC 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2606040"/>
            <a:ext cx="8961120" cy="9144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3400" b="1">
                <a:solidFill>
                  <a:srgbClr val="161B26"/>
                </a:solidFill>
                <a:latin typeface="Arial"/>
              </a:rPr>
              <a:t>Framing and Composition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3703320"/>
            <a:ext cx="8961120" cy="7315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Visual hierarchy · placement · lines · space · depth · patterns · emotive arrangement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38360" y="2194560"/>
            <a:ext cx="1097280" cy="109728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5600" b="1">
                <a:solidFill>
                  <a:srgbClr val="108A73"/>
                </a:solidFill>
                <a:latin typeface="Arial"/>
              </a:rPr>
              <a:t>03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6318504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6382512"/>
            <a:ext cx="484632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Master Mobile Photography · TGS-2026064718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6382512"/>
            <a:ext cx="50292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98480" y="6382512"/>
            <a:ext cx="73152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75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1083564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K4 · K5 · A5 · PART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835640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Topic 03 Roadmap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664208"/>
            <a:ext cx="2585465" cy="210312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664208"/>
            <a:ext cx="82296" cy="2103120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847088"/>
            <a:ext cx="420624" cy="420624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865376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792224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Composition Directs Attention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322576"/>
            <a:ext cx="2091689" cy="133502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Composition Directs Attention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08426" y="1664208"/>
            <a:ext cx="2585465" cy="210312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408426" y="1664208"/>
            <a:ext cx="82296" cy="2103120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627882" y="1847088"/>
            <a:ext cx="420624" cy="420624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27882" y="1865376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58234" y="1792224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Rule of Thirds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64458" y="2322576"/>
            <a:ext cx="2091689" cy="133502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Rule of Thirds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58483" y="1664208"/>
            <a:ext cx="2585465" cy="210312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58483" y="1664208"/>
            <a:ext cx="82296" cy="2103120"/>
          </a:xfrm>
          <a:prstGeom prst="rect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377940" y="1847088"/>
            <a:ext cx="420624" cy="420624"/>
          </a:xfrm>
          <a:prstGeom prst="ellipse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77940" y="1865376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08292" y="1792224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When Centre Composition Works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14516" y="2322576"/>
            <a:ext cx="2091689" cy="133502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When Centre Composition Works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908542" y="1664208"/>
            <a:ext cx="2585465" cy="210312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908542" y="1664208"/>
            <a:ext cx="82296" cy="2103120"/>
          </a:xfrm>
          <a:prstGeom prst="rect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127998" y="1847088"/>
            <a:ext cx="420624" cy="420624"/>
          </a:xfrm>
          <a:prstGeom prst="ellipse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27998" y="1865376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58350" y="1792224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Balance and Symmetry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64574" y="2322576"/>
            <a:ext cx="2091689" cy="133502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Balance and Symmetry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58368" y="3931920"/>
            <a:ext cx="2585465" cy="210312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58368" y="3931920"/>
            <a:ext cx="82296" cy="2103120"/>
          </a:xfrm>
          <a:prstGeom prst="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877824" y="4114800"/>
            <a:ext cx="420624" cy="420624"/>
          </a:xfrm>
          <a:prstGeom prst="ellipse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77824" y="4133088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408176" y="4059936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Pattern, Proportion, Rhythm and Unity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4400" y="4590288"/>
            <a:ext cx="2091689" cy="133502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Pattern, Proportion, Rhythm and Unity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408426" y="3931920"/>
            <a:ext cx="2585465" cy="210312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3408426" y="3931920"/>
            <a:ext cx="82296" cy="2103120"/>
          </a:xfrm>
          <a:prstGeom prst="rect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3627882" y="4114800"/>
            <a:ext cx="420624" cy="420624"/>
          </a:xfrm>
          <a:prstGeom prst="ellipse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627882" y="4133088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158234" y="4059936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Negative Space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664458" y="4590288"/>
            <a:ext cx="2091689" cy="133502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Negative Space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158483" y="3931920"/>
            <a:ext cx="2585465" cy="210312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158483" y="3931920"/>
            <a:ext cx="82296" cy="2103120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6377940" y="4114800"/>
            <a:ext cx="420624" cy="420624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377940" y="4133088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908292" y="4059936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Leading Lines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14516" y="4590288"/>
            <a:ext cx="2091689" cy="133502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Leading Lines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908542" y="3931920"/>
            <a:ext cx="2585465" cy="210312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8908542" y="3931920"/>
            <a:ext cx="82296" cy="2103120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9127998" y="4114800"/>
            <a:ext cx="420624" cy="420624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127998" y="4133088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658350" y="4059936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Frame Within a Frame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164574" y="4590288"/>
            <a:ext cx="2091689" cy="133502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Frame Within a Frame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58368" y="6318504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58368" y="6382512"/>
            <a:ext cx="484632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Master Mobile Photography · TGS-2026064718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657600" y="6382512"/>
            <a:ext cx="50292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698480" y="6382512"/>
            <a:ext cx="73152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76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1083564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K4 · K5 · A5 · PART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835640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Topic 03 Roadmap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664208"/>
            <a:ext cx="3502152" cy="1347216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664208"/>
            <a:ext cx="82296" cy="1347216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847088"/>
            <a:ext cx="420624" cy="420624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865376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792224"/>
            <a:ext cx="260604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Patterns, Texture and Repetition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322576"/>
            <a:ext cx="3008376" cy="5791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Patterns, Texture and Repetition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25112" y="1664208"/>
            <a:ext cx="3502152" cy="1347216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25112" y="1664208"/>
            <a:ext cx="82296" cy="1347216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544568" y="1847088"/>
            <a:ext cx="420624" cy="420624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44568" y="1865376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74920" y="1792224"/>
            <a:ext cx="260604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Contrast Creates Separation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81144" y="2322576"/>
            <a:ext cx="3008376" cy="5791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Contrast Creates Separation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991856" y="1664208"/>
            <a:ext cx="3502152" cy="1347216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991856" y="1664208"/>
            <a:ext cx="82296" cy="1347216"/>
          </a:xfrm>
          <a:prstGeom prst="rect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211312" y="1847088"/>
            <a:ext cx="420624" cy="420624"/>
          </a:xfrm>
          <a:prstGeom prst="ellipse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11312" y="1865376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41664" y="1792224"/>
            <a:ext cx="260604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Reflections and Visual Effects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47888" y="2322576"/>
            <a:ext cx="3008376" cy="5791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Reflections and Visual Effects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8368" y="3176016"/>
            <a:ext cx="3502152" cy="1347216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58368" y="3176016"/>
            <a:ext cx="82296" cy="1347216"/>
          </a:xfrm>
          <a:prstGeom prst="rect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77824" y="3358896"/>
            <a:ext cx="420624" cy="420624"/>
          </a:xfrm>
          <a:prstGeom prst="ellipse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77824" y="3377184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08176" y="3304032"/>
            <a:ext cx="260604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Scale and Depth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3834384"/>
            <a:ext cx="3008376" cy="5791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Scale and Depth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25112" y="3176016"/>
            <a:ext cx="3502152" cy="1347216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325112" y="3176016"/>
            <a:ext cx="82296" cy="1347216"/>
          </a:xfrm>
          <a:prstGeom prst="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4544568" y="3358896"/>
            <a:ext cx="420624" cy="420624"/>
          </a:xfrm>
          <a:prstGeom prst="ellipse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44568" y="3377184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74920" y="3304032"/>
            <a:ext cx="260604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Rule of Space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81144" y="3834384"/>
            <a:ext cx="3008376" cy="5791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Rule of Space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991856" y="3176016"/>
            <a:ext cx="3502152" cy="1347216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991856" y="3176016"/>
            <a:ext cx="82296" cy="1347216"/>
          </a:xfrm>
          <a:prstGeom prst="rect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8211312" y="3358896"/>
            <a:ext cx="420624" cy="420624"/>
          </a:xfrm>
          <a:prstGeom prst="ellipse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211312" y="3377184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741664" y="3304032"/>
            <a:ext cx="260604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Point of View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47888" y="3834384"/>
            <a:ext cx="3008376" cy="5791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Point of View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58368" y="4687824"/>
            <a:ext cx="3502152" cy="1347216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58368" y="4687824"/>
            <a:ext cx="82296" cy="1347216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877824" y="4870704"/>
            <a:ext cx="420624" cy="420624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77824" y="4888992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408176" y="4815840"/>
            <a:ext cx="260604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Arrange Subjects for Emotion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14400" y="5346192"/>
            <a:ext cx="3008376" cy="5791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Arrange Subjects for Emotion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4325112" y="4687824"/>
            <a:ext cx="3502152" cy="1347216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4325112" y="4687824"/>
            <a:ext cx="82296" cy="1347216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4544568" y="4870704"/>
            <a:ext cx="420624" cy="420624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544568" y="4888992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074920" y="4815840"/>
            <a:ext cx="260604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The Blank-Canvas Check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581144" y="5346192"/>
            <a:ext cx="3008376" cy="5791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The Blank-Canvas Check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7991856" y="4687824"/>
            <a:ext cx="3502152" cy="1347216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7991856" y="4687824"/>
            <a:ext cx="82296" cy="1347216"/>
          </a:xfrm>
          <a:prstGeom prst="rect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8211312" y="4870704"/>
            <a:ext cx="420624" cy="420624"/>
          </a:xfrm>
          <a:prstGeom prst="ellipse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211312" y="4888992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9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741664" y="4815840"/>
            <a:ext cx="260604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Orientation, Crop and Aspect Ratio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247888" y="5346192"/>
            <a:ext cx="3008376" cy="5791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Orientation, Crop and Aspect Ratio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58368" y="6318504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58368" y="6382512"/>
            <a:ext cx="484632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Master Mobile Photography · TGS-2026064718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657600" y="6382512"/>
            <a:ext cx="50292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0698480" y="6382512"/>
            <a:ext cx="73152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77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1083564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TOPIC 03 · K4 · K5 · A5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835640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Composition Directs Attention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664208"/>
            <a:ext cx="2585465" cy="43708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664208"/>
            <a:ext cx="82296" cy="4370832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847088"/>
            <a:ext cx="420624" cy="420624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865376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792224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Choose one primary subject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322576"/>
            <a:ext cx="2091689" cy="3602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Choose one primary subject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08426" y="1664208"/>
            <a:ext cx="2585465" cy="43708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408426" y="1664208"/>
            <a:ext cx="82296" cy="4370832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627882" y="1847088"/>
            <a:ext cx="420624" cy="420624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27882" y="1865376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58234" y="1792224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Remove elements that compete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64458" y="2322576"/>
            <a:ext cx="2091689" cy="3602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Remove elements that compete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58483" y="1664208"/>
            <a:ext cx="2585465" cy="43708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58483" y="1664208"/>
            <a:ext cx="82296" cy="4370832"/>
          </a:xfrm>
          <a:prstGeom prst="rect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377940" y="1847088"/>
            <a:ext cx="420624" cy="420624"/>
          </a:xfrm>
          <a:prstGeom prst="ellipse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77940" y="1865376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08292" y="1792224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Use placement, scale and contrast to guide the eye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14516" y="2322576"/>
            <a:ext cx="2091689" cy="3602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Use placement, scale and contrast to guide the eye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908542" y="1664208"/>
            <a:ext cx="2585465" cy="43708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908542" y="1664208"/>
            <a:ext cx="82296" cy="4370832"/>
          </a:xfrm>
          <a:prstGeom prst="rect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127998" y="1847088"/>
            <a:ext cx="420624" cy="420624"/>
          </a:xfrm>
          <a:prstGeom prst="ellipse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27998" y="1865376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58350" y="1792224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The frame includes everything—wanted or not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64574" y="2322576"/>
            <a:ext cx="2091689" cy="3602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The frame includes everything—wanted or not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58368" y="6318504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8368" y="6382512"/>
            <a:ext cx="484632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Master Mobile Photography · TGS-2026064718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0" y="6382512"/>
            <a:ext cx="50292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698480" y="6382512"/>
            <a:ext cx="73152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78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1083564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TOPIC 03 · K4 · K5 · A5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835640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Rule of Thirds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664208"/>
            <a:ext cx="2585465" cy="43708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664208"/>
            <a:ext cx="82296" cy="4370832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847088"/>
            <a:ext cx="420624" cy="420624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865376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792224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Divide the frame into a three-by-three grid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322576"/>
            <a:ext cx="2091689" cy="3602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Divide the frame into a three-by-three grid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08426" y="1664208"/>
            <a:ext cx="2585465" cy="43708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408426" y="1664208"/>
            <a:ext cx="82296" cy="4370832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627882" y="1847088"/>
            <a:ext cx="420624" cy="420624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27882" y="1865376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58234" y="1792224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Place key subjects near intersections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64458" y="2322576"/>
            <a:ext cx="2091689" cy="3602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Place key subjects near intersections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58483" y="1664208"/>
            <a:ext cx="2585465" cy="43708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58483" y="1664208"/>
            <a:ext cx="82296" cy="4370832"/>
          </a:xfrm>
          <a:prstGeom prst="rect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377940" y="1847088"/>
            <a:ext cx="420624" cy="420624"/>
          </a:xfrm>
          <a:prstGeom prst="ellipse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77940" y="1865376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08292" y="1792224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Align important horizons with a third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14516" y="2322576"/>
            <a:ext cx="2091689" cy="3602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Align important horizons with a third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908542" y="1664208"/>
            <a:ext cx="2585465" cy="43708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908542" y="1664208"/>
            <a:ext cx="82296" cy="4370832"/>
          </a:xfrm>
          <a:prstGeom prst="rect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127998" y="1847088"/>
            <a:ext cx="420624" cy="420624"/>
          </a:xfrm>
          <a:prstGeom prst="ellipse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27998" y="1865376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58350" y="1792224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Leave space toward a gaze or movement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64574" y="2322576"/>
            <a:ext cx="2091689" cy="3602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Leave space toward a gaze or movement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58368" y="6318504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8368" y="6382512"/>
            <a:ext cx="484632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Master Mobile Photography · TGS-2026064718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0" y="6382512"/>
            <a:ext cx="50292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698480" y="6382512"/>
            <a:ext cx="73152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79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1083564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TOPIC 03 · K4 · K5 · A5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835640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When Centre Composition Works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664208"/>
            <a:ext cx="2585465" cy="43708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664208"/>
            <a:ext cx="82296" cy="4370832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847088"/>
            <a:ext cx="420624" cy="420624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865376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792224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Symmetrical architecture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322576"/>
            <a:ext cx="2091689" cy="3602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Symmetrical architecture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08426" y="1664208"/>
            <a:ext cx="2585465" cy="43708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408426" y="1664208"/>
            <a:ext cx="82296" cy="4370832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627882" y="1847088"/>
            <a:ext cx="420624" cy="420624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27882" y="1865376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58234" y="1792224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Strong faces and direct gaze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64458" y="2322576"/>
            <a:ext cx="2091689" cy="3602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Strong faces and direct gaze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58483" y="1664208"/>
            <a:ext cx="2585465" cy="43708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58483" y="1664208"/>
            <a:ext cx="82296" cy="4370832"/>
          </a:xfrm>
          <a:prstGeom prst="rect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377940" y="1847088"/>
            <a:ext cx="420624" cy="420624"/>
          </a:xfrm>
          <a:prstGeom prst="ellipse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77940" y="1865376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08292" y="1792224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Graphic shapes and isolated subjects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14516" y="2322576"/>
            <a:ext cx="2091689" cy="3602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Graphic shapes and isolated subjects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908542" y="1664208"/>
            <a:ext cx="2585465" cy="43708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908542" y="1664208"/>
            <a:ext cx="82296" cy="4370832"/>
          </a:xfrm>
          <a:prstGeom prst="rect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127998" y="1847088"/>
            <a:ext cx="420624" cy="420624"/>
          </a:xfrm>
          <a:prstGeom prst="ellipse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27998" y="1865376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58350" y="1792224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Use deliberate balance—not automatic centring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64574" y="2322576"/>
            <a:ext cx="2091689" cy="3602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Use deliberate balance—not automatic centring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58368" y="6318504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8368" y="6382512"/>
            <a:ext cx="484632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Master Mobile Photography · TGS-2026064718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0" y="6382512"/>
            <a:ext cx="50292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698480" y="6382512"/>
            <a:ext cx="73152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80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1083564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TOPIC 03 · K4 · K5 · A5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835640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Balance and Symmetry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664208"/>
            <a:ext cx="2585465" cy="43708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664208"/>
            <a:ext cx="82296" cy="4370832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847088"/>
            <a:ext cx="420624" cy="420624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865376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792224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Symmetry can be vertical, horizontal or radial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322576"/>
            <a:ext cx="2091689" cy="3602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Symmetry can be vertical, horizontal or radial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08426" y="1664208"/>
            <a:ext cx="2585465" cy="43708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408426" y="1664208"/>
            <a:ext cx="82296" cy="4370832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627882" y="1847088"/>
            <a:ext cx="420624" cy="420624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27882" y="1865376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58234" y="1792224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Visual weight includes brightness, colour and size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64458" y="2322576"/>
            <a:ext cx="2091689" cy="3602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Visual weight includes brightness, colour and size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58483" y="1664208"/>
            <a:ext cx="2585465" cy="43708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58483" y="1664208"/>
            <a:ext cx="82296" cy="4370832"/>
          </a:xfrm>
          <a:prstGeom prst="rect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377940" y="1847088"/>
            <a:ext cx="420624" cy="420624"/>
          </a:xfrm>
          <a:prstGeom prst="ellipse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77940" y="1865376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08292" y="1792224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Asymmetrical balance feels dynamic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14516" y="2322576"/>
            <a:ext cx="2091689" cy="3602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Asymmetrical balance feels dynamic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908542" y="1664208"/>
            <a:ext cx="2585465" cy="43708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908542" y="1664208"/>
            <a:ext cx="82296" cy="4370832"/>
          </a:xfrm>
          <a:prstGeom prst="rect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127998" y="1847088"/>
            <a:ext cx="420624" cy="420624"/>
          </a:xfrm>
          <a:prstGeom prst="ellipse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27998" y="1865376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58350" y="1792224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Minor imperfection can keep symmetry human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64574" y="2322576"/>
            <a:ext cx="2091689" cy="3602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Minor imperfection can keep symmetry human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58368" y="6318504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8368" y="6382512"/>
            <a:ext cx="484632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Master Mobile Photography · TGS-2026064718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0" y="6382512"/>
            <a:ext cx="50292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698480" y="6382512"/>
            <a:ext cx="73152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81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1083564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TOPIC 03 · K4 · K5 · A5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835640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Pattern, Proportion, Rhythm and Unity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664208"/>
            <a:ext cx="2585465" cy="43708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664208"/>
            <a:ext cx="82296" cy="4370832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847088"/>
            <a:ext cx="420624" cy="420624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865376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792224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Pattern repeats form or colour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322576"/>
            <a:ext cx="2091689" cy="3602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Pattern repeats form or colour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08426" y="1664208"/>
            <a:ext cx="2585465" cy="43708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408426" y="1664208"/>
            <a:ext cx="82296" cy="4370832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627882" y="1847088"/>
            <a:ext cx="420624" cy="420624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27882" y="1865376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58234" y="1792224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Proportion compares visual sizes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64458" y="2322576"/>
            <a:ext cx="2091689" cy="3602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Proportion compares visual sizes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58483" y="1664208"/>
            <a:ext cx="2585465" cy="43708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58483" y="1664208"/>
            <a:ext cx="82296" cy="4370832"/>
          </a:xfrm>
          <a:prstGeom prst="rect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377940" y="1847088"/>
            <a:ext cx="420624" cy="420624"/>
          </a:xfrm>
          <a:prstGeom prst="ellipse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77940" y="1865376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08292" y="1792224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Rhythm controls the repeated path of the eye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14516" y="2322576"/>
            <a:ext cx="2091689" cy="3602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Rhythm controls the repeated path of the eye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908542" y="1664208"/>
            <a:ext cx="2585465" cy="43708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908542" y="1664208"/>
            <a:ext cx="82296" cy="4370832"/>
          </a:xfrm>
          <a:prstGeom prst="rect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127998" y="1847088"/>
            <a:ext cx="420624" cy="420624"/>
          </a:xfrm>
          <a:prstGeom prst="ellipse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27998" y="1865376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58350" y="1792224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Unity makes separate elements feel intentional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64574" y="2322576"/>
            <a:ext cx="2091689" cy="3602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Unity makes separate elements feel intentional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58368" y="6318504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8368" y="6382512"/>
            <a:ext cx="484632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Master Mobile Photography · TGS-2026064718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0" y="6382512"/>
            <a:ext cx="50292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698480" y="6382512"/>
            <a:ext cx="73152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82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1083564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TOPIC 03 · K4 · K5 · A5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835640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Negative Space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664208"/>
            <a:ext cx="2585465" cy="43708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664208"/>
            <a:ext cx="82296" cy="4370832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847088"/>
            <a:ext cx="420624" cy="420624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865376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792224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Give the subject room to stand out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322576"/>
            <a:ext cx="2091689" cy="3602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Give the subject room to stand out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08426" y="1664208"/>
            <a:ext cx="2585465" cy="43708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408426" y="1664208"/>
            <a:ext cx="82296" cy="4370832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627882" y="1847088"/>
            <a:ext cx="420624" cy="420624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27882" y="1865376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58234" y="1792224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Choose a simple area with low detail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64458" y="2322576"/>
            <a:ext cx="2091689" cy="3602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Choose a simple area with low detail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58483" y="1664208"/>
            <a:ext cx="2585465" cy="43708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58483" y="1664208"/>
            <a:ext cx="82296" cy="4370832"/>
          </a:xfrm>
          <a:prstGeom prst="rect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377940" y="1847088"/>
            <a:ext cx="420624" cy="420624"/>
          </a:xfrm>
          <a:prstGeom prst="ellipse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77940" y="1865376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08292" y="1792224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Use empty space for mood or copy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14516" y="2322576"/>
            <a:ext cx="2091689" cy="3602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Use empty space for mood or copy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908542" y="1664208"/>
            <a:ext cx="2585465" cy="43708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908542" y="1664208"/>
            <a:ext cx="82296" cy="4370832"/>
          </a:xfrm>
          <a:prstGeom prst="rect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127998" y="1847088"/>
            <a:ext cx="420624" cy="420624"/>
          </a:xfrm>
          <a:prstGeom prst="ellipse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27998" y="1865376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58350" y="1792224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Do not confuse empty with accidental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64574" y="2322576"/>
            <a:ext cx="2091689" cy="3602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Do not confuse empty with accidental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58368" y="6318504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8368" y="6382512"/>
            <a:ext cx="484632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Master Mobile Photography · TGS-2026064718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0" y="6382512"/>
            <a:ext cx="50292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698480" y="6382512"/>
            <a:ext cx="73152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83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1083564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TOPIC 03 · K4 · K5 · A5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835640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Leading Lines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664208"/>
            <a:ext cx="2585465" cy="43708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664208"/>
            <a:ext cx="82296" cy="4370832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847088"/>
            <a:ext cx="420624" cy="420624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865376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792224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Roads, rails, shadows and edges can guide the eye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322576"/>
            <a:ext cx="2091689" cy="3602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Roads, rails, shadows and edges can guide the eye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08426" y="1664208"/>
            <a:ext cx="2585465" cy="43708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408426" y="1664208"/>
            <a:ext cx="82296" cy="4370832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627882" y="1847088"/>
            <a:ext cx="420624" cy="420624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27882" y="1865376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58234" y="1792224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Enter the frame cleanly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64458" y="2322576"/>
            <a:ext cx="2091689" cy="3602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Enter the frame cleanly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58483" y="1664208"/>
            <a:ext cx="2585465" cy="43708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58483" y="1664208"/>
            <a:ext cx="82296" cy="4370832"/>
          </a:xfrm>
          <a:prstGeom prst="rect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377940" y="1847088"/>
            <a:ext cx="420624" cy="420624"/>
          </a:xfrm>
          <a:prstGeom prst="ellipse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77940" y="1865376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08292" y="1792224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Aim toward the subject or story point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14516" y="2322576"/>
            <a:ext cx="2091689" cy="3602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Aim toward the subject or story point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908542" y="1664208"/>
            <a:ext cx="2585465" cy="43708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908542" y="1664208"/>
            <a:ext cx="82296" cy="4370832"/>
          </a:xfrm>
          <a:prstGeom prst="rect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127998" y="1847088"/>
            <a:ext cx="420624" cy="420624"/>
          </a:xfrm>
          <a:prstGeom prst="ellipse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27998" y="1865376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58350" y="1792224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Avoid lines that lead viewers out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64574" y="2322576"/>
            <a:ext cx="2091689" cy="3602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Avoid lines that lead viewers out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58368" y="6318504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8368" y="6382512"/>
            <a:ext cx="484632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Master Mobile Photography · TGS-2026064718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0" y="6382512"/>
            <a:ext cx="50292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698480" y="6382512"/>
            <a:ext cx="73152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84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1083564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TOPIC 03 · K4 · K5 · A5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835640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Frame Within a Frame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664208"/>
            <a:ext cx="2585465" cy="43708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664208"/>
            <a:ext cx="82296" cy="4370832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847088"/>
            <a:ext cx="420624" cy="420624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865376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792224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Use doors, windows, branches or foreground shapes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322576"/>
            <a:ext cx="2091689" cy="3602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Use doors, windows, branches or foreground shapes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08426" y="1664208"/>
            <a:ext cx="2585465" cy="43708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408426" y="1664208"/>
            <a:ext cx="82296" cy="4370832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627882" y="1847088"/>
            <a:ext cx="420624" cy="420624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27882" y="1865376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58234" y="1792224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The inner frame concentrates attention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64458" y="2322576"/>
            <a:ext cx="2091689" cy="3602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The inner frame concentrates attention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58483" y="1664208"/>
            <a:ext cx="2585465" cy="43708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58483" y="1664208"/>
            <a:ext cx="82296" cy="4370832"/>
          </a:xfrm>
          <a:prstGeom prst="rect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377940" y="1847088"/>
            <a:ext cx="420624" cy="420624"/>
          </a:xfrm>
          <a:prstGeom prst="ellipse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77940" y="1865376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08292" y="1792224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Keep the frame relevant to the setting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14516" y="2322576"/>
            <a:ext cx="2091689" cy="3602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Keep the frame relevant to the setting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908542" y="1664208"/>
            <a:ext cx="2585465" cy="43708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908542" y="1664208"/>
            <a:ext cx="82296" cy="4370832"/>
          </a:xfrm>
          <a:prstGeom prst="rect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127998" y="1847088"/>
            <a:ext cx="420624" cy="420624"/>
          </a:xfrm>
          <a:prstGeom prst="ellipse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27998" y="1865376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58350" y="1792224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Do not cover important subject detail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64574" y="2322576"/>
            <a:ext cx="2091689" cy="3602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Do not cover important subject detail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58368" y="6318504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8368" y="6382512"/>
            <a:ext cx="484632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Master Mobile Photography · TGS-2026064718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0" y="6382512"/>
            <a:ext cx="50292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698480" y="6382512"/>
            <a:ext cx="73152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85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1083564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TOPIC 03 · K4 · K5 · A5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835640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Patterns, Texture and Repetition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664208"/>
            <a:ext cx="2585465" cy="43708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664208"/>
            <a:ext cx="82296" cy="4370832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847088"/>
            <a:ext cx="420624" cy="420624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865376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792224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Fill the frame to strengthen rhythm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322576"/>
            <a:ext cx="2091689" cy="3602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Fill the frame to strengthen rhythm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08426" y="1664208"/>
            <a:ext cx="2585465" cy="43708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408426" y="1664208"/>
            <a:ext cx="82296" cy="4370832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627882" y="1847088"/>
            <a:ext cx="420624" cy="420624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27882" y="1865376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58234" y="1792224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Break a pattern with one contrasting subject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64458" y="2322576"/>
            <a:ext cx="2091689" cy="3602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Break a pattern with one contrasting subject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58483" y="1664208"/>
            <a:ext cx="2585465" cy="43708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58483" y="1664208"/>
            <a:ext cx="82296" cy="4370832"/>
          </a:xfrm>
          <a:prstGeom prst="rect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377940" y="1847088"/>
            <a:ext cx="420624" cy="420624"/>
          </a:xfrm>
          <a:prstGeom prst="ellipse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77940" y="1865376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08292" y="1792224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Side light reveals texture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14516" y="2322576"/>
            <a:ext cx="2091689" cy="3602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Side light reveals texture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908542" y="1664208"/>
            <a:ext cx="2585465" cy="43708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908542" y="1664208"/>
            <a:ext cx="82296" cy="4370832"/>
          </a:xfrm>
          <a:prstGeom prst="rect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127998" y="1847088"/>
            <a:ext cx="420624" cy="420624"/>
          </a:xfrm>
          <a:prstGeom prst="ellipse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27998" y="1865376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58350" y="1792224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Repetition may be natural or arranged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64574" y="2322576"/>
            <a:ext cx="2091689" cy="3602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Repetition may be natural or arranged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58368" y="6318504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8368" y="6382512"/>
            <a:ext cx="484632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Master Mobile Photography · TGS-2026064718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0" y="6382512"/>
            <a:ext cx="50292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698480" y="6382512"/>
            <a:ext cx="73152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86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1083564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TOPIC 03 · K4 · K5 · A5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835640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Contrast Creates Separation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664208"/>
            <a:ext cx="2585465" cy="43708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664208"/>
            <a:ext cx="82296" cy="4370832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847088"/>
            <a:ext cx="420624" cy="420624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865376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792224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Tonal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322576"/>
            <a:ext cx="2091689" cy="3602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light against dark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08426" y="1664208"/>
            <a:ext cx="2585465" cy="43708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408426" y="1664208"/>
            <a:ext cx="82296" cy="4370832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627882" y="1847088"/>
            <a:ext cx="420624" cy="420624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27882" y="1865376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58234" y="1792224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Colour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64458" y="2322576"/>
            <a:ext cx="2091689" cy="3602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warm against cool or complementary hues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58483" y="1664208"/>
            <a:ext cx="2585465" cy="43708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58483" y="1664208"/>
            <a:ext cx="82296" cy="4370832"/>
          </a:xfrm>
          <a:prstGeom prst="rect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377940" y="1847088"/>
            <a:ext cx="420624" cy="420624"/>
          </a:xfrm>
          <a:prstGeom prst="ellipse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77940" y="1865376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08292" y="1792224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Scale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14516" y="2322576"/>
            <a:ext cx="2091689" cy="3602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large against small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908542" y="1664208"/>
            <a:ext cx="2585465" cy="43708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908542" y="1664208"/>
            <a:ext cx="82296" cy="4370832"/>
          </a:xfrm>
          <a:prstGeom prst="rect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127998" y="1847088"/>
            <a:ext cx="420624" cy="420624"/>
          </a:xfrm>
          <a:prstGeom prst="ellipse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27998" y="1865376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58350" y="1792224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Concept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64574" y="2322576"/>
            <a:ext cx="2091689" cy="3602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old against new, still against moving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58368" y="6318504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8368" y="6382512"/>
            <a:ext cx="484632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Master Mobile Photography · TGS-2026064718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0" y="6382512"/>
            <a:ext cx="50292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698480" y="6382512"/>
            <a:ext cx="73152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87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1083564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TOPIC 03 · K4 · K5 · A5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835640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Reflections and Visual Effects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664208"/>
            <a:ext cx="2585465" cy="43708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664208"/>
            <a:ext cx="82296" cy="4370832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847088"/>
            <a:ext cx="420624" cy="420624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865376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792224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Use water, glass or polished metal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322576"/>
            <a:ext cx="2091689" cy="3602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Use water, glass or polished metal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08426" y="1664208"/>
            <a:ext cx="2585465" cy="43708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408426" y="1664208"/>
            <a:ext cx="82296" cy="4370832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627882" y="1847088"/>
            <a:ext cx="420624" cy="420624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27882" y="1865376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58234" y="1792224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Control angle to keep or remove reflections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64458" y="2322576"/>
            <a:ext cx="2091689" cy="3602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Control angle to keep or remove reflections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58483" y="1664208"/>
            <a:ext cx="2585465" cy="43708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58483" y="1664208"/>
            <a:ext cx="82296" cy="4370832"/>
          </a:xfrm>
          <a:prstGeom prst="rect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377940" y="1847088"/>
            <a:ext cx="420624" cy="420624"/>
          </a:xfrm>
          <a:prstGeom prst="ellipse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77940" y="1865376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08292" y="1792224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Symmetry can strengthen a mirrored scene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14516" y="2322576"/>
            <a:ext cx="2091689" cy="3602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Symmetry can strengthen a mirrored scene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908542" y="1664208"/>
            <a:ext cx="2585465" cy="43708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908542" y="1664208"/>
            <a:ext cx="82296" cy="4370832"/>
          </a:xfrm>
          <a:prstGeom prst="rect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127998" y="1847088"/>
            <a:ext cx="420624" cy="420624"/>
          </a:xfrm>
          <a:prstGeom prst="ellipse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27998" y="1865376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58350" y="1792224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Check for unwanted photographer reflections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64574" y="2322576"/>
            <a:ext cx="2091689" cy="3602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Check for unwanted photographer reflections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58368" y="6318504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8368" y="6382512"/>
            <a:ext cx="484632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Master Mobile Photography · TGS-2026064718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0" y="6382512"/>
            <a:ext cx="50292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698480" y="6382512"/>
            <a:ext cx="73152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88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1083564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TOPIC 03 · K4 · K5 · A5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835640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Scale and Depth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664208"/>
            <a:ext cx="2585465" cy="43708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664208"/>
            <a:ext cx="82296" cy="4370832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847088"/>
            <a:ext cx="420624" cy="420624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865376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792224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Include a known-size reference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322576"/>
            <a:ext cx="2091689" cy="3602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Include a known-size reference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08426" y="1664208"/>
            <a:ext cx="2585465" cy="43708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408426" y="1664208"/>
            <a:ext cx="82296" cy="4370832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627882" y="1847088"/>
            <a:ext cx="420624" cy="420624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27882" y="1865376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58234" y="1792224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Layer foreground, midground and background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64458" y="2322576"/>
            <a:ext cx="2091689" cy="3602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Layer foreground, midground and background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58483" y="1664208"/>
            <a:ext cx="2585465" cy="43708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58483" y="1664208"/>
            <a:ext cx="82296" cy="4370832"/>
          </a:xfrm>
          <a:prstGeom prst="rect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377940" y="1847088"/>
            <a:ext cx="420624" cy="420624"/>
          </a:xfrm>
          <a:prstGeom prst="ellipse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77940" y="1865376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08292" y="1792224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Overlap creates depth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14516" y="2322576"/>
            <a:ext cx="2091689" cy="3602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Overlap creates depth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908542" y="1664208"/>
            <a:ext cx="2585465" cy="43708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908542" y="1664208"/>
            <a:ext cx="82296" cy="4370832"/>
          </a:xfrm>
          <a:prstGeom prst="rect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127998" y="1847088"/>
            <a:ext cx="420624" cy="420624"/>
          </a:xfrm>
          <a:prstGeom prst="ellipse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27998" y="1865376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58350" y="1792224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Perspective and focus can separate planes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64574" y="2322576"/>
            <a:ext cx="2091689" cy="3602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Perspective and focus can separate planes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58368" y="6318504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8368" y="6382512"/>
            <a:ext cx="484632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Master Mobile Photography · TGS-2026064718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0" y="6382512"/>
            <a:ext cx="50292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698480" y="6382512"/>
            <a:ext cx="73152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89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1083564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TOPIC 03 · K4 · K5 · A5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835640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Rule of Space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664208"/>
            <a:ext cx="2585465" cy="43708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664208"/>
            <a:ext cx="82296" cy="4370832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847088"/>
            <a:ext cx="420624" cy="420624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865376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792224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Leave room in front of a moving subject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322576"/>
            <a:ext cx="2091689" cy="3602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Leave room in front of a moving subject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08426" y="1664208"/>
            <a:ext cx="2585465" cy="43708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408426" y="1664208"/>
            <a:ext cx="82296" cy="4370832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627882" y="1847088"/>
            <a:ext cx="420624" cy="420624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27882" y="1865376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58234" y="1792224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Leave looking room in portraits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64458" y="2322576"/>
            <a:ext cx="2091689" cy="3602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Leave looking room in portraits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58483" y="1664208"/>
            <a:ext cx="2585465" cy="43708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58483" y="1664208"/>
            <a:ext cx="82296" cy="4370832"/>
          </a:xfrm>
          <a:prstGeom prst="rect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377940" y="1847088"/>
            <a:ext cx="420624" cy="420624"/>
          </a:xfrm>
          <a:prstGeom prst="ellipse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77940" y="1865376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08292" y="1792224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Tight space can communicate pressure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14516" y="2322576"/>
            <a:ext cx="2091689" cy="3602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Tight space can communicate pressure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908542" y="1664208"/>
            <a:ext cx="2585465" cy="43708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908542" y="1664208"/>
            <a:ext cx="82296" cy="4370832"/>
          </a:xfrm>
          <a:prstGeom prst="rect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127998" y="1847088"/>
            <a:ext cx="420624" cy="420624"/>
          </a:xfrm>
          <a:prstGeom prst="ellipse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27998" y="1865376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58350" y="1792224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Match the space to the emotional intent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64574" y="2322576"/>
            <a:ext cx="2091689" cy="3602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Match the space to the emotional intent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58368" y="6318504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8368" y="6382512"/>
            <a:ext cx="484632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Master Mobile Photography · TGS-2026064718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0" y="6382512"/>
            <a:ext cx="50292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698480" y="6382512"/>
            <a:ext cx="73152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90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1083564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TOPIC 03 · K4 · K5 · A5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835640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Point of View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664208"/>
            <a:ext cx="2585465" cy="43708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664208"/>
            <a:ext cx="82296" cy="4370832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847088"/>
            <a:ext cx="420624" cy="420624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865376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792224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Eye level feels neutral and relational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322576"/>
            <a:ext cx="2091689" cy="3602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Eye level feels neutral and relational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08426" y="1664208"/>
            <a:ext cx="2585465" cy="43708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408426" y="1664208"/>
            <a:ext cx="82296" cy="4370832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627882" y="1847088"/>
            <a:ext cx="420624" cy="420624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27882" y="1865376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58234" y="1792224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High angle can reveal layout or reduce dominance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64458" y="2322576"/>
            <a:ext cx="2091689" cy="3602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High angle can reveal layout or reduce dominance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58483" y="1664208"/>
            <a:ext cx="2585465" cy="43708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58483" y="1664208"/>
            <a:ext cx="82296" cy="4370832"/>
          </a:xfrm>
          <a:prstGeom prst="rect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377940" y="1847088"/>
            <a:ext cx="420624" cy="420624"/>
          </a:xfrm>
          <a:prstGeom prst="ellipse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77940" y="1865376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08292" y="1792224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Low angle can add presence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14516" y="2322576"/>
            <a:ext cx="2091689" cy="3602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Low angle can add presence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908542" y="1664208"/>
            <a:ext cx="2585465" cy="43708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908542" y="1664208"/>
            <a:ext cx="82296" cy="4370832"/>
          </a:xfrm>
          <a:prstGeom prst="rect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127998" y="1847088"/>
            <a:ext cx="420624" cy="420624"/>
          </a:xfrm>
          <a:prstGeom prst="ellipse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27998" y="1865376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58350" y="1792224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Bird's-eye and worm's-eye views reshape context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64574" y="2322576"/>
            <a:ext cx="2091689" cy="3602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Bird's-eye and worm's-eye views reshape context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58368" y="6318504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8368" y="6382512"/>
            <a:ext cx="484632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Master Mobile Photography · TGS-2026064718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0" y="6382512"/>
            <a:ext cx="50292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698480" y="6382512"/>
            <a:ext cx="73152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91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1083564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TOPIC 03 · K4 · K5 · A5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835640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Arrange Subjects for Emotion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664208"/>
            <a:ext cx="2585465" cy="43708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664208"/>
            <a:ext cx="82296" cy="4370832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847088"/>
            <a:ext cx="420624" cy="420624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865376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792224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Distance can imply connection or isolation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322576"/>
            <a:ext cx="2091689" cy="3602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Distance can imply connection or isolation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08426" y="1664208"/>
            <a:ext cx="2585465" cy="43708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408426" y="1664208"/>
            <a:ext cx="82296" cy="4370832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627882" y="1847088"/>
            <a:ext cx="420624" cy="420624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27882" y="1865376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58234" y="1792224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Body direction creates relationships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64458" y="2322576"/>
            <a:ext cx="2091689" cy="3602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Body direction creates relationships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58483" y="1664208"/>
            <a:ext cx="2585465" cy="43708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58483" y="1664208"/>
            <a:ext cx="82296" cy="4370832"/>
          </a:xfrm>
          <a:prstGeom prst="rect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377940" y="1847088"/>
            <a:ext cx="420624" cy="420624"/>
          </a:xfrm>
          <a:prstGeom prst="ellipse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77940" y="1865376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08292" y="1792224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Eye lines connect people and objects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14516" y="2322576"/>
            <a:ext cx="2091689" cy="3602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Eye lines connect people and objects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908542" y="1664208"/>
            <a:ext cx="2585465" cy="43708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908542" y="1664208"/>
            <a:ext cx="82296" cy="4370832"/>
          </a:xfrm>
          <a:prstGeom prst="rect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127998" y="1847088"/>
            <a:ext cx="420624" cy="420624"/>
          </a:xfrm>
          <a:prstGeom prst="ellipse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27998" y="1865376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58350" y="1792224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Natural gestures read more credibly than rigid poses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64574" y="2322576"/>
            <a:ext cx="2091689" cy="3602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Natural gestures read more credibly than rigid poses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58368" y="6318504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8368" y="6382512"/>
            <a:ext cx="484632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Master Mobile Photography · TGS-2026064718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0" y="6382512"/>
            <a:ext cx="50292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698480" y="6382512"/>
            <a:ext cx="73152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92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1083564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TOPIC 03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835640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The Blank-Canvas Check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77240" y="2148840"/>
            <a:ext cx="2425446" cy="288036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48840"/>
            <a:ext cx="2425446" cy="91440"/>
          </a:xfrm>
          <a:prstGeom prst="rect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615059" y="2532888"/>
            <a:ext cx="749808" cy="749808"/>
          </a:xfrm>
          <a:prstGeom prst="ellipse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15059" y="2660904"/>
            <a:ext cx="749808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3544" y="3584448"/>
            <a:ext cx="2132838" cy="11887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Scan every edge and corner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2686" y="3337560"/>
            <a:ext cx="310896" cy="4572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108A73"/>
                </a:solidFill>
                <a:latin typeface="Arial"/>
              </a:rPr>
              <a:t>▶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513582" y="2148840"/>
            <a:ext cx="2425446" cy="288036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513582" y="2148840"/>
            <a:ext cx="2425446" cy="91440"/>
          </a:xfrm>
          <a:prstGeom prst="rect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351401" y="2532888"/>
            <a:ext cx="749808" cy="749808"/>
          </a:xfrm>
          <a:prstGeom prst="ellipse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51401" y="2660904"/>
            <a:ext cx="749808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9886" y="3584448"/>
            <a:ext cx="2132838" cy="11887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Move yourself before moving the subject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39028" y="3337560"/>
            <a:ext cx="310896" cy="4572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108A73"/>
                </a:solidFill>
                <a:latin typeface="Arial"/>
              </a:rPr>
              <a:t>▶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49924" y="2148840"/>
            <a:ext cx="2425446" cy="288036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49924" y="2148840"/>
            <a:ext cx="2425446" cy="91440"/>
          </a:xfrm>
          <a:prstGeom prst="rect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087743" y="2532888"/>
            <a:ext cx="749808" cy="749808"/>
          </a:xfrm>
          <a:prstGeom prst="ellipse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087743" y="2660904"/>
            <a:ext cx="749808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96228" y="3584448"/>
            <a:ext cx="2132838" cy="11887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Simplify backgrounds and merge lines carefully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75370" y="3337560"/>
            <a:ext cx="310896" cy="4572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108A73"/>
                </a:solidFill>
                <a:latin typeface="Arial"/>
              </a:rPr>
              <a:t>▶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986266" y="2148840"/>
            <a:ext cx="2425446" cy="288036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986266" y="2148840"/>
            <a:ext cx="2425446" cy="91440"/>
          </a:xfrm>
          <a:prstGeom prst="rect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824085" y="2532888"/>
            <a:ext cx="749808" cy="749808"/>
          </a:xfrm>
          <a:prstGeom prst="ellipse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824085" y="2660904"/>
            <a:ext cx="749808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32570" y="3584448"/>
            <a:ext cx="2132838" cy="11887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Make every object earn its place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58368" y="6318504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8368" y="6382512"/>
            <a:ext cx="484632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Master Mobile Photography · TGS-2026064718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0" y="6382512"/>
            <a:ext cx="50292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698480" y="6382512"/>
            <a:ext cx="73152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93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1083564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TOPIC 03 · K4 · K5 · A5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835640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Orientation, Crop and Aspect Ratio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664208"/>
            <a:ext cx="2585465" cy="43708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664208"/>
            <a:ext cx="82296" cy="4370832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847088"/>
            <a:ext cx="420624" cy="420624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865376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792224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Portrait suits people and vertical channels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322576"/>
            <a:ext cx="2091689" cy="3602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Portrait suits people and vertical channels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08426" y="1664208"/>
            <a:ext cx="2585465" cy="43708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408426" y="1664208"/>
            <a:ext cx="82296" cy="4370832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627882" y="1847088"/>
            <a:ext cx="420624" cy="420624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27882" y="1865376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58234" y="1792224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Landscape suits environments and groups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64458" y="2322576"/>
            <a:ext cx="2091689" cy="3602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Landscape suits environments and groups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58483" y="1664208"/>
            <a:ext cx="2585465" cy="43708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58483" y="1664208"/>
            <a:ext cx="82296" cy="4370832"/>
          </a:xfrm>
          <a:prstGeom prst="rect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377940" y="1847088"/>
            <a:ext cx="420624" cy="420624"/>
          </a:xfrm>
          <a:prstGeom prst="ellipse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77940" y="1865376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08292" y="1792224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Square is graphic but removes side context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14516" y="2322576"/>
            <a:ext cx="2091689" cy="3602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Square is graphic but removes side context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908542" y="1664208"/>
            <a:ext cx="2585465" cy="43708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908542" y="1664208"/>
            <a:ext cx="82296" cy="4370832"/>
          </a:xfrm>
          <a:prstGeom prst="rect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127998" y="1847088"/>
            <a:ext cx="420624" cy="420624"/>
          </a:xfrm>
          <a:prstGeom prst="ellipse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27998" y="1865376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58350" y="1792224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Capture with the final use in mind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64574" y="2322576"/>
            <a:ext cx="2091689" cy="3602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Capture with the final use in mind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58368" y="6318504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8368" y="6382512"/>
            <a:ext cx="484632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Master Mobile Photography · TGS-2026064718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0" y="6382512"/>
            <a:ext cx="50292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698480" y="6382512"/>
            <a:ext cx="73152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94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1083564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TOPIC 03 · REAL-USE-CASE ACTIVITY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835640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Complete a Composition Photo Walk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673352"/>
            <a:ext cx="1325880" cy="438912"/>
          </a:xfrm>
          <a:prstGeom prst="roundRect">
            <a:avLst>
              <a:gd name="adj" fmla="val 8000"/>
            </a:avLst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773936"/>
            <a:ext cx="132588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ACTIVITY 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2331720"/>
            <a:ext cx="6903720" cy="10972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A design studio needs a visual library of textures and urban details for a Singapore-themed mood board.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3675887"/>
            <a:ext cx="6903720" cy="141732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886200"/>
            <a:ext cx="6400800" cy="100584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8A73"/>
                </a:solidFill>
                <a:latin typeface="Arial"/>
              </a:rPr>
              <a:t>YOU'LL PRODUCE</a:t>
            </a:r>
          </a:p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Ten-image contact sheet demonstrating ten named composition techniques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Full procedures: Learner Guide and Activity folder</a:t>
            </a:r>
          </a:p>
        </p:txBody>
      </p:sp>
      <p:pic>
        <p:nvPicPr>
          <p:cNvPr id="11" name="Picture 10" descr="activity-05-composition-macro.png"/>
          <p:cNvPicPr>
            <a:picLocks noChangeAspect="1"/>
          </p:cNvPicPr>
          <p:nvPr/>
        </p:nvPicPr>
        <p:blipFill>
          <a:blip r:embed="rId2"/>
          <a:srcRect l="19979" r="19979"/>
          <a:stretch>
            <a:fillRect/>
          </a:stretch>
        </p:blipFill>
        <p:spPr>
          <a:xfrm>
            <a:off x="7845552" y="1673352"/>
            <a:ext cx="3648456" cy="341985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58368" y="5376672"/>
            <a:ext cx="10744200" cy="4572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A5 · Smartphone, grid overlay, optional macro attachment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6318504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" y="6382512"/>
            <a:ext cx="484632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Master Mobile Photography · TGS-2026064718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0" y="6382512"/>
            <a:ext cx="50292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98480" y="6382512"/>
            <a:ext cx="73152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95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1083564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ACTIVITY 5 · ANALYSE BEFORE CAPTURE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835640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Visual Brief and Reference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activity-05-composition-macro.png"/>
          <p:cNvPicPr>
            <a:picLocks noChangeAspect="1"/>
          </p:cNvPicPr>
          <p:nvPr/>
        </p:nvPicPr>
        <p:blipFill>
          <a:blip r:embed="rId2"/>
          <a:srcRect l="7673" r="7673"/>
          <a:stretch>
            <a:fillRect/>
          </a:stretch>
        </p:blipFill>
        <p:spPr>
          <a:xfrm>
            <a:off x="658368" y="1645920"/>
            <a:ext cx="6629400" cy="4407408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562088" y="1664208"/>
            <a:ext cx="3931920" cy="84124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772400" y="1856232"/>
            <a:ext cx="411480" cy="411480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0" y="1901952"/>
            <a:ext cx="41148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66760" y="1801368"/>
            <a:ext cx="2880360" cy="5669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What attracts attention first?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62088" y="2688336"/>
            <a:ext cx="3931920" cy="84124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772400" y="2880360"/>
            <a:ext cx="411480" cy="411480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0" y="2926080"/>
            <a:ext cx="41148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66760" y="2825496"/>
            <a:ext cx="2880360" cy="5669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Which light, angle and composition choices are visible?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62088" y="3712464"/>
            <a:ext cx="3931920" cy="84124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772400" y="3904488"/>
            <a:ext cx="411480" cy="411480"/>
          </a:xfrm>
          <a:prstGeom prst="ellipse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0" y="3950208"/>
            <a:ext cx="41148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6760" y="3849624"/>
            <a:ext cx="2880360" cy="5669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What could fail technically or ethically?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562088" y="4736592"/>
            <a:ext cx="3931920" cy="84124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772400" y="4928616"/>
            <a:ext cx="411480" cy="411480"/>
          </a:xfrm>
          <a:prstGeom prst="ellipse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0" y="4974336"/>
            <a:ext cx="41148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66760" y="4873752"/>
            <a:ext cx="2880360" cy="5669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Which acceptance criterion does the image demonstrate?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8368" y="6318504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8368" y="6382512"/>
            <a:ext cx="484632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Master Mobile Photography · TGS-2026064718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0" y="6382512"/>
            <a:ext cx="50292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698480" y="6382512"/>
            <a:ext cx="73152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96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1083564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6845B"/>
                </a:solidFill>
                <a:latin typeface="Arial"/>
              </a:rPr>
              <a:t>ACTIVITY 5 · VERIFY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835640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Acceptance Review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1755648"/>
            <a:ext cx="10424160" cy="713232"/>
          </a:xfrm>
          <a:prstGeom prst="roundRect">
            <a:avLst>
              <a:gd name="adj" fmla="val 8000"/>
            </a:avLst>
          </a:prstGeom>
          <a:solidFill>
            <a:srgbClr val="E8F7EE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51560" y="1911095"/>
            <a:ext cx="402336" cy="402336"/>
          </a:xfrm>
          <a:prstGeom prst="ellipse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1938528"/>
            <a:ext cx="402336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883664"/>
            <a:ext cx="9144000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Ten distinct labelled techniques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2670048"/>
            <a:ext cx="10424160" cy="713232"/>
          </a:xfrm>
          <a:prstGeom prst="roundRect">
            <a:avLst>
              <a:gd name="adj" fmla="val 8000"/>
            </a:avLst>
          </a:prstGeom>
          <a:solidFill>
            <a:srgbClr val="E8F7EE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51560" y="2825496"/>
            <a:ext cx="402336" cy="402336"/>
          </a:xfrm>
          <a:prstGeom prst="ellipse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" y="2852928"/>
            <a:ext cx="402336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91640" y="2798064"/>
            <a:ext cx="9144000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Primary subject is immediately identifiable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3584448"/>
            <a:ext cx="10424160" cy="713232"/>
          </a:xfrm>
          <a:prstGeom prst="roundRect">
            <a:avLst>
              <a:gd name="adj" fmla="val 8000"/>
            </a:avLst>
          </a:prstGeom>
          <a:solidFill>
            <a:srgbClr val="E8F7EE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051560" y="3739896"/>
            <a:ext cx="402336" cy="402336"/>
          </a:xfrm>
          <a:prstGeom prst="ellipse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51560" y="3767328"/>
            <a:ext cx="402336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91640" y="3712463"/>
            <a:ext cx="9144000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Edges are clean and horizons intentional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4498848"/>
            <a:ext cx="10424160" cy="713232"/>
          </a:xfrm>
          <a:prstGeom prst="roundRect">
            <a:avLst>
              <a:gd name="adj" fmla="val 8000"/>
            </a:avLst>
          </a:prstGeom>
          <a:solidFill>
            <a:srgbClr val="E8F7EE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51560" y="4654296"/>
            <a:ext cx="402336" cy="402336"/>
          </a:xfrm>
          <a:prstGeom prst="ellipse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51560" y="4681728"/>
            <a:ext cx="402336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91640" y="4626864"/>
            <a:ext cx="9144000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No privacy or location-rule breach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2960" y="5532120"/>
            <a:ext cx="10424160" cy="43891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05840" y="5623560"/>
            <a:ext cx="1005840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Evidence: final images · completed checklist · settings/decision log · peer feedback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58368" y="6318504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8368" y="6382512"/>
            <a:ext cx="484632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Master Mobile Photography · TGS-2026064718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0" y="6382512"/>
            <a:ext cx="50292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98480" y="6382512"/>
            <a:ext cx="73152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97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1083564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TOPIC 03 · REAL-USE-CASE ACTIVITY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835640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Direct an Environmental Portrait and Property View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673352"/>
            <a:ext cx="1325880" cy="438912"/>
          </a:xfrm>
          <a:prstGeom prst="roundRect">
            <a:avLst>
              <a:gd name="adj" fmla="val 8000"/>
            </a:avLst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773936"/>
            <a:ext cx="132588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ACTIVITY 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2331720"/>
            <a:ext cx="6903720" cy="10972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A small-business profile needs an owner portrait plus an interior image that describes the working environment.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3675887"/>
            <a:ext cx="6903720" cy="141732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886200"/>
            <a:ext cx="6400800" cy="100584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8A73"/>
                </a:solidFill>
                <a:latin typeface="Arial"/>
              </a:rPr>
              <a:t>YOU'LL PRODUCE</a:t>
            </a:r>
          </a:p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Three portrait variations and two corrected interior views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Full procedures: Learner Guide and Activity folder</a:t>
            </a:r>
          </a:p>
        </p:txBody>
      </p:sp>
      <p:pic>
        <p:nvPicPr>
          <p:cNvPr id="11" name="Picture 10" descr="activity-06-portrait.png"/>
          <p:cNvPicPr>
            <a:picLocks noChangeAspect="1"/>
          </p:cNvPicPr>
          <p:nvPr/>
        </p:nvPicPr>
        <p:blipFill>
          <a:blip r:embed="rId2"/>
          <a:srcRect l="19979" r="19979"/>
          <a:stretch>
            <a:fillRect/>
          </a:stretch>
        </p:blipFill>
        <p:spPr>
          <a:xfrm>
            <a:off x="7845552" y="1673352"/>
            <a:ext cx="3648456" cy="341985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58368" y="5376672"/>
            <a:ext cx="10744200" cy="4572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A4 · A5 · Smartphone, window light, reflector/white card, tripod if available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6318504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" y="6382512"/>
            <a:ext cx="484632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Master Mobile Photography · TGS-2026064718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0" y="6382512"/>
            <a:ext cx="50292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98480" y="6382512"/>
            <a:ext cx="73152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98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1083564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ACTIVITY 6 · ANALYSE BEFORE CAPTURE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835640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Visual Brief and Reference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activity-06-property.png"/>
          <p:cNvPicPr>
            <a:picLocks noChangeAspect="1"/>
          </p:cNvPicPr>
          <p:nvPr/>
        </p:nvPicPr>
        <p:blipFill>
          <a:blip r:embed="rId2"/>
          <a:srcRect l="7673" r="7673"/>
          <a:stretch>
            <a:fillRect/>
          </a:stretch>
        </p:blipFill>
        <p:spPr>
          <a:xfrm>
            <a:off x="658368" y="1645920"/>
            <a:ext cx="6629400" cy="4407408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562088" y="1664208"/>
            <a:ext cx="3931920" cy="84124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772400" y="1856232"/>
            <a:ext cx="411480" cy="411480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0" y="1901952"/>
            <a:ext cx="41148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66760" y="1801368"/>
            <a:ext cx="2880360" cy="5669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What attracts attention first?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62088" y="2688336"/>
            <a:ext cx="3931920" cy="84124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772400" y="2880360"/>
            <a:ext cx="411480" cy="411480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0" y="2926080"/>
            <a:ext cx="41148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66760" y="2825496"/>
            <a:ext cx="2880360" cy="5669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Which light, angle and composition choices are visible?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62088" y="3712464"/>
            <a:ext cx="3931920" cy="84124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772400" y="3904488"/>
            <a:ext cx="411480" cy="411480"/>
          </a:xfrm>
          <a:prstGeom prst="ellipse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0" y="3950208"/>
            <a:ext cx="41148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6760" y="3849624"/>
            <a:ext cx="2880360" cy="5669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What could fail technically or ethically?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562088" y="4736592"/>
            <a:ext cx="3931920" cy="84124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772400" y="4928616"/>
            <a:ext cx="411480" cy="411480"/>
          </a:xfrm>
          <a:prstGeom prst="ellipse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0" y="4974336"/>
            <a:ext cx="41148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66760" y="4873752"/>
            <a:ext cx="2880360" cy="5669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Which acceptance criterion does the image demonstrate?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8368" y="6318504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8368" y="6382512"/>
            <a:ext cx="484632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Master Mobile Photography · TGS-2026064718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0" y="6382512"/>
            <a:ext cx="50292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698480" y="6382512"/>
            <a:ext cx="73152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99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1083564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6845B"/>
                </a:solidFill>
                <a:latin typeface="Arial"/>
              </a:rPr>
              <a:t>ACTIVITY 6 · VERIFY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835640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Acceptance Review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1755648"/>
            <a:ext cx="10424160" cy="713232"/>
          </a:xfrm>
          <a:prstGeom prst="roundRect">
            <a:avLst>
              <a:gd name="adj" fmla="val 8000"/>
            </a:avLst>
          </a:prstGeom>
          <a:solidFill>
            <a:srgbClr val="E8F7EE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51560" y="1911095"/>
            <a:ext cx="402336" cy="402336"/>
          </a:xfrm>
          <a:prstGeom prst="ellipse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1938528"/>
            <a:ext cx="402336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883664"/>
            <a:ext cx="9144000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Consent and use are recorded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2670048"/>
            <a:ext cx="10424160" cy="713232"/>
          </a:xfrm>
          <a:prstGeom prst="roundRect">
            <a:avLst>
              <a:gd name="adj" fmla="val 8000"/>
            </a:avLst>
          </a:prstGeom>
          <a:solidFill>
            <a:srgbClr val="E8F7EE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51560" y="2825496"/>
            <a:ext cx="402336" cy="402336"/>
          </a:xfrm>
          <a:prstGeom prst="ellipse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" y="2852928"/>
            <a:ext cx="402336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91640" y="2798064"/>
            <a:ext cx="9144000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Portrait has credible skin tone and sharp eyes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3584448"/>
            <a:ext cx="10424160" cy="713232"/>
          </a:xfrm>
          <a:prstGeom prst="roundRect">
            <a:avLst>
              <a:gd name="adj" fmla="val 8000"/>
            </a:avLst>
          </a:prstGeom>
          <a:solidFill>
            <a:srgbClr val="E8F7EE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051560" y="3739896"/>
            <a:ext cx="402336" cy="402336"/>
          </a:xfrm>
          <a:prstGeom prst="ellipse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51560" y="3767328"/>
            <a:ext cx="402336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91640" y="3712463"/>
            <a:ext cx="9144000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Interior verticals are controlled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4498848"/>
            <a:ext cx="10424160" cy="713232"/>
          </a:xfrm>
          <a:prstGeom prst="roundRect">
            <a:avLst>
              <a:gd name="adj" fmla="val 8000"/>
            </a:avLst>
          </a:prstGeom>
          <a:solidFill>
            <a:srgbClr val="E8F7EE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51560" y="4654296"/>
            <a:ext cx="402336" cy="402336"/>
          </a:xfrm>
          <a:prstGeom prst="ellipse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51560" y="4681728"/>
            <a:ext cx="402336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91640" y="4626864"/>
            <a:ext cx="9144000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Five images communicate person and place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2960" y="5532120"/>
            <a:ext cx="10424160" cy="43891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05840" y="5623560"/>
            <a:ext cx="1005840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Evidence: final images · completed checklist · settings/decision log · peer feedback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58368" y="6318504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8368" y="6382512"/>
            <a:ext cx="484632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Master Mobile Photography · TGS-2026064718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0" y="6382512"/>
            <a:ext cx="50292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98480" y="6382512"/>
            <a:ext cx="73152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100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1083564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CHECK YOUR UNDERSTANDING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835640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Topic 03 Recap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664208"/>
            <a:ext cx="2585465" cy="43708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664208"/>
            <a:ext cx="82296" cy="4370832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847088"/>
            <a:ext cx="420624" cy="420624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865376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792224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Explain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322576"/>
            <a:ext cx="2091689" cy="3602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Point of View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08426" y="1664208"/>
            <a:ext cx="2585465" cy="43708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408426" y="1664208"/>
            <a:ext cx="82296" cy="4370832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627882" y="1847088"/>
            <a:ext cx="420624" cy="420624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27882" y="1865376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58234" y="1792224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Explain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64458" y="2322576"/>
            <a:ext cx="2091689" cy="3602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Arrange Subjects for Emotion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58483" y="1664208"/>
            <a:ext cx="2585465" cy="43708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58483" y="1664208"/>
            <a:ext cx="82296" cy="4370832"/>
          </a:xfrm>
          <a:prstGeom prst="rect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377940" y="1847088"/>
            <a:ext cx="420624" cy="420624"/>
          </a:xfrm>
          <a:prstGeom prst="ellipse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77940" y="1865376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08292" y="1792224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Explain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14516" y="2322576"/>
            <a:ext cx="2091689" cy="3602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The Blank-Canvas Check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908542" y="1664208"/>
            <a:ext cx="2585465" cy="43708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908542" y="1664208"/>
            <a:ext cx="82296" cy="4370832"/>
          </a:xfrm>
          <a:prstGeom prst="rect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127998" y="1847088"/>
            <a:ext cx="420624" cy="420624"/>
          </a:xfrm>
          <a:prstGeom prst="ellipse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27998" y="1865376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58350" y="1792224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Explain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64574" y="2322576"/>
            <a:ext cx="2091689" cy="3602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Orientation, Crop and Aspect Ratio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58368" y="6318504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8368" y="6382512"/>
            <a:ext cx="484632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Master Mobile Photography · TGS-2026064718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0" y="6382512"/>
            <a:ext cx="50292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698480" y="6382512"/>
            <a:ext cx="73152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101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2377440"/>
            <a:ext cx="12191695" cy="9144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4400" b="1">
                <a:solidFill>
                  <a:srgbClr val="161B26"/>
                </a:solidFill>
                <a:latin typeface="Arial"/>
              </a:rPr>
              <a:t>Lunch Break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3520440"/>
            <a:ext cx="12191695" cy="5486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1">
                <a:solidFill>
                  <a:srgbClr val="C77600"/>
                </a:solidFill>
                <a:latin typeface="Arial"/>
              </a:rPr>
              <a:t>45 minutes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6318504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6382512"/>
            <a:ext cx="484632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Master Mobile Photography · TGS-2026064718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0" y="6382512"/>
            <a:ext cx="50292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98480" y="6382512"/>
            <a:ext cx="73152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102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58368" y="1737360"/>
            <a:ext cx="10835640" cy="3291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58368" y="1737360"/>
            <a:ext cx="128016" cy="3291840"/>
          </a:xfrm>
          <a:prstGeom prst="rect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80160" y="2148840"/>
            <a:ext cx="868680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16845B"/>
                </a:solidFill>
                <a:latin typeface="Arial"/>
              </a:rPr>
              <a:t>TOPIC 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2606040"/>
            <a:ext cx="8961120" cy="9144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3400" b="1">
                <a:solidFill>
                  <a:srgbClr val="161B26"/>
                </a:solidFill>
                <a:latin typeface="Arial"/>
              </a:rPr>
              <a:t>Enhancing Visual Quality and Effects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3703320"/>
            <a:ext cx="8961120" cy="7315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Shot size · camera angle · creative capture · specialty cameras · editing · critique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38360" y="2194560"/>
            <a:ext cx="1097280" cy="109728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5600" b="1">
                <a:solidFill>
                  <a:srgbClr val="16845B"/>
                </a:solidFill>
                <a:latin typeface="Arial"/>
              </a:rPr>
              <a:t>04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6318504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6382512"/>
            <a:ext cx="484632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Master Mobile Photography · TGS-2026064718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6382512"/>
            <a:ext cx="50292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98480" y="6382512"/>
            <a:ext cx="73152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103</a:t>
            </a: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1083564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6845B"/>
                </a:solidFill>
                <a:latin typeface="Arial"/>
              </a:rPr>
              <a:t>K6 · K7 · A6 · A7 · PART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835640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Topic 04 Roadmap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664208"/>
            <a:ext cx="2585465" cy="210312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664208"/>
            <a:ext cx="82296" cy="2103120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847088"/>
            <a:ext cx="420624" cy="420624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865376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792224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Shot Sizes Build a Visual Story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322576"/>
            <a:ext cx="2091689" cy="133502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Shot Sizes Build a Visual Story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08426" y="1664208"/>
            <a:ext cx="2585465" cy="210312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408426" y="1664208"/>
            <a:ext cx="82296" cy="2103120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627882" y="1847088"/>
            <a:ext cx="420624" cy="420624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27882" y="1865376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58234" y="1792224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A Five-Shot Coverage Pattern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64458" y="2322576"/>
            <a:ext cx="2091689" cy="133502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A Five-Shot Coverage Pattern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58483" y="1664208"/>
            <a:ext cx="2585465" cy="210312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58483" y="1664208"/>
            <a:ext cx="82296" cy="2103120"/>
          </a:xfrm>
          <a:prstGeom prst="rect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377940" y="1847088"/>
            <a:ext cx="420624" cy="420624"/>
          </a:xfrm>
          <a:prstGeom prst="ellipse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77940" y="1865376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08292" y="1792224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Camera Height and Angle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14516" y="2322576"/>
            <a:ext cx="2091689" cy="133502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Camera Height and Angle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908542" y="1664208"/>
            <a:ext cx="2585465" cy="210312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908542" y="1664208"/>
            <a:ext cx="82296" cy="2103120"/>
          </a:xfrm>
          <a:prstGeom prst="rect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127998" y="1847088"/>
            <a:ext cx="420624" cy="420624"/>
          </a:xfrm>
          <a:prstGeom prst="ellipse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27998" y="1865376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58350" y="1792224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Perspective as an Effect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64574" y="2322576"/>
            <a:ext cx="2091689" cy="133502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Perspective as an Effect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58368" y="3931920"/>
            <a:ext cx="2585465" cy="210312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58368" y="3931920"/>
            <a:ext cx="82296" cy="2103120"/>
          </a:xfrm>
          <a:prstGeom prst="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877824" y="4114800"/>
            <a:ext cx="420624" cy="420624"/>
          </a:xfrm>
          <a:prstGeom prst="ellipse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77824" y="4133088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408176" y="4059936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Portrait Mode and Depth Effects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4400" y="4590288"/>
            <a:ext cx="2091689" cy="133502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Portrait Mode and Depth Effects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408426" y="3931920"/>
            <a:ext cx="2585465" cy="210312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3408426" y="3931920"/>
            <a:ext cx="82296" cy="2103120"/>
          </a:xfrm>
          <a:prstGeom prst="rect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3627882" y="4114800"/>
            <a:ext cx="420624" cy="420624"/>
          </a:xfrm>
          <a:prstGeom prst="ellipse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627882" y="4133088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158234" y="4059936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Macro and Close-Up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664458" y="4590288"/>
            <a:ext cx="2091689" cy="133502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Macro and Close-Up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158483" y="3931920"/>
            <a:ext cx="2585465" cy="210312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158483" y="3931920"/>
            <a:ext cx="82296" cy="2103120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6377940" y="4114800"/>
            <a:ext cx="420624" cy="420624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377940" y="4133088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908292" y="4059936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Panorama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14516" y="4590288"/>
            <a:ext cx="2091689" cy="133502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Panorama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908542" y="3931920"/>
            <a:ext cx="2585465" cy="210312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8908542" y="3931920"/>
            <a:ext cx="82296" cy="2103120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9127998" y="4114800"/>
            <a:ext cx="420624" cy="420624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127998" y="4133088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658350" y="4059936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Panning and Motion Blur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164574" y="4590288"/>
            <a:ext cx="2091689" cy="133502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Panning and Motion Blur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58368" y="6318504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58368" y="6382512"/>
            <a:ext cx="484632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Master Mobile Photography · TGS-2026064718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657600" y="6382512"/>
            <a:ext cx="50292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698480" y="6382512"/>
            <a:ext cx="73152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104</a:t>
            </a: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1083564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6845B"/>
                </a:solidFill>
                <a:latin typeface="Arial"/>
              </a:rPr>
              <a:t>K6 · K7 · A6 · A7 · PART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835640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Topic 04 Roadmap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664208"/>
            <a:ext cx="3502152" cy="1347216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664208"/>
            <a:ext cx="82296" cy="1347216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847088"/>
            <a:ext cx="420624" cy="420624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865376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792224"/>
            <a:ext cx="260604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Long Exposure and Light Painting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322576"/>
            <a:ext cx="3008376" cy="5791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Long Exposure and Light Painting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25112" y="1664208"/>
            <a:ext cx="3502152" cy="1347216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25112" y="1664208"/>
            <a:ext cx="82296" cy="1347216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544568" y="1847088"/>
            <a:ext cx="420624" cy="420624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44568" y="1865376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74920" y="1792224"/>
            <a:ext cx="260604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Silhouette, Reflection and Flare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81144" y="2322576"/>
            <a:ext cx="3008376" cy="5791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Silhouette, Reflection and Flare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991856" y="1664208"/>
            <a:ext cx="3502152" cy="1347216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991856" y="1664208"/>
            <a:ext cx="82296" cy="1347216"/>
          </a:xfrm>
          <a:prstGeom prst="rect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211312" y="1847088"/>
            <a:ext cx="420624" cy="420624"/>
          </a:xfrm>
          <a:prstGeom prst="ellipse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11312" y="1865376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41664" y="1792224"/>
            <a:ext cx="260604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Specialty Camera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47888" y="2322576"/>
            <a:ext cx="3008376" cy="5791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Action Camera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8368" y="3176016"/>
            <a:ext cx="3502152" cy="1347216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58368" y="3176016"/>
            <a:ext cx="82296" cy="1347216"/>
          </a:xfrm>
          <a:prstGeom prst="rect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77824" y="3358896"/>
            <a:ext cx="420624" cy="420624"/>
          </a:xfrm>
          <a:prstGeom prst="ellipse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77824" y="3377184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08176" y="3304032"/>
            <a:ext cx="260604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Specialty Camera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3834384"/>
            <a:ext cx="3008376" cy="5791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Lomography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25112" y="3176016"/>
            <a:ext cx="3502152" cy="1347216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325112" y="3176016"/>
            <a:ext cx="82296" cy="1347216"/>
          </a:xfrm>
          <a:prstGeom prst="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4544568" y="3358896"/>
            <a:ext cx="420624" cy="420624"/>
          </a:xfrm>
          <a:prstGeom prst="ellipse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44568" y="3377184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74920" y="3304032"/>
            <a:ext cx="260604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Lens and Equipment Care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81144" y="3834384"/>
            <a:ext cx="3008376" cy="5791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Lens and Equipment Care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991856" y="3176016"/>
            <a:ext cx="3502152" cy="1347216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991856" y="3176016"/>
            <a:ext cx="82296" cy="1347216"/>
          </a:xfrm>
          <a:prstGeom prst="rect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8211312" y="3358896"/>
            <a:ext cx="420624" cy="420624"/>
          </a:xfrm>
          <a:prstGeom prst="ellipse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211312" y="3377184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741664" y="3304032"/>
            <a:ext cx="260604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The Mobile Editing Pipeline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47888" y="3834384"/>
            <a:ext cx="3008376" cy="5791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The Mobile Editing Pipeline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58368" y="4687824"/>
            <a:ext cx="3502152" cy="1347216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58368" y="4687824"/>
            <a:ext cx="82296" cy="1347216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877824" y="4870704"/>
            <a:ext cx="420624" cy="420624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77824" y="4888992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408176" y="4815840"/>
            <a:ext cx="260604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Tone Before Colour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14400" y="5346192"/>
            <a:ext cx="3008376" cy="5791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Tone Before Colour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4325112" y="4687824"/>
            <a:ext cx="3502152" cy="1347216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4325112" y="4687824"/>
            <a:ext cx="82296" cy="1347216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4544568" y="4870704"/>
            <a:ext cx="420624" cy="420624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544568" y="4888992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074920" y="4815840"/>
            <a:ext cx="260604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Colour and Detail with Restraint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581144" y="5346192"/>
            <a:ext cx="3008376" cy="5791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Colour and Detail with Restraint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7991856" y="4687824"/>
            <a:ext cx="3502152" cy="1347216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7991856" y="4687824"/>
            <a:ext cx="82296" cy="1347216"/>
          </a:xfrm>
          <a:prstGeom prst="rect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8211312" y="4870704"/>
            <a:ext cx="420624" cy="420624"/>
          </a:xfrm>
          <a:prstGeom prst="ellipse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211312" y="4888992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9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741664" y="4815840"/>
            <a:ext cx="260604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Feedback That Improves the Next Shot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247888" y="5346192"/>
            <a:ext cx="3008376" cy="5791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Feedback That Improves the Next Shot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58368" y="6318504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58368" y="6382512"/>
            <a:ext cx="484632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Master Mobile Photography · TGS-2026064718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657600" y="6382512"/>
            <a:ext cx="50292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0698480" y="6382512"/>
            <a:ext cx="73152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105</a:t>
            </a: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1083564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6845B"/>
                </a:solidFill>
                <a:latin typeface="Arial"/>
              </a:rPr>
              <a:t>TOPIC 04 · K6 · K7 · A6 · A7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835640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Shot Sizes Build a Visual Story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664208"/>
            <a:ext cx="2585465" cy="43708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664208"/>
            <a:ext cx="82296" cy="4370832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847088"/>
            <a:ext cx="420624" cy="420624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865376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792224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Extreme long establishes place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322576"/>
            <a:ext cx="2091689" cy="3602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Extreme long establishes place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08426" y="1664208"/>
            <a:ext cx="2585465" cy="43708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408426" y="1664208"/>
            <a:ext cx="82296" cy="4370832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627882" y="1847088"/>
            <a:ext cx="420624" cy="420624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27882" y="1865376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58234" y="1792224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Long/full shows the whole subject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64458" y="2322576"/>
            <a:ext cx="2091689" cy="3602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Long/full shows the whole subject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58483" y="1664208"/>
            <a:ext cx="2585465" cy="43708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58483" y="1664208"/>
            <a:ext cx="82296" cy="4370832"/>
          </a:xfrm>
          <a:prstGeom prst="rect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377940" y="1847088"/>
            <a:ext cx="420624" cy="420624"/>
          </a:xfrm>
          <a:prstGeom prst="ellipse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77940" y="1865376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08292" y="1792224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Medium shows action and relationship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14516" y="2322576"/>
            <a:ext cx="2091689" cy="3602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Medium shows action and relationship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908542" y="1664208"/>
            <a:ext cx="2585465" cy="43708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908542" y="1664208"/>
            <a:ext cx="82296" cy="4370832"/>
          </a:xfrm>
          <a:prstGeom prst="rect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127998" y="1847088"/>
            <a:ext cx="420624" cy="420624"/>
          </a:xfrm>
          <a:prstGeom prst="ellipse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27998" y="1865376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58350" y="1792224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Close and extreme close reveal emotion or detail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64574" y="2322576"/>
            <a:ext cx="2091689" cy="3602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Close and extreme close reveal emotion or detail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58368" y="6318504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8368" y="6382512"/>
            <a:ext cx="484632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Master Mobile Photography · TGS-2026064718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0" y="6382512"/>
            <a:ext cx="50292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698480" y="6382512"/>
            <a:ext cx="73152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106</a:t>
            </a: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1083564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6845B"/>
                </a:solidFill>
                <a:latin typeface="Arial"/>
              </a:rPr>
              <a:t>TOPIC 04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835640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 Five-Shot Coverage Pattern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77240" y="2148840"/>
            <a:ext cx="1878177" cy="288036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48840"/>
            <a:ext cx="1878177" cy="91440"/>
          </a:xfrm>
          <a:prstGeom prst="rect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341424" y="2532888"/>
            <a:ext cx="749808" cy="749808"/>
          </a:xfrm>
          <a:prstGeom prst="ellipse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41424" y="2660904"/>
            <a:ext cx="749808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3544" y="3584448"/>
            <a:ext cx="1585569" cy="11887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Establishing wide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55417" y="3337560"/>
            <a:ext cx="310896" cy="4572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16845B"/>
                </a:solidFill>
                <a:latin typeface="Arial"/>
              </a:rPr>
              <a:t>▶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966313" y="2148840"/>
            <a:ext cx="1878177" cy="288036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966313" y="2148840"/>
            <a:ext cx="1878177" cy="91440"/>
          </a:xfrm>
          <a:prstGeom prst="rect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530498" y="2532888"/>
            <a:ext cx="749808" cy="749808"/>
          </a:xfrm>
          <a:prstGeom prst="ellipse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30498" y="2660904"/>
            <a:ext cx="749808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12617" y="3584448"/>
            <a:ext cx="1585569" cy="11887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Medium action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44491" y="3337560"/>
            <a:ext cx="310896" cy="4572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16845B"/>
                </a:solidFill>
                <a:latin typeface="Arial"/>
              </a:rPr>
              <a:t>▶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155387" y="2148840"/>
            <a:ext cx="1878177" cy="288036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155387" y="2148840"/>
            <a:ext cx="1878177" cy="91440"/>
          </a:xfrm>
          <a:prstGeom prst="rect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719572" y="2532888"/>
            <a:ext cx="749808" cy="749808"/>
          </a:xfrm>
          <a:prstGeom prst="ellipse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719572" y="2660904"/>
            <a:ext cx="749808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01691" y="3584448"/>
            <a:ext cx="1585569" cy="11887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Close-up detail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33564" y="3337560"/>
            <a:ext cx="310896" cy="4572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16845B"/>
                </a:solidFill>
                <a:latin typeface="Arial"/>
              </a:rPr>
              <a:t>▶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44460" y="2148840"/>
            <a:ext cx="1878177" cy="288036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344460" y="2148840"/>
            <a:ext cx="1878177" cy="91440"/>
          </a:xfrm>
          <a:prstGeom prst="rect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908645" y="2532888"/>
            <a:ext cx="749808" cy="749808"/>
          </a:xfrm>
          <a:prstGeom prst="ellipse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08645" y="2660904"/>
            <a:ext cx="749808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90764" y="3584448"/>
            <a:ext cx="1585569" cy="11887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Reaction or portrait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22638" y="3337560"/>
            <a:ext cx="310896" cy="4572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16845B"/>
                </a:solidFill>
                <a:latin typeface="Arial"/>
              </a:rPr>
              <a:t>▶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533534" y="2148840"/>
            <a:ext cx="1878177" cy="288036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533534" y="2148840"/>
            <a:ext cx="1878177" cy="91440"/>
          </a:xfrm>
          <a:prstGeom prst="rect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0097719" y="2532888"/>
            <a:ext cx="749808" cy="749808"/>
          </a:xfrm>
          <a:prstGeom prst="ellipse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097719" y="2660904"/>
            <a:ext cx="749808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5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79838" y="3584448"/>
            <a:ext cx="1585569" cy="11887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Alternative angle for edit flexibility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58368" y="6318504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58368" y="6382512"/>
            <a:ext cx="484632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Master Mobile Photography · TGS-2026064718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0" y="6382512"/>
            <a:ext cx="50292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98480" y="6382512"/>
            <a:ext cx="73152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107</a:t>
            </a: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1083564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6845B"/>
                </a:solidFill>
                <a:latin typeface="Arial"/>
              </a:rPr>
              <a:t>TOPIC 04 · K6 · K7 · A6 · A7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835640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Camera Height and Angle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664208"/>
            <a:ext cx="2585465" cy="43708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664208"/>
            <a:ext cx="82296" cy="4370832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847088"/>
            <a:ext cx="420624" cy="420624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865376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792224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Eye level feels balanced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322576"/>
            <a:ext cx="2091689" cy="3602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Eye level feels balanced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08426" y="1664208"/>
            <a:ext cx="2585465" cy="43708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408426" y="1664208"/>
            <a:ext cx="82296" cy="4370832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627882" y="1847088"/>
            <a:ext cx="420624" cy="420624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27882" y="1865376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58234" y="1792224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High angle reveals layout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64458" y="2322576"/>
            <a:ext cx="2091689" cy="3602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High angle reveals layout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58483" y="1664208"/>
            <a:ext cx="2585465" cy="43708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58483" y="1664208"/>
            <a:ext cx="82296" cy="4370832"/>
          </a:xfrm>
          <a:prstGeom prst="rect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377940" y="1847088"/>
            <a:ext cx="420624" cy="420624"/>
          </a:xfrm>
          <a:prstGeom prst="ellipse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77940" y="1865376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08292" y="1792224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Low angle gives presence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14516" y="2322576"/>
            <a:ext cx="2091689" cy="3602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Low angle gives presence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908542" y="1664208"/>
            <a:ext cx="2585465" cy="43708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908542" y="1664208"/>
            <a:ext cx="82296" cy="4370832"/>
          </a:xfrm>
          <a:prstGeom prst="rect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127998" y="1847088"/>
            <a:ext cx="420624" cy="420624"/>
          </a:xfrm>
          <a:prstGeom prst="ellipse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27998" y="1865376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58350" y="1792224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Bird's-eye and worm's-eye create graphic views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64574" y="2322576"/>
            <a:ext cx="2091689" cy="3602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Bird's-eye and worm's-eye create graphic views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58368" y="6318504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8368" y="6382512"/>
            <a:ext cx="484632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Master Mobile Photography · TGS-2026064718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0" y="6382512"/>
            <a:ext cx="50292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698480" y="6382512"/>
            <a:ext cx="73152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108</a:t>
            </a: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1083564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6845B"/>
                </a:solidFill>
                <a:latin typeface="Arial"/>
              </a:rPr>
              <a:t>TOPIC 04 · K6 · K7 · A6 · A7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835640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Perspective as an Effect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664208"/>
            <a:ext cx="2585465" cy="43708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664208"/>
            <a:ext cx="82296" cy="4370832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847088"/>
            <a:ext cx="420624" cy="420624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865376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792224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Get close for exaggerated foreground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322576"/>
            <a:ext cx="2091689" cy="3602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Get close for exaggerated foreground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08426" y="1664208"/>
            <a:ext cx="2585465" cy="43708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408426" y="1664208"/>
            <a:ext cx="82296" cy="4370832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627882" y="1847088"/>
            <a:ext cx="420624" cy="420624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27882" y="1865376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58234" y="1792224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Step back for more natural proportions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64458" y="2322576"/>
            <a:ext cx="2091689" cy="3602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Step back for more natural proportions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58483" y="1664208"/>
            <a:ext cx="2585465" cy="43708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58483" y="1664208"/>
            <a:ext cx="82296" cy="4370832"/>
          </a:xfrm>
          <a:prstGeom prst="rect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377940" y="1847088"/>
            <a:ext cx="420624" cy="420624"/>
          </a:xfrm>
          <a:prstGeom prst="ellipse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77940" y="1865376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08292" y="1792224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Tilt only when the instability is intentional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14516" y="2322576"/>
            <a:ext cx="2091689" cy="3602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Tilt only when the instability is intentional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908542" y="1664208"/>
            <a:ext cx="2585465" cy="43708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908542" y="1664208"/>
            <a:ext cx="82296" cy="4370832"/>
          </a:xfrm>
          <a:prstGeom prst="rect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127998" y="1847088"/>
            <a:ext cx="420624" cy="420624"/>
          </a:xfrm>
          <a:prstGeom prst="ellipse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27998" y="1865376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58350" y="1792224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Keep verticals straight for property and product work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64574" y="2322576"/>
            <a:ext cx="2091689" cy="3602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Keep verticals straight for property and product work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58368" y="6318504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8368" y="6382512"/>
            <a:ext cx="484632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Master Mobile Photography · TGS-2026064718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0" y="6382512"/>
            <a:ext cx="50292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698480" y="6382512"/>
            <a:ext cx="73152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109</a:t>
            </a: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1083564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6845B"/>
                </a:solidFill>
                <a:latin typeface="Arial"/>
              </a:rPr>
              <a:t>TOPIC 04 · K6 · K7 · A6 · A7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835640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Portrait Mode and Depth Effects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664208"/>
            <a:ext cx="2585465" cy="43708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664208"/>
            <a:ext cx="82296" cy="4370832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847088"/>
            <a:ext cx="420624" cy="420624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865376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792224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Separate subject from background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322576"/>
            <a:ext cx="2091689" cy="3602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Separate subject from background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08426" y="1664208"/>
            <a:ext cx="2585465" cy="43708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408426" y="1664208"/>
            <a:ext cx="82296" cy="4370832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627882" y="1847088"/>
            <a:ext cx="420624" cy="420624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27882" y="1865376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58234" y="1792224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Keep edges away from busy textures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64458" y="2322576"/>
            <a:ext cx="2091689" cy="3602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Keep edges away from busy textures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58483" y="1664208"/>
            <a:ext cx="2585465" cy="43708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58483" y="1664208"/>
            <a:ext cx="82296" cy="4370832"/>
          </a:xfrm>
          <a:prstGeom prst="rect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377940" y="1847088"/>
            <a:ext cx="420624" cy="420624"/>
          </a:xfrm>
          <a:prstGeom prst="ellipse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77940" y="1865376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08292" y="1792224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Use sufficient light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14516" y="2322576"/>
            <a:ext cx="2091689" cy="3602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Use sufficient light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908542" y="1664208"/>
            <a:ext cx="2585465" cy="43708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908542" y="1664208"/>
            <a:ext cx="82296" cy="4370832"/>
          </a:xfrm>
          <a:prstGeom prst="rect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127998" y="1847088"/>
            <a:ext cx="420624" cy="420624"/>
          </a:xfrm>
          <a:prstGeom prst="ellipse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27998" y="1865376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58350" y="1792224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Inspect hair, glasses, fingers and foreground errors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64574" y="2322576"/>
            <a:ext cx="2091689" cy="3602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Inspect hair, glasses, fingers and foreground errors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58368" y="6318504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8368" y="6382512"/>
            <a:ext cx="484632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Master Mobile Photography · TGS-2026064718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0" y="6382512"/>
            <a:ext cx="50292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698480" y="6382512"/>
            <a:ext cx="73152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110</a:t>
            </a: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1083564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6845B"/>
                </a:solidFill>
                <a:latin typeface="Arial"/>
              </a:rPr>
              <a:t>TOPIC 04 · K6 · K7 · A6 · A7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835640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Macro and Close-Up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664208"/>
            <a:ext cx="2585465" cy="43708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664208"/>
            <a:ext cx="82296" cy="4370832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847088"/>
            <a:ext cx="420624" cy="420624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865376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792224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Stabilise the phone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322576"/>
            <a:ext cx="2091689" cy="3602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Stabilise the phone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08426" y="1664208"/>
            <a:ext cx="2585465" cy="43708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408426" y="1664208"/>
            <a:ext cx="82296" cy="4370832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627882" y="1847088"/>
            <a:ext cx="420624" cy="420624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27882" y="1865376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58234" y="1792224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Find the minimum focus distance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64458" y="2322576"/>
            <a:ext cx="2091689" cy="3602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Find the minimum focus distance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58483" y="1664208"/>
            <a:ext cx="2585465" cy="43708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58483" y="1664208"/>
            <a:ext cx="82296" cy="4370832"/>
          </a:xfrm>
          <a:prstGeom prst="rect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377940" y="1847088"/>
            <a:ext cx="420624" cy="420624"/>
          </a:xfrm>
          <a:prstGeom prst="ellipse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77940" y="1865376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08292" y="1792224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Focus on the most informative detail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14516" y="2322576"/>
            <a:ext cx="2091689" cy="3602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Focus on the most informative detail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908542" y="1664208"/>
            <a:ext cx="2585465" cy="43708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908542" y="1664208"/>
            <a:ext cx="82296" cy="4370832"/>
          </a:xfrm>
          <a:prstGeom prst="rect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127998" y="1847088"/>
            <a:ext cx="420624" cy="420624"/>
          </a:xfrm>
          <a:prstGeom prst="ellipse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27998" y="1865376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58350" y="1792224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Use side light for texture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64574" y="2322576"/>
            <a:ext cx="2091689" cy="3602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Use side light for texture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58368" y="6318504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8368" y="6382512"/>
            <a:ext cx="484632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Master Mobile Photography · TGS-2026064718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0" y="6382512"/>
            <a:ext cx="50292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698480" y="6382512"/>
            <a:ext cx="73152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111</a:t>
            </a: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1083564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6845B"/>
                </a:solidFill>
                <a:latin typeface="Arial"/>
              </a:rPr>
              <a:t>TOPIC 04 · K6 · K7 · A6 · A7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835640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Panorama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664208"/>
            <a:ext cx="2585465" cy="43708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664208"/>
            <a:ext cx="82296" cy="4370832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847088"/>
            <a:ext cx="420624" cy="420624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865376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792224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Lock a stable stance and level horizon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322576"/>
            <a:ext cx="2091689" cy="3602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Lock a stable stance and level horizon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08426" y="1664208"/>
            <a:ext cx="2585465" cy="43708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408426" y="1664208"/>
            <a:ext cx="82296" cy="4370832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627882" y="1847088"/>
            <a:ext cx="420624" cy="420624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27882" y="1865376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58234" y="1792224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Sweep slowly around the phone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64458" y="2322576"/>
            <a:ext cx="2091689" cy="3602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Sweep slowly around the phone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58483" y="1664208"/>
            <a:ext cx="2585465" cy="43708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58483" y="1664208"/>
            <a:ext cx="82296" cy="4370832"/>
          </a:xfrm>
          <a:prstGeom prst="rect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377940" y="1847088"/>
            <a:ext cx="420624" cy="420624"/>
          </a:xfrm>
          <a:prstGeom prst="ellipse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77940" y="1865376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08292" y="1792224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Avoid subjects crossing the seam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14516" y="2322576"/>
            <a:ext cx="2091689" cy="3602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Avoid subjects crossing the seam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908542" y="1664208"/>
            <a:ext cx="2585465" cy="43708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908542" y="1664208"/>
            <a:ext cx="82296" cy="4370832"/>
          </a:xfrm>
          <a:prstGeom prst="rect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127998" y="1847088"/>
            <a:ext cx="420624" cy="420624"/>
          </a:xfrm>
          <a:prstGeom prst="ellipse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27998" y="1865376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58350" y="1792224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Review joins and bent lines before leaving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64574" y="2322576"/>
            <a:ext cx="2091689" cy="3602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Review joins and bent lines before leaving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58368" y="6318504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8368" y="6382512"/>
            <a:ext cx="484632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Master Mobile Photography · TGS-2026064718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0" y="6382512"/>
            <a:ext cx="50292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698480" y="6382512"/>
            <a:ext cx="73152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112</a:t>
            </a: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1083564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6845B"/>
                </a:solidFill>
                <a:latin typeface="Arial"/>
              </a:rPr>
              <a:t>TOPIC 04 · K6 · K7 · A6 · A7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835640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Panning and Motion Blur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664208"/>
            <a:ext cx="2585465" cy="43708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664208"/>
            <a:ext cx="82296" cy="4370832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847088"/>
            <a:ext cx="420624" cy="420624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865376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792224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Match the subject's direction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322576"/>
            <a:ext cx="2091689" cy="3602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Match the subject's direction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08426" y="1664208"/>
            <a:ext cx="2585465" cy="43708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408426" y="1664208"/>
            <a:ext cx="82296" cy="4370832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627882" y="1847088"/>
            <a:ext cx="420624" cy="420624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27882" y="1865376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58234" y="1792224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Begin tracking before release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64458" y="2322576"/>
            <a:ext cx="2091689" cy="3602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Begin tracking before release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58483" y="1664208"/>
            <a:ext cx="2585465" cy="43708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58483" y="1664208"/>
            <a:ext cx="82296" cy="4370832"/>
          </a:xfrm>
          <a:prstGeom prst="rect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377940" y="1847088"/>
            <a:ext cx="420624" cy="420624"/>
          </a:xfrm>
          <a:prstGeom prst="ellipse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77940" y="1865376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08292" y="1792224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Continue after capture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14516" y="2322576"/>
            <a:ext cx="2091689" cy="3602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Continue after capture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908542" y="1664208"/>
            <a:ext cx="2585465" cy="43708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908542" y="1664208"/>
            <a:ext cx="82296" cy="4370832"/>
          </a:xfrm>
          <a:prstGeom prst="rect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127998" y="1847088"/>
            <a:ext cx="420624" cy="420624"/>
          </a:xfrm>
          <a:prstGeom prst="ellipse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27998" y="1865376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58350" y="1792224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Choose a background that shows motion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64574" y="2322576"/>
            <a:ext cx="2091689" cy="3602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Choose a background that shows motion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58368" y="6318504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8368" y="6382512"/>
            <a:ext cx="484632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Master Mobile Photography · TGS-2026064718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0" y="6382512"/>
            <a:ext cx="50292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698480" y="6382512"/>
            <a:ext cx="73152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113</a:t>
            </a: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1083564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6845B"/>
                </a:solidFill>
                <a:latin typeface="Arial"/>
              </a:rPr>
              <a:t>TOPIC 04 · K6 · K7 · A6 · A7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835640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Long Exposure and Light Painting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664208"/>
            <a:ext cx="2585465" cy="43708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664208"/>
            <a:ext cx="82296" cy="4370832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847088"/>
            <a:ext cx="420624" cy="420624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865376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792224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Mount the phone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322576"/>
            <a:ext cx="2091689" cy="3602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Mount the phone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08426" y="1664208"/>
            <a:ext cx="2585465" cy="43708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408426" y="1664208"/>
            <a:ext cx="82296" cy="4370832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627882" y="1847088"/>
            <a:ext cx="420624" cy="420624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27882" y="1865376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58234" y="1792224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Reduce ambient brightness or use an ND filter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64458" y="2322576"/>
            <a:ext cx="2091689" cy="3602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Reduce ambient brightness or use an ND filter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58483" y="1664208"/>
            <a:ext cx="2585465" cy="43708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58483" y="1664208"/>
            <a:ext cx="82296" cy="4370832"/>
          </a:xfrm>
          <a:prstGeom prst="rect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377940" y="1847088"/>
            <a:ext cx="420624" cy="420624"/>
          </a:xfrm>
          <a:prstGeom prst="ellipse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77940" y="1865376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08292" y="1792224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Trigger without touching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14516" y="2322576"/>
            <a:ext cx="2091689" cy="3602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Trigger without touching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908542" y="1664208"/>
            <a:ext cx="2585465" cy="43708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908542" y="1664208"/>
            <a:ext cx="82296" cy="4370832"/>
          </a:xfrm>
          <a:prstGeom prst="rect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127998" y="1847088"/>
            <a:ext cx="420624" cy="420624"/>
          </a:xfrm>
          <a:prstGeom prst="ellipse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27998" y="1865376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58350" y="1792224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Keep light movement controlled and safe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64574" y="2322576"/>
            <a:ext cx="2091689" cy="3602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Keep light movement controlled and safe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58368" y="6318504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8368" y="6382512"/>
            <a:ext cx="484632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Master Mobile Photography · TGS-2026064718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0" y="6382512"/>
            <a:ext cx="50292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698480" y="6382512"/>
            <a:ext cx="73152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114</a:t>
            </a: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1083564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6845B"/>
                </a:solidFill>
                <a:latin typeface="Arial"/>
              </a:rPr>
              <a:t>TOPIC 04 · K6 · K7 · A6 · A7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835640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Silhouette, Reflection and Flare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664208"/>
            <a:ext cx="2585465" cy="43708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664208"/>
            <a:ext cx="82296" cy="4370832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847088"/>
            <a:ext cx="420624" cy="420624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865376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792224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Expose for the bright background to make a silhouette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322576"/>
            <a:ext cx="2091689" cy="3602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Expose for the bright background to make a silhouette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08426" y="1664208"/>
            <a:ext cx="2585465" cy="43708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408426" y="1664208"/>
            <a:ext cx="82296" cy="4370832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627882" y="1847088"/>
            <a:ext cx="420624" cy="420624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27882" y="1865376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58234" y="1792224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Change angle to control reflected detail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64458" y="2322576"/>
            <a:ext cx="2091689" cy="3602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Change angle to control reflected detail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58483" y="1664208"/>
            <a:ext cx="2585465" cy="43708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58483" y="1664208"/>
            <a:ext cx="82296" cy="4370832"/>
          </a:xfrm>
          <a:prstGeom prst="rect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377940" y="1847088"/>
            <a:ext cx="420624" cy="420624"/>
          </a:xfrm>
          <a:prstGeom prst="ellipse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77940" y="1865376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08292" y="1792224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Shade the lens when flare reduces contrast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14516" y="2322576"/>
            <a:ext cx="2091689" cy="3602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Shade the lens when flare reduces contrast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908542" y="1664208"/>
            <a:ext cx="2585465" cy="43708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908542" y="1664208"/>
            <a:ext cx="82296" cy="4370832"/>
          </a:xfrm>
          <a:prstGeom prst="rect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127998" y="1847088"/>
            <a:ext cx="420624" cy="420624"/>
          </a:xfrm>
          <a:prstGeom prst="ellipse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27998" y="1865376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58350" y="1792224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Use effects intentionally—not by accident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64574" y="2322576"/>
            <a:ext cx="2091689" cy="3602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Use effects intentionally—not by accident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58368" y="6318504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8368" y="6382512"/>
            <a:ext cx="484632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Master Mobile Photography · TGS-2026064718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0" y="6382512"/>
            <a:ext cx="50292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698480" y="6382512"/>
            <a:ext cx="73152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115</a:t>
            </a: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1083564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6845B"/>
                </a:solidFill>
                <a:latin typeface="Arial"/>
              </a:rPr>
              <a:t>TOPIC 04 · K6 · K7 · A6 · A7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835640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Specialty Camera: Action Camera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664208"/>
            <a:ext cx="2585465" cy="43708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664208"/>
            <a:ext cx="82296" cy="4370832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847088"/>
            <a:ext cx="420624" cy="420624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865376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792224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Small and mountable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322576"/>
            <a:ext cx="2091689" cy="3602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Small and mountable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08426" y="1664208"/>
            <a:ext cx="2585465" cy="43708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408426" y="1664208"/>
            <a:ext cx="82296" cy="4370832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627882" y="1847088"/>
            <a:ext cx="420624" cy="420624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27882" y="1865376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58234" y="1792224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Protective housings support difficult environments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64458" y="2322576"/>
            <a:ext cx="2091689" cy="3602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Protective housings support difficult environments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58483" y="1664208"/>
            <a:ext cx="2585465" cy="43708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58483" y="1664208"/>
            <a:ext cx="82296" cy="4370832"/>
          </a:xfrm>
          <a:prstGeom prst="rect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377940" y="1847088"/>
            <a:ext cx="420624" cy="420624"/>
          </a:xfrm>
          <a:prstGeom prst="ellipse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77940" y="1865376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08292" y="1792224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Wide view captures context and movement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14516" y="2322576"/>
            <a:ext cx="2091689" cy="3602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Wide view captures context and movement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908542" y="1664208"/>
            <a:ext cx="2585465" cy="43708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908542" y="1664208"/>
            <a:ext cx="82296" cy="4370832"/>
          </a:xfrm>
          <a:prstGeom prst="rect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127998" y="1847088"/>
            <a:ext cx="420624" cy="420624"/>
          </a:xfrm>
          <a:prstGeom prst="ellipse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27998" y="1865376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58350" y="1792224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Mounts must be load-rated and secure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64574" y="2322576"/>
            <a:ext cx="2091689" cy="3602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Mounts must be load-rated and secure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58368" y="6318504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8368" y="6382512"/>
            <a:ext cx="484632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Master Mobile Photography · TGS-2026064718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0" y="6382512"/>
            <a:ext cx="50292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698480" y="6382512"/>
            <a:ext cx="73152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116</a:t>
            </a: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1083564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6845B"/>
                </a:solidFill>
                <a:latin typeface="Arial"/>
              </a:rPr>
              <a:t>TOPIC 04 · K6 · K7 · A6 · A7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835640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Specialty Camera: Lomography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664208"/>
            <a:ext cx="2585465" cy="43708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664208"/>
            <a:ext cx="82296" cy="4370832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847088"/>
            <a:ext cx="420624" cy="420624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865376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792224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Simple optics may create vignette, blur or light leaks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322576"/>
            <a:ext cx="2091689" cy="3602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Simple optics may create vignette, blur or light leaks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08426" y="1664208"/>
            <a:ext cx="2585465" cy="43708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408426" y="1664208"/>
            <a:ext cx="82296" cy="4370832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627882" y="1847088"/>
            <a:ext cx="420624" cy="420624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27882" y="1865376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58234" y="1792224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The result is an aesthetic choice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64458" y="2322576"/>
            <a:ext cx="2091689" cy="3602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The result is an aesthetic choice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58483" y="1664208"/>
            <a:ext cx="2585465" cy="43708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58483" y="1664208"/>
            <a:ext cx="82296" cy="4370832"/>
          </a:xfrm>
          <a:prstGeom prst="rect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377940" y="1847088"/>
            <a:ext cx="420624" cy="420624"/>
          </a:xfrm>
          <a:prstGeom prst="ellipse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77940" y="1865376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08292" y="1792224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Unpredictability can suit candid work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14516" y="2322576"/>
            <a:ext cx="2091689" cy="3602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Unpredictability can suit candid work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908542" y="1664208"/>
            <a:ext cx="2585465" cy="43708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908542" y="1664208"/>
            <a:ext cx="82296" cy="4370832"/>
          </a:xfrm>
          <a:prstGeom prst="rect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127998" y="1847088"/>
            <a:ext cx="420624" cy="420624"/>
          </a:xfrm>
          <a:prstGeom prst="ellipse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27998" y="1865376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58350" y="1792224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Do not confuse an effect with technical failure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64574" y="2322576"/>
            <a:ext cx="2091689" cy="3602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Do not confuse an effect with technical failure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58368" y="6318504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8368" y="6382512"/>
            <a:ext cx="484632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Master Mobile Photography · TGS-2026064718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0" y="6382512"/>
            <a:ext cx="50292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698480" y="6382512"/>
            <a:ext cx="73152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117</a:t>
            </a: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1083564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6845B"/>
                </a:solidFill>
                <a:latin typeface="Arial"/>
              </a:rPr>
              <a:t>TOPIC 04 · K6 · K7 · A6 · A7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835640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Lens and Equipment Care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664208"/>
            <a:ext cx="2585465" cy="43708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664208"/>
            <a:ext cx="82296" cy="4370832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847088"/>
            <a:ext cx="420624" cy="420624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865376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792224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Use a blower or microfibre cloth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322576"/>
            <a:ext cx="2091689" cy="3602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Use a blower or microfibre cloth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08426" y="1664208"/>
            <a:ext cx="2585465" cy="43708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408426" y="1664208"/>
            <a:ext cx="82296" cy="4370832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627882" y="1847088"/>
            <a:ext cx="420624" cy="420624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27882" y="1865376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58234" y="1792224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Avoid touching optical surfaces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64458" y="2322576"/>
            <a:ext cx="2091689" cy="3602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Avoid touching optical surfaces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58483" y="1664208"/>
            <a:ext cx="2585465" cy="43708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58483" y="1664208"/>
            <a:ext cx="82296" cy="4370832"/>
          </a:xfrm>
          <a:prstGeom prst="rect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377940" y="1847088"/>
            <a:ext cx="420624" cy="420624"/>
          </a:xfrm>
          <a:prstGeom prst="ellipse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77940" y="1865376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08292" y="1792224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Store dry in a protective case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14516" y="2322576"/>
            <a:ext cx="2091689" cy="3602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Store dry in a protective case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908542" y="1664208"/>
            <a:ext cx="2585465" cy="43708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908542" y="1664208"/>
            <a:ext cx="82296" cy="4370832"/>
          </a:xfrm>
          <a:prstGeom prst="rect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127998" y="1847088"/>
            <a:ext cx="420624" cy="420624"/>
          </a:xfrm>
          <a:prstGeom prst="ellipse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27998" y="1865376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58350" y="1792224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Check condensation, caps and mount wear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64574" y="2322576"/>
            <a:ext cx="2091689" cy="3602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Check condensation, caps and mount wear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58368" y="6318504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8368" y="6382512"/>
            <a:ext cx="484632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Master Mobile Photography · TGS-2026064718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0" y="6382512"/>
            <a:ext cx="50292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698480" y="6382512"/>
            <a:ext cx="73152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118</a:t>
            </a: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1083564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6845B"/>
                </a:solidFill>
                <a:latin typeface="Arial"/>
              </a:rPr>
              <a:t>TOPIC 04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835640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The Mobile Editing Pipeline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77240" y="2148840"/>
            <a:ext cx="2425446" cy="288036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48840"/>
            <a:ext cx="2425446" cy="91440"/>
          </a:xfrm>
          <a:prstGeom prst="rect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615059" y="2532888"/>
            <a:ext cx="749808" cy="749808"/>
          </a:xfrm>
          <a:prstGeom prst="ellipse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15059" y="2660904"/>
            <a:ext cx="749808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3544" y="3584448"/>
            <a:ext cx="2132838" cy="11887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Select the strongest frame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2686" y="3337560"/>
            <a:ext cx="310896" cy="4572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16845B"/>
                </a:solidFill>
                <a:latin typeface="Arial"/>
              </a:rPr>
              <a:t>▶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513582" y="2148840"/>
            <a:ext cx="2425446" cy="288036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513582" y="2148840"/>
            <a:ext cx="2425446" cy="91440"/>
          </a:xfrm>
          <a:prstGeom prst="rect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351401" y="2532888"/>
            <a:ext cx="749808" cy="749808"/>
          </a:xfrm>
          <a:prstGeom prst="ellipse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51401" y="2660904"/>
            <a:ext cx="749808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9886" y="3584448"/>
            <a:ext cx="2132838" cy="11887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Crop and straighten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39028" y="3337560"/>
            <a:ext cx="310896" cy="4572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16845B"/>
                </a:solidFill>
                <a:latin typeface="Arial"/>
              </a:rPr>
              <a:t>▶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49924" y="2148840"/>
            <a:ext cx="2425446" cy="288036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49924" y="2148840"/>
            <a:ext cx="2425446" cy="91440"/>
          </a:xfrm>
          <a:prstGeom prst="rect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087743" y="2532888"/>
            <a:ext cx="749808" cy="749808"/>
          </a:xfrm>
          <a:prstGeom prst="ellipse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087743" y="2660904"/>
            <a:ext cx="749808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96228" y="3584448"/>
            <a:ext cx="2132838" cy="11887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Balance exposure and tone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75370" y="3337560"/>
            <a:ext cx="310896" cy="4572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16845B"/>
                </a:solidFill>
                <a:latin typeface="Arial"/>
              </a:rPr>
              <a:t>▶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986266" y="2148840"/>
            <a:ext cx="2425446" cy="288036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986266" y="2148840"/>
            <a:ext cx="2425446" cy="91440"/>
          </a:xfrm>
          <a:prstGeom prst="rect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824085" y="2532888"/>
            <a:ext cx="749808" cy="749808"/>
          </a:xfrm>
          <a:prstGeom prst="ellipse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824085" y="2660904"/>
            <a:ext cx="749808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32570" y="3584448"/>
            <a:ext cx="2132838" cy="11887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Correct colour, refine detail and export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58368" y="6318504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8368" y="6382512"/>
            <a:ext cx="484632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Master Mobile Photography · TGS-2026064718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0" y="6382512"/>
            <a:ext cx="50292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698480" y="6382512"/>
            <a:ext cx="73152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119</a:t>
            </a: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1083564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6845B"/>
                </a:solidFill>
                <a:latin typeface="Arial"/>
              </a:rPr>
              <a:t>TOPIC 04 · K6 · K7 · A6 · A7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835640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Tone Before Colour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664208"/>
            <a:ext cx="2585465" cy="43708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664208"/>
            <a:ext cx="82296" cy="4370832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847088"/>
            <a:ext cx="420624" cy="420624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865376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792224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Set overall exposure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322576"/>
            <a:ext cx="2091689" cy="3602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Set overall exposure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08426" y="1664208"/>
            <a:ext cx="2585465" cy="43708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408426" y="1664208"/>
            <a:ext cx="82296" cy="4370832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627882" y="1847088"/>
            <a:ext cx="420624" cy="420624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27882" y="1865376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58234" y="1792224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Recover highlights and open shadows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64458" y="2322576"/>
            <a:ext cx="2091689" cy="3602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Recover highlights and open shadows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58483" y="1664208"/>
            <a:ext cx="2585465" cy="43708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58483" y="1664208"/>
            <a:ext cx="82296" cy="4370832"/>
          </a:xfrm>
          <a:prstGeom prst="rect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377940" y="1847088"/>
            <a:ext cx="420624" cy="420624"/>
          </a:xfrm>
          <a:prstGeom prst="ellipse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77940" y="1865376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08292" y="1792224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Use contrast to shape—not crush—the image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14516" y="2322576"/>
            <a:ext cx="2091689" cy="3602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Use contrast to shape—not crush—the image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908542" y="1664208"/>
            <a:ext cx="2585465" cy="43708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908542" y="1664208"/>
            <a:ext cx="82296" cy="4370832"/>
          </a:xfrm>
          <a:prstGeom prst="rect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127998" y="1847088"/>
            <a:ext cx="420624" cy="420624"/>
          </a:xfrm>
          <a:prstGeom prst="ellipse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27998" y="1865376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58350" y="1792224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Check black and white points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64574" y="2322576"/>
            <a:ext cx="2091689" cy="3602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Check black and white points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58368" y="6318504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8368" y="6382512"/>
            <a:ext cx="484632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Master Mobile Photography · TGS-2026064718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0" y="6382512"/>
            <a:ext cx="50292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698480" y="6382512"/>
            <a:ext cx="73152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120</a:t>
            </a: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1083564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6845B"/>
                </a:solidFill>
                <a:latin typeface="Arial"/>
              </a:rPr>
              <a:t>TOPIC 04 · K6 · K7 · A6 · A7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835640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Colour and Detail with Restraint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664208"/>
            <a:ext cx="2585465" cy="43708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664208"/>
            <a:ext cx="82296" cy="4370832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847088"/>
            <a:ext cx="420624" cy="420624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865376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792224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Correct white balance before creative grading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322576"/>
            <a:ext cx="2091689" cy="3602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Correct white balance before creative grading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08426" y="1664208"/>
            <a:ext cx="2585465" cy="43708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408426" y="1664208"/>
            <a:ext cx="82296" cy="4370832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627882" y="1847088"/>
            <a:ext cx="420624" cy="420624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27882" y="1865376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58234" y="1792224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Use saturation selectively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64458" y="2322576"/>
            <a:ext cx="2091689" cy="3602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Use saturation selectively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58483" y="1664208"/>
            <a:ext cx="2585465" cy="43708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58483" y="1664208"/>
            <a:ext cx="82296" cy="4370832"/>
          </a:xfrm>
          <a:prstGeom prst="rect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377940" y="1847088"/>
            <a:ext cx="420624" cy="420624"/>
          </a:xfrm>
          <a:prstGeom prst="ellipse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77940" y="1865376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08292" y="1792224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Sharpen lightly at final size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14516" y="2322576"/>
            <a:ext cx="2091689" cy="3602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Sharpen lightly at final size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908542" y="1664208"/>
            <a:ext cx="2585465" cy="43708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908542" y="1664208"/>
            <a:ext cx="82296" cy="4370832"/>
          </a:xfrm>
          <a:prstGeom prst="rect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127998" y="1847088"/>
            <a:ext cx="420624" cy="420624"/>
          </a:xfrm>
          <a:prstGeom prst="ellipse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27998" y="1865376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58350" y="1792224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Avoid halos, waxy noise reduction and fake HDR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64574" y="2322576"/>
            <a:ext cx="2091689" cy="3602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Avoid halos, waxy noise reduction and fake HDR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58368" y="6318504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8368" y="6382512"/>
            <a:ext cx="484632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Master Mobile Photography · TGS-2026064718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0" y="6382512"/>
            <a:ext cx="50292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698480" y="6382512"/>
            <a:ext cx="73152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121</a:t>
            </a:r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1083564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6845B"/>
                </a:solidFill>
                <a:latin typeface="Arial"/>
              </a:rPr>
              <a:t>TOPIC 04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835640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Feedback That Improves the Next Shot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77240" y="2148840"/>
            <a:ext cx="2425446" cy="288036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48840"/>
            <a:ext cx="2425446" cy="91440"/>
          </a:xfrm>
          <a:prstGeom prst="rect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615059" y="2532888"/>
            <a:ext cx="749808" cy="749808"/>
          </a:xfrm>
          <a:prstGeom prst="ellipse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15059" y="2660904"/>
            <a:ext cx="749808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3544" y="3584448"/>
            <a:ext cx="2132838" cy="11887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Describe what is visible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2686" y="3337560"/>
            <a:ext cx="310896" cy="4572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16845B"/>
                </a:solidFill>
                <a:latin typeface="Arial"/>
              </a:rPr>
              <a:t>▶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513582" y="2148840"/>
            <a:ext cx="2425446" cy="288036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513582" y="2148840"/>
            <a:ext cx="2425446" cy="91440"/>
          </a:xfrm>
          <a:prstGeom prst="rect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351401" y="2532888"/>
            <a:ext cx="749808" cy="749808"/>
          </a:xfrm>
          <a:prstGeom prst="ellipse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51401" y="2660904"/>
            <a:ext cx="749808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9886" y="3584448"/>
            <a:ext cx="2132838" cy="11887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Connect it to the brief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39028" y="3337560"/>
            <a:ext cx="310896" cy="4572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16845B"/>
                </a:solidFill>
                <a:latin typeface="Arial"/>
              </a:rPr>
              <a:t>▶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49924" y="2148840"/>
            <a:ext cx="2425446" cy="288036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49924" y="2148840"/>
            <a:ext cx="2425446" cy="91440"/>
          </a:xfrm>
          <a:prstGeom prst="rect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087743" y="2532888"/>
            <a:ext cx="749808" cy="749808"/>
          </a:xfrm>
          <a:prstGeom prst="ellipse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087743" y="2660904"/>
            <a:ext cx="749808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96228" y="3584448"/>
            <a:ext cx="2132838" cy="11887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Identify one cause, not a vague dislike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75370" y="3337560"/>
            <a:ext cx="310896" cy="4572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16845B"/>
                </a:solidFill>
                <a:latin typeface="Arial"/>
              </a:rPr>
              <a:t>▶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986266" y="2148840"/>
            <a:ext cx="2425446" cy="288036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986266" y="2148840"/>
            <a:ext cx="2425446" cy="91440"/>
          </a:xfrm>
          <a:prstGeom prst="rect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824085" y="2532888"/>
            <a:ext cx="749808" cy="749808"/>
          </a:xfrm>
          <a:prstGeom prst="ellipse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824085" y="2660904"/>
            <a:ext cx="749808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32570" y="3584448"/>
            <a:ext cx="2132838" cy="11887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Recommend a specific camera position, setting or timing change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58368" y="6318504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8368" y="6382512"/>
            <a:ext cx="484632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Master Mobile Photography · TGS-2026064718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0" y="6382512"/>
            <a:ext cx="50292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698480" y="6382512"/>
            <a:ext cx="73152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122</a:t>
            </a:r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1083564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TOPIC 04 · REAL-USE-CASE ACTIVITY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835640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Select and Mount Specialty Camera Equipment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673352"/>
            <a:ext cx="1325880" cy="438912"/>
          </a:xfrm>
          <a:prstGeom prst="roundRect">
            <a:avLst>
              <a:gd name="adj" fmla="val 8000"/>
            </a:avLst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773936"/>
            <a:ext cx="132588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ACTIVITY 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2331720"/>
            <a:ext cx="6903720" cy="10972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An outdoor education provider needs a safe action sequence and asks whether a phone, action camera or creative toy-camera look is appropriate.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3675887"/>
            <a:ext cx="6903720" cy="141732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886200"/>
            <a:ext cx="6400800" cy="100584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8A73"/>
                </a:solidFill>
                <a:latin typeface="Arial"/>
              </a:rPr>
              <a:t>YOU'LL PRODUCE</a:t>
            </a:r>
          </a:p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Equipment decision, mounting inspection, five-shot action sequence and feedback note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Full procedures: Learner Guide and Activity folder</a:t>
            </a:r>
          </a:p>
        </p:txBody>
      </p:sp>
      <p:pic>
        <p:nvPicPr>
          <p:cNvPr id="11" name="Picture 10" descr="activity-07-specialty-kit.png"/>
          <p:cNvPicPr>
            <a:picLocks noChangeAspect="1"/>
          </p:cNvPicPr>
          <p:nvPr/>
        </p:nvPicPr>
        <p:blipFill>
          <a:blip r:embed="rId2"/>
          <a:srcRect l="19979" r="19979"/>
          <a:stretch>
            <a:fillRect/>
          </a:stretch>
        </p:blipFill>
        <p:spPr>
          <a:xfrm>
            <a:off x="7845552" y="1673352"/>
            <a:ext cx="3648456" cy="341985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58368" y="5376672"/>
            <a:ext cx="10744200" cy="4572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A2 · A3 · A7 · Smartphone, action camera/housing or simulator, rated mount, safety tether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6318504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" y="6382512"/>
            <a:ext cx="484632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Master Mobile Photography · TGS-2026064718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0" y="6382512"/>
            <a:ext cx="50292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98480" y="6382512"/>
            <a:ext cx="73152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123</a:t>
            </a:r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1083564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ACTIVITY 7 · ANALYSE BEFORE CAPTURE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835640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Visual Brief and Reference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activity-07-specialty-kit.png"/>
          <p:cNvPicPr>
            <a:picLocks noChangeAspect="1"/>
          </p:cNvPicPr>
          <p:nvPr/>
        </p:nvPicPr>
        <p:blipFill>
          <a:blip r:embed="rId2"/>
          <a:srcRect l="7673" r="7673"/>
          <a:stretch>
            <a:fillRect/>
          </a:stretch>
        </p:blipFill>
        <p:spPr>
          <a:xfrm>
            <a:off x="658368" y="1645920"/>
            <a:ext cx="6629400" cy="4407408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562088" y="1664208"/>
            <a:ext cx="3931920" cy="84124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772400" y="1856232"/>
            <a:ext cx="411480" cy="411480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0" y="1901952"/>
            <a:ext cx="41148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66760" y="1801368"/>
            <a:ext cx="2880360" cy="5669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What attracts attention first?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62088" y="2688336"/>
            <a:ext cx="3931920" cy="84124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772400" y="2880360"/>
            <a:ext cx="411480" cy="411480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0" y="2926080"/>
            <a:ext cx="41148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66760" y="2825496"/>
            <a:ext cx="2880360" cy="5669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Which light, angle and composition choices are visible?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62088" y="3712464"/>
            <a:ext cx="3931920" cy="84124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772400" y="3904488"/>
            <a:ext cx="411480" cy="411480"/>
          </a:xfrm>
          <a:prstGeom prst="ellipse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0" y="3950208"/>
            <a:ext cx="41148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6760" y="3849624"/>
            <a:ext cx="2880360" cy="5669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What could fail technically or ethically?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562088" y="4736592"/>
            <a:ext cx="3931920" cy="84124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772400" y="4928616"/>
            <a:ext cx="411480" cy="411480"/>
          </a:xfrm>
          <a:prstGeom prst="ellipse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0" y="4974336"/>
            <a:ext cx="41148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66760" y="4873752"/>
            <a:ext cx="2880360" cy="5669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Which acceptance criterion does the image demonstrate?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8368" y="6318504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8368" y="6382512"/>
            <a:ext cx="484632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Master Mobile Photography · TGS-2026064718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0" y="6382512"/>
            <a:ext cx="50292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698480" y="6382512"/>
            <a:ext cx="73152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124</a:t>
            </a:r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1083564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6845B"/>
                </a:solidFill>
                <a:latin typeface="Arial"/>
              </a:rPr>
              <a:t>ACTIVITY 7 · VERIFY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835640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Acceptance Review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1755648"/>
            <a:ext cx="10424160" cy="713232"/>
          </a:xfrm>
          <a:prstGeom prst="roundRect">
            <a:avLst>
              <a:gd name="adj" fmla="val 8000"/>
            </a:avLst>
          </a:prstGeom>
          <a:solidFill>
            <a:srgbClr val="E8F7EE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51560" y="1911095"/>
            <a:ext cx="402336" cy="402336"/>
          </a:xfrm>
          <a:prstGeom prst="ellipse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1938528"/>
            <a:ext cx="402336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883664"/>
            <a:ext cx="9144000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Equipment choice is justified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2670048"/>
            <a:ext cx="10424160" cy="713232"/>
          </a:xfrm>
          <a:prstGeom prst="roundRect">
            <a:avLst>
              <a:gd name="adj" fmla="val 8000"/>
            </a:avLst>
          </a:prstGeom>
          <a:solidFill>
            <a:srgbClr val="E8F7EE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51560" y="2825496"/>
            <a:ext cx="402336" cy="402336"/>
          </a:xfrm>
          <a:prstGeom prst="ellipse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" y="2852928"/>
            <a:ext cx="402336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91640" y="2798064"/>
            <a:ext cx="9144000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Mount and tether pass inspection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3584448"/>
            <a:ext cx="10424160" cy="713232"/>
          </a:xfrm>
          <a:prstGeom prst="roundRect">
            <a:avLst>
              <a:gd name="adj" fmla="val 8000"/>
            </a:avLst>
          </a:prstGeom>
          <a:solidFill>
            <a:srgbClr val="E8F7EE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051560" y="3739896"/>
            <a:ext cx="402336" cy="402336"/>
          </a:xfrm>
          <a:prstGeom prst="ellipse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51560" y="3767328"/>
            <a:ext cx="402336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91640" y="3712463"/>
            <a:ext cx="9144000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Five-shot sequence covers the action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4498848"/>
            <a:ext cx="10424160" cy="713232"/>
          </a:xfrm>
          <a:prstGeom prst="roundRect">
            <a:avLst>
              <a:gd name="adj" fmla="val 8000"/>
            </a:avLst>
          </a:prstGeom>
          <a:solidFill>
            <a:srgbClr val="E8F7EE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51560" y="4654296"/>
            <a:ext cx="402336" cy="402336"/>
          </a:xfrm>
          <a:prstGeom prst="ellipse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51560" y="4681728"/>
            <a:ext cx="402336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91640" y="4626864"/>
            <a:ext cx="9144000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Feedback links an observable defect to a specific correction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2960" y="5532120"/>
            <a:ext cx="10424160" cy="43891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05840" y="5623560"/>
            <a:ext cx="1005840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Evidence: final images · completed checklist · settings/decision log · peer feedback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58368" y="6318504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8368" y="6382512"/>
            <a:ext cx="484632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Master Mobile Photography · TGS-2026064718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0" y="6382512"/>
            <a:ext cx="50292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98480" y="6382512"/>
            <a:ext cx="73152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125</a:t>
            </a:r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1083564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TOPIC 04 · REAL-USE-CASE ACTIVITY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835640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Edit and Deliver a Tourism Campaign Set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673352"/>
            <a:ext cx="1325880" cy="438912"/>
          </a:xfrm>
          <a:prstGeom prst="roundRect">
            <a:avLst>
              <a:gd name="adj" fmla="val 8000"/>
            </a:avLst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773936"/>
            <a:ext cx="132588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ACTIVITY 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2331720"/>
            <a:ext cx="6903720" cy="10972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A local travel business needs six consistent photographs for a web page, square social post and vertical story.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3675887"/>
            <a:ext cx="6903720" cy="141732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886200"/>
            <a:ext cx="6400800" cy="100584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8A73"/>
                </a:solidFill>
                <a:latin typeface="Arial"/>
              </a:rPr>
              <a:t>YOU'LL PRODUCE</a:t>
            </a:r>
          </a:p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Six-image final set, before/after comparisons, export matrix and critique record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Full procedures: Learner Guide and Activity folder</a:t>
            </a:r>
          </a:p>
        </p:txBody>
      </p:sp>
      <p:pic>
        <p:nvPicPr>
          <p:cNvPr id="11" name="Picture 10" descr="cover-hero-v12.png"/>
          <p:cNvPicPr>
            <a:picLocks noChangeAspect="1"/>
          </p:cNvPicPr>
          <p:nvPr/>
        </p:nvPicPr>
        <p:blipFill>
          <a:blip r:embed="rId2"/>
          <a:srcRect l="19979" r="19979"/>
          <a:stretch>
            <a:fillRect/>
          </a:stretch>
        </p:blipFill>
        <p:spPr>
          <a:xfrm>
            <a:off x="7845552" y="1673352"/>
            <a:ext cx="3648456" cy="341985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58368" y="5376672"/>
            <a:ext cx="10744200" cy="4572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A6 · A7 · Built-in editor, Lightroom Mobile or Snapseed; file manager/cloud folder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6318504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" y="6382512"/>
            <a:ext cx="484632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Master Mobile Photography · TGS-2026064718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0" y="6382512"/>
            <a:ext cx="50292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98480" y="6382512"/>
            <a:ext cx="73152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126</a:t>
            </a:r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1083564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ACTIVITY 8 · ANALYSE BEFORE CAPTURE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835640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Visual Brief and Reference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cover-hero-v12.png"/>
          <p:cNvPicPr>
            <a:picLocks noChangeAspect="1"/>
          </p:cNvPicPr>
          <p:nvPr/>
        </p:nvPicPr>
        <p:blipFill>
          <a:blip r:embed="rId2"/>
          <a:srcRect l="7673" r="7673"/>
          <a:stretch>
            <a:fillRect/>
          </a:stretch>
        </p:blipFill>
        <p:spPr>
          <a:xfrm>
            <a:off x="658368" y="1645920"/>
            <a:ext cx="6629400" cy="4407408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562088" y="1664208"/>
            <a:ext cx="3931920" cy="84124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772400" y="1856232"/>
            <a:ext cx="411480" cy="411480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0" y="1901952"/>
            <a:ext cx="41148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66760" y="1801368"/>
            <a:ext cx="2880360" cy="5669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What attracts attention first?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62088" y="2688336"/>
            <a:ext cx="3931920" cy="84124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772400" y="2880360"/>
            <a:ext cx="411480" cy="411480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0" y="2926080"/>
            <a:ext cx="41148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66760" y="2825496"/>
            <a:ext cx="2880360" cy="5669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Which light, angle and composition choices are visible?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62088" y="3712464"/>
            <a:ext cx="3931920" cy="84124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772400" y="3904488"/>
            <a:ext cx="411480" cy="411480"/>
          </a:xfrm>
          <a:prstGeom prst="ellipse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0" y="3950208"/>
            <a:ext cx="41148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6760" y="3849624"/>
            <a:ext cx="2880360" cy="5669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What could fail technically or ethically?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562088" y="4736592"/>
            <a:ext cx="3931920" cy="84124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772400" y="4928616"/>
            <a:ext cx="411480" cy="411480"/>
          </a:xfrm>
          <a:prstGeom prst="ellipse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0" y="4974336"/>
            <a:ext cx="41148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66760" y="4873752"/>
            <a:ext cx="2880360" cy="5669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Which acceptance criterion does the image demonstrate?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8368" y="6318504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8368" y="6382512"/>
            <a:ext cx="484632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Master Mobile Photography · TGS-2026064718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0" y="6382512"/>
            <a:ext cx="50292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698480" y="6382512"/>
            <a:ext cx="73152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127</a:t>
            </a:r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1083564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6845B"/>
                </a:solidFill>
                <a:latin typeface="Arial"/>
              </a:rPr>
              <a:t>ACTIVITY 8 · VERIFY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835640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Acceptance Review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1755648"/>
            <a:ext cx="10424160" cy="713232"/>
          </a:xfrm>
          <a:prstGeom prst="roundRect">
            <a:avLst>
              <a:gd name="adj" fmla="val 8000"/>
            </a:avLst>
          </a:prstGeom>
          <a:solidFill>
            <a:srgbClr val="E8F7EE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51560" y="1911095"/>
            <a:ext cx="402336" cy="402336"/>
          </a:xfrm>
          <a:prstGeom prst="ellipse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1938528"/>
            <a:ext cx="402336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883664"/>
            <a:ext cx="9144000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Six images are visually consistent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2670048"/>
            <a:ext cx="10424160" cy="713232"/>
          </a:xfrm>
          <a:prstGeom prst="roundRect">
            <a:avLst>
              <a:gd name="adj" fmla="val 8000"/>
            </a:avLst>
          </a:prstGeom>
          <a:solidFill>
            <a:srgbClr val="E8F7EE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51560" y="2825496"/>
            <a:ext cx="402336" cy="402336"/>
          </a:xfrm>
          <a:prstGeom prst="ellipse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" y="2852928"/>
            <a:ext cx="402336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91640" y="2798064"/>
            <a:ext cx="9144000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Edits retain natural texture and colour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3584448"/>
            <a:ext cx="10424160" cy="713232"/>
          </a:xfrm>
          <a:prstGeom prst="roundRect">
            <a:avLst>
              <a:gd name="adj" fmla="val 8000"/>
            </a:avLst>
          </a:prstGeom>
          <a:solidFill>
            <a:srgbClr val="E8F7EE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051560" y="3739896"/>
            <a:ext cx="402336" cy="402336"/>
          </a:xfrm>
          <a:prstGeom prst="ellipse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51560" y="3767328"/>
            <a:ext cx="402336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91640" y="3712463"/>
            <a:ext cx="9144000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Exports match the named channels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4498848"/>
            <a:ext cx="10424160" cy="713232"/>
          </a:xfrm>
          <a:prstGeom prst="roundRect">
            <a:avLst>
              <a:gd name="adj" fmla="val 8000"/>
            </a:avLst>
          </a:prstGeom>
          <a:solidFill>
            <a:srgbClr val="E8F7EE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51560" y="4654296"/>
            <a:ext cx="402336" cy="402336"/>
          </a:xfrm>
          <a:prstGeom prst="ellipse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51560" y="4681728"/>
            <a:ext cx="402336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91640" y="4626864"/>
            <a:ext cx="9144000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Critique contains a specific evidence-based improvement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2960" y="5532120"/>
            <a:ext cx="10424160" cy="43891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05840" y="5623560"/>
            <a:ext cx="1005840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Evidence: final images · completed checklist · settings/decision log · peer feedback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58368" y="6318504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8368" y="6382512"/>
            <a:ext cx="484632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Master Mobile Photography · TGS-2026064718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0" y="6382512"/>
            <a:ext cx="50292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98480" y="6382512"/>
            <a:ext cx="73152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128</a:t>
            </a:r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1083564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6845B"/>
                </a:solidFill>
                <a:latin typeface="Arial"/>
              </a:rPr>
              <a:t>CHECK YOUR UNDERSTANDING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835640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Topic 04 Recap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664208"/>
            <a:ext cx="2585465" cy="43708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664208"/>
            <a:ext cx="82296" cy="4370832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847088"/>
            <a:ext cx="420624" cy="420624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865376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792224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Explain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322576"/>
            <a:ext cx="2091689" cy="3602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The Mobile Editing Pipeline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08426" y="1664208"/>
            <a:ext cx="2585465" cy="43708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408426" y="1664208"/>
            <a:ext cx="82296" cy="4370832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627882" y="1847088"/>
            <a:ext cx="420624" cy="420624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27882" y="1865376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58234" y="1792224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Explain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64458" y="2322576"/>
            <a:ext cx="2091689" cy="3602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Tone Before Colour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58483" y="1664208"/>
            <a:ext cx="2585465" cy="43708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58483" y="1664208"/>
            <a:ext cx="82296" cy="4370832"/>
          </a:xfrm>
          <a:prstGeom prst="rect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377940" y="1847088"/>
            <a:ext cx="420624" cy="420624"/>
          </a:xfrm>
          <a:prstGeom prst="ellipse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77940" y="1865376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08292" y="1792224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Explain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14516" y="2322576"/>
            <a:ext cx="2091689" cy="3602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Colour and Detail with Restraint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908542" y="1664208"/>
            <a:ext cx="2585465" cy="43708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908542" y="1664208"/>
            <a:ext cx="82296" cy="4370832"/>
          </a:xfrm>
          <a:prstGeom prst="rect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127998" y="1847088"/>
            <a:ext cx="420624" cy="420624"/>
          </a:xfrm>
          <a:prstGeom prst="ellipse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27998" y="1865376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58350" y="1792224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Explain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64574" y="2322576"/>
            <a:ext cx="2091689" cy="3602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Feedback That Improves the Next Shot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58368" y="6318504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8368" y="6382512"/>
            <a:ext cx="484632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Master Mobile Photography · TGS-2026064718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0" y="6382512"/>
            <a:ext cx="50292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698480" y="6382512"/>
            <a:ext cx="73152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129</a:t>
            </a:r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58368" y="1737360"/>
            <a:ext cx="10835640" cy="3291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58368" y="1737360"/>
            <a:ext cx="128016" cy="3291840"/>
          </a:xfrm>
          <a:prstGeom prst="rect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80160" y="2148840"/>
            <a:ext cx="868680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108A73"/>
                </a:solidFill>
                <a:latin typeface="Arial"/>
              </a:rPr>
              <a:t>WRAP-UP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2606040"/>
            <a:ext cx="8961120" cy="9144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3400" b="1">
                <a:solidFill>
                  <a:srgbClr val="161B26"/>
                </a:solidFill>
                <a:latin typeface="Arial"/>
              </a:rPr>
              <a:t>Professional Mobile Photography Workflow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3703320"/>
            <a:ext cx="8961120" cy="7315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Plan · inspect · capture · review · edit · deliver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38360" y="2194560"/>
            <a:ext cx="1097280" cy="109728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5600" b="1">
                <a:solidFill>
                  <a:srgbClr val="108A73"/>
                </a:solidFill>
                <a:latin typeface="Arial"/>
              </a:rPr>
              <a:t/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6318504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6382512"/>
            <a:ext cx="484632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Master Mobile Photography · TGS-2026064718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6382512"/>
            <a:ext cx="50292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98480" y="6382512"/>
            <a:ext cx="73152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130</a:t>
            </a:r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1083564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CAPSTONE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835640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The Complete Workflow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77240" y="2148840"/>
            <a:ext cx="1878177" cy="288036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48840"/>
            <a:ext cx="1878177" cy="91440"/>
          </a:xfrm>
          <a:prstGeom prst="rect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341424" y="2532888"/>
            <a:ext cx="749808" cy="749808"/>
          </a:xfrm>
          <a:prstGeom prst="ellipse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41424" y="2660904"/>
            <a:ext cx="749808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3544" y="3584448"/>
            <a:ext cx="1585569" cy="11887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Interpret brief and plan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55417" y="3337560"/>
            <a:ext cx="310896" cy="4572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108A73"/>
                </a:solidFill>
                <a:latin typeface="Arial"/>
              </a:rPr>
              <a:t>▶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966313" y="2148840"/>
            <a:ext cx="1878177" cy="288036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966313" y="2148840"/>
            <a:ext cx="1878177" cy="91440"/>
          </a:xfrm>
          <a:prstGeom prst="rect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530498" y="2532888"/>
            <a:ext cx="749808" cy="749808"/>
          </a:xfrm>
          <a:prstGeom prst="ellipse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30498" y="2660904"/>
            <a:ext cx="749808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12617" y="3584448"/>
            <a:ext cx="1585569" cy="11887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Inspect gear and location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44491" y="3337560"/>
            <a:ext cx="310896" cy="4572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108A73"/>
                </a:solidFill>
                <a:latin typeface="Arial"/>
              </a:rPr>
              <a:t>▶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155387" y="2148840"/>
            <a:ext cx="1878177" cy="288036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155387" y="2148840"/>
            <a:ext cx="1878177" cy="91440"/>
          </a:xfrm>
          <a:prstGeom prst="rect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719572" y="2532888"/>
            <a:ext cx="749808" cy="749808"/>
          </a:xfrm>
          <a:prstGeom prst="ellipse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719572" y="2660904"/>
            <a:ext cx="749808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01691" y="3584448"/>
            <a:ext cx="1585569" cy="11887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Control light, focus and exposure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33564" y="3337560"/>
            <a:ext cx="310896" cy="4572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108A73"/>
                </a:solidFill>
                <a:latin typeface="Arial"/>
              </a:rPr>
              <a:t>▶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44460" y="2148840"/>
            <a:ext cx="1878177" cy="288036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344460" y="2148840"/>
            <a:ext cx="1878177" cy="91440"/>
          </a:xfrm>
          <a:prstGeom prst="rect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908645" y="2532888"/>
            <a:ext cx="749808" cy="749808"/>
          </a:xfrm>
          <a:prstGeom prst="ellipse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08645" y="2660904"/>
            <a:ext cx="749808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90764" y="3584448"/>
            <a:ext cx="1585569" cy="11887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Compose and capture variations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22638" y="3337560"/>
            <a:ext cx="310896" cy="4572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108A73"/>
                </a:solidFill>
                <a:latin typeface="Arial"/>
              </a:rPr>
              <a:t>▶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533534" y="2148840"/>
            <a:ext cx="1878177" cy="288036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533534" y="2148840"/>
            <a:ext cx="1878177" cy="91440"/>
          </a:xfrm>
          <a:prstGeom prst="rect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0097719" y="2532888"/>
            <a:ext cx="749808" cy="749808"/>
          </a:xfrm>
          <a:prstGeom prst="ellipse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097719" y="2660904"/>
            <a:ext cx="749808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5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79838" y="3584448"/>
            <a:ext cx="1585569" cy="11887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Edit, export and critique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58368" y="6318504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58368" y="6382512"/>
            <a:ext cx="484632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Master Mobile Photography · TGS-2026064718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0" y="6382512"/>
            <a:ext cx="50292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98480" y="6382512"/>
            <a:ext cx="73152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131</a:t>
            </a:r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1083564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LEARNING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835640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What You Can Now Do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664208"/>
            <a:ext cx="2585465" cy="43708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664208"/>
            <a:ext cx="82296" cy="4370832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847088"/>
            <a:ext cx="420624" cy="420624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865376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792224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LO1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322576"/>
            <a:ext cx="2091689" cy="3602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Set up a mobile phone camera for shooting and interpret a shot plan.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08426" y="1664208"/>
            <a:ext cx="2585465" cy="43708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408426" y="1664208"/>
            <a:ext cx="82296" cy="4370832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627882" y="1847088"/>
            <a:ext cx="420624" cy="420624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27882" y="1865376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58234" y="1792224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LO2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64458" y="2322576"/>
            <a:ext cx="2091689" cy="3602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Perform basic mobile photography while meeting safety requirements.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58483" y="1664208"/>
            <a:ext cx="2585465" cy="43708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58483" y="1664208"/>
            <a:ext cx="82296" cy="4370832"/>
          </a:xfrm>
          <a:prstGeom prst="rect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377940" y="1847088"/>
            <a:ext cx="420624" cy="420624"/>
          </a:xfrm>
          <a:prstGeom prst="ellipse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77940" y="1865376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08292" y="1792224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LO3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14516" y="2322576"/>
            <a:ext cx="2091689" cy="3602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Apply framing and composition techniques using a mobile phone camera.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908542" y="1664208"/>
            <a:ext cx="2585465" cy="43708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908542" y="1664208"/>
            <a:ext cx="82296" cy="4370832"/>
          </a:xfrm>
          <a:prstGeom prst="rect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127998" y="1847088"/>
            <a:ext cx="420624" cy="420624"/>
          </a:xfrm>
          <a:prstGeom prst="ellipse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27998" y="1865376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58350" y="1792224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LO4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64574" y="2322576"/>
            <a:ext cx="2091689" cy="3602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Enhance visual quality and effects using capture and editing controls.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58368" y="6318504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8368" y="6382512"/>
            <a:ext cx="484632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Master Mobile Photography · TGS-2026064718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0" y="6382512"/>
            <a:ext cx="50292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698480" y="6382512"/>
            <a:ext cx="73152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132</a:t>
            </a:r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1083564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6D3FD2"/>
                </a:solidFill>
                <a:latin typeface="Arial"/>
              </a:rPr>
              <a:t>QUALITY GATE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835640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Professional Self-Critique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00784"/>
            <a:ext cx="5349240" cy="512064"/>
          </a:xfrm>
          <a:prstGeom prst="roundRect">
            <a:avLst>
              <a:gd name="adj" fmla="val 8000"/>
            </a:avLst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9536" y="1828800"/>
            <a:ext cx="493776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Image craft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2331720"/>
            <a:ext cx="5349240" cy="340156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32688" y="2651760"/>
            <a:ext cx="347472" cy="347472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2670048"/>
            <a:ext cx="347472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35607" y="2615184"/>
            <a:ext cx="4251960" cy="51206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What is the intended subject and message?</a:t>
            </a:r>
          </a:p>
        </p:txBody>
      </p:sp>
      <p:sp>
        <p:nvSpPr>
          <p:cNvPr id="12" name="Oval 11"/>
          <p:cNvSpPr/>
          <p:nvPr/>
        </p:nvSpPr>
        <p:spPr>
          <a:xfrm>
            <a:off x="932688" y="3310128"/>
            <a:ext cx="347472" cy="347472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328415"/>
            <a:ext cx="347472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35607" y="3273552"/>
            <a:ext cx="4251960" cy="51206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Where does the eye go first?</a:t>
            </a:r>
          </a:p>
        </p:txBody>
      </p:sp>
      <p:sp>
        <p:nvSpPr>
          <p:cNvPr id="15" name="Oval 14"/>
          <p:cNvSpPr/>
          <p:nvPr/>
        </p:nvSpPr>
        <p:spPr>
          <a:xfrm>
            <a:off x="932688" y="3968496"/>
            <a:ext cx="347472" cy="347472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3986783"/>
            <a:ext cx="347472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35607" y="3931920"/>
            <a:ext cx="4251960" cy="51206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Are focus, exposure and colour controlled?</a:t>
            </a:r>
          </a:p>
        </p:txBody>
      </p:sp>
      <p:sp>
        <p:nvSpPr>
          <p:cNvPr id="18" name="Oval 17"/>
          <p:cNvSpPr/>
          <p:nvPr/>
        </p:nvSpPr>
        <p:spPr>
          <a:xfrm>
            <a:off x="932688" y="4626864"/>
            <a:ext cx="347472" cy="347472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2688" y="4645152"/>
            <a:ext cx="347472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35607" y="4590288"/>
            <a:ext cx="4251960" cy="51206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Is the composition deliberate?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44768" y="1700784"/>
            <a:ext cx="5349240" cy="512064"/>
          </a:xfrm>
          <a:prstGeom prst="roundRect">
            <a:avLst>
              <a:gd name="adj" fmla="val 8000"/>
            </a:avLst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45936" y="1828800"/>
            <a:ext cx="493776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Fitness for use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44768" y="2331720"/>
            <a:ext cx="5349240" cy="340156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19088" y="2651760"/>
            <a:ext cx="347472" cy="347472"/>
          </a:xfrm>
          <a:prstGeom prst="ellipse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19088" y="2670048"/>
            <a:ext cx="347472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22007" y="2615184"/>
            <a:ext cx="4251960" cy="51206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Does the image meet the brief?</a:t>
            </a:r>
          </a:p>
        </p:txBody>
      </p:sp>
      <p:sp>
        <p:nvSpPr>
          <p:cNvPr id="27" name="Oval 26"/>
          <p:cNvSpPr/>
          <p:nvPr/>
        </p:nvSpPr>
        <p:spPr>
          <a:xfrm>
            <a:off x="6419088" y="3310128"/>
            <a:ext cx="347472" cy="347472"/>
          </a:xfrm>
          <a:prstGeom prst="ellipse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19088" y="3328415"/>
            <a:ext cx="347472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22007" y="3273552"/>
            <a:ext cx="4251960" cy="51206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Are privacy and safety protected?</a:t>
            </a:r>
          </a:p>
        </p:txBody>
      </p:sp>
      <p:sp>
        <p:nvSpPr>
          <p:cNvPr id="30" name="Oval 29"/>
          <p:cNvSpPr/>
          <p:nvPr/>
        </p:nvSpPr>
        <p:spPr>
          <a:xfrm>
            <a:off x="6419088" y="3968496"/>
            <a:ext cx="347472" cy="347472"/>
          </a:xfrm>
          <a:prstGeom prst="ellipse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19088" y="3986783"/>
            <a:ext cx="347472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22007" y="3931920"/>
            <a:ext cx="4251960" cy="51206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Is the edit natural and consistent?</a:t>
            </a:r>
          </a:p>
        </p:txBody>
      </p:sp>
      <p:sp>
        <p:nvSpPr>
          <p:cNvPr id="33" name="Oval 32"/>
          <p:cNvSpPr/>
          <p:nvPr/>
        </p:nvSpPr>
        <p:spPr>
          <a:xfrm>
            <a:off x="6419088" y="4626864"/>
            <a:ext cx="347472" cy="347472"/>
          </a:xfrm>
          <a:prstGeom prst="ellipse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19088" y="4645152"/>
            <a:ext cx="347472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22007" y="4590288"/>
            <a:ext cx="4251960" cy="51206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What one change improves the next capture?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58368" y="6318504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58368" y="6382512"/>
            <a:ext cx="484632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Master Mobile Photography · TGS-2026064718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657600" y="6382512"/>
            <a:ext cx="50292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698480" y="6382512"/>
            <a:ext cx="73152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133</a:t>
            </a:r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1083564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APPROVED RESEARCH SOURCES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835640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Source and Evidence Register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86384" y="1700784"/>
            <a:ext cx="10561320" cy="59436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32688" y="1801368"/>
            <a:ext cx="384048" cy="384048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1819656"/>
            <a:ext cx="384048" cy="32918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90472" y="1783080"/>
            <a:ext cx="9555480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Course page · www.tertiarycourses.com.sg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86384" y="2450592"/>
            <a:ext cx="10561320" cy="59436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32688" y="2551176"/>
            <a:ext cx="384048" cy="384048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2569464"/>
            <a:ext cx="384048" cy="32918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90472" y="2532888"/>
            <a:ext cx="9555480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Adobe smartphone photography guide · www.adobe.com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86384" y="3200400"/>
            <a:ext cx="10561320" cy="59436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32688" y="3300984"/>
            <a:ext cx="384048" cy="384048"/>
          </a:xfrm>
          <a:prstGeom prst="ellipse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3319272"/>
            <a:ext cx="384048" cy="32918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90472" y="3282696"/>
            <a:ext cx="9555480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Digital Photography School beginner tips · digital-photography-school.com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86384" y="3950208"/>
            <a:ext cx="10561320" cy="59436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32688" y="4050792"/>
            <a:ext cx="384048" cy="384048"/>
          </a:xfrm>
          <a:prstGeom prst="ellipse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2688" y="4069080"/>
            <a:ext cx="384048" cy="32918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90472" y="4032504"/>
            <a:ext cx="9555480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TIU Mobile Photography Composition Techniques · lecture-notes.tiu.edu.iq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86384" y="4700016"/>
            <a:ext cx="10561320" cy="59436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32688" y="4800600"/>
            <a:ext cx="384048" cy="384048"/>
          </a:xfrm>
          <a:prstGeom prst="ellipse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32688" y="4818888"/>
            <a:ext cx="384048" cy="32918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90472" y="4782312"/>
            <a:ext cx="9555480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Techformatics mobile photography skills guide · techformatics.com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86384" y="5449824"/>
            <a:ext cx="10561320" cy="59436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32688" y="5550408"/>
            <a:ext cx="384048" cy="384048"/>
          </a:xfrm>
          <a:prstGeom prst="ellipse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32688" y="5568696"/>
            <a:ext cx="384048" cy="32918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90472" y="5532120"/>
            <a:ext cx="9555480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Full URLs and coverage notes are in the Learner Guide source register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58368" y="6318504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8368" y="6382512"/>
            <a:ext cx="484632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Master Mobile Photography · TGS-2026064718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0" y="6382512"/>
            <a:ext cx="50292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698480" y="6382512"/>
            <a:ext cx="73152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134</a:t>
            </a:r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1083564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APPROVED RESEARCH SOURCES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835640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Additional Research and Video References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86384" y="1700784"/>
            <a:ext cx="10561320" cy="59436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32688" y="1801368"/>
            <a:ext cx="384048" cy="384048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1819656"/>
            <a:ext cx="384048" cy="32918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90472" y="1783080"/>
            <a:ext cx="9555480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Aesthetics of Photography smartphone mastery · aestheticsofphotography.com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86384" y="2450592"/>
            <a:ext cx="10561320" cy="59436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32688" y="2551176"/>
            <a:ext cx="384048" cy="384048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2569464"/>
            <a:ext cx="384048" cy="32918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90472" y="2532888"/>
            <a:ext cx="9555480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The School of Photography phone tips · www.theschoolofphotography.com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86384" y="3200400"/>
            <a:ext cx="10561320" cy="59436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32688" y="3300984"/>
            <a:ext cx="384048" cy="384048"/>
          </a:xfrm>
          <a:prstGeom prst="ellipse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3319272"/>
            <a:ext cx="384048" cy="32918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90472" y="3282696"/>
            <a:ext cx="9555480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YouTube: 13 Smartphone Photography Tips &amp; Tricks · www.youtube.com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86384" y="3950208"/>
            <a:ext cx="10561320" cy="59436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32688" y="4050792"/>
            <a:ext cx="384048" cy="384048"/>
          </a:xfrm>
          <a:prstGeom prst="ellipse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2688" y="4069080"/>
            <a:ext cx="384048" cy="32918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90472" y="4032504"/>
            <a:ext cx="9555480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YouTube supplied reference · www.youtube.com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86384" y="4700016"/>
            <a:ext cx="10561320" cy="59436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32688" y="4800600"/>
            <a:ext cx="384048" cy="384048"/>
          </a:xfrm>
          <a:prstGeom prst="ellipse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32688" y="4818888"/>
            <a:ext cx="384048" cy="32918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90472" y="4782312"/>
            <a:ext cx="9555480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YouTube supplied reference · www.youtube.com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86384" y="5449824"/>
            <a:ext cx="10561320" cy="59436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32688" y="5550408"/>
            <a:ext cx="384048" cy="384048"/>
          </a:xfrm>
          <a:prstGeom prst="ellipse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32688" y="5568696"/>
            <a:ext cx="384048" cy="32918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90472" y="5532120"/>
            <a:ext cx="9555480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Full URLs and coverage notes are in the Learner Guide source register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58368" y="6318504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8368" y="6382512"/>
            <a:ext cx="484632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Master Mobile Photography · TGS-2026064718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0" y="6382512"/>
            <a:ext cx="50292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698480" y="6382512"/>
            <a:ext cx="73152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135</a:t>
            </a:r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1083564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LMS/TMS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835640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Courseware and Assessment on the LMS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86384" y="1700784"/>
            <a:ext cx="10561320" cy="59436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32688" y="1801368"/>
            <a:ext cx="384048" cy="384048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1819656"/>
            <a:ext cx="384048" cy="32918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90472" y="1783080"/>
            <a:ext cx="9555480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Download current learner materials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86384" y="2450592"/>
            <a:ext cx="10561320" cy="59436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32688" y="2551176"/>
            <a:ext cx="384048" cy="384048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2569464"/>
            <a:ext cx="384048" cy="32918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90472" y="2532888"/>
            <a:ext cx="9555480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Complete the WA then PP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86384" y="3200400"/>
            <a:ext cx="10561320" cy="59436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32688" y="3300984"/>
            <a:ext cx="384048" cy="384048"/>
          </a:xfrm>
          <a:prstGeom prst="ellipse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3319272"/>
            <a:ext cx="384048" cy="32918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90472" y="3282696"/>
            <a:ext cx="9555480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Upload completed answers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86384" y="3950208"/>
            <a:ext cx="10561320" cy="59436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32688" y="4050792"/>
            <a:ext cx="384048" cy="384048"/>
          </a:xfrm>
          <a:prstGeom prst="ellipse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2688" y="4069080"/>
            <a:ext cx="384048" cy="32918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90472" y="4032504"/>
            <a:ext cx="9555480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Contact enquiry@tertiaryinfotech.com for support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8368" y="6318504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8368" y="6382512"/>
            <a:ext cx="484632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Master Mobile Photography · TGS-2026064718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0" y="6382512"/>
            <a:ext cx="50292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98480" y="6382512"/>
            <a:ext cx="73152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136</a:t>
            </a:r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1083564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2413A"/>
                </a:solidFill>
                <a:latin typeface="Arial"/>
              </a:rPr>
              <a:t>ASSESSMENT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835640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Assessment Reminder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00784"/>
            <a:ext cx="5349240" cy="512064"/>
          </a:xfrm>
          <a:prstGeom prst="roundRect">
            <a:avLst>
              <a:gd name="adj" fmla="val 8000"/>
            </a:avLst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9536" y="1828800"/>
            <a:ext cx="493776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WA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2331720"/>
            <a:ext cx="5349240" cy="340156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32688" y="2651760"/>
            <a:ext cx="347472" cy="347472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2670048"/>
            <a:ext cx="347472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35607" y="2615184"/>
            <a:ext cx="4251960" cy="51206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Written Assessment</a:t>
            </a:r>
          </a:p>
        </p:txBody>
      </p:sp>
      <p:sp>
        <p:nvSpPr>
          <p:cNvPr id="12" name="Oval 11"/>
          <p:cNvSpPr/>
          <p:nvPr/>
        </p:nvSpPr>
        <p:spPr>
          <a:xfrm>
            <a:off x="932688" y="3310128"/>
            <a:ext cx="347472" cy="347472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328415"/>
            <a:ext cx="347472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35607" y="3273552"/>
            <a:ext cx="4251960" cy="51206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8 open-ended questions</a:t>
            </a:r>
          </a:p>
        </p:txBody>
      </p:sp>
      <p:sp>
        <p:nvSpPr>
          <p:cNvPr id="15" name="Oval 14"/>
          <p:cNvSpPr/>
          <p:nvPr/>
        </p:nvSpPr>
        <p:spPr>
          <a:xfrm>
            <a:off x="932688" y="3968496"/>
            <a:ext cx="347472" cy="347472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3986783"/>
            <a:ext cx="347472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35607" y="3931920"/>
            <a:ext cx="4251960" cy="51206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K1–K8</a:t>
            </a:r>
          </a:p>
        </p:txBody>
      </p:sp>
      <p:sp>
        <p:nvSpPr>
          <p:cNvPr id="18" name="Oval 17"/>
          <p:cNvSpPr/>
          <p:nvPr/>
        </p:nvSpPr>
        <p:spPr>
          <a:xfrm>
            <a:off x="932688" y="4626864"/>
            <a:ext cx="347472" cy="347472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2688" y="4645152"/>
            <a:ext cx="347472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35607" y="4590288"/>
            <a:ext cx="4251960" cy="51206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90 minutes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44768" y="1700784"/>
            <a:ext cx="5349240" cy="512064"/>
          </a:xfrm>
          <a:prstGeom prst="roundRect">
            <a:avLst>
              <a:gd name="adj" fmla="val 8000"/>
            </a:avLst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45936" y="1828800"/>
            <a:ext cx="493776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PP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44768" y="2331720"/>
            <a:ext cx="5349240" cy="340156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19088" y="2651760"/>
            <a:ext cx="347472" cy="347472"/>
          </a:xfrm>
          <a:prstGeom prst="ellipse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19088" y="2670048"/>
            <a:ext cx="347472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22007" y="2615184"/>
            <a:ext cx="4251960" cy="51206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Practical Performance</a:t>
            </a:r>
          </a:p>
        </p:txBody>
      </p:sp>
      <p:sp>
        <p:nvSpPr>
          <p:cNvPr id="27" name="Oval 26"/>
          <p:cNvSpPr/>
          <p:nvPr/>
        </p:nvSpPr>
        <p:spPr>
          <a:xfrm>
            <a:off x="6419088" y="3310128"/>
            <a:ext cx="347472" cy="347472"/>
          </a:xfrm>
          <a:prstGeom prst="ellipse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19088" y="3328415"/>
            <a:ext cx="347472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22007" y="3273552"/>
            <a:ext cx="4251960" cy="51206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3 tasks</a:t>
            </a:r>
          </a:p>
        </p:txBody>
      </p:sp>
      <p:sp>
        <p:nvSpPr>
          <p:cNvPr id="30" name="Oval 29"/>
          <p:cNvSpPr/>
          <p:nvPr/>
        </p:nvSpPr>
        <p:spPr>
          <a:xfrm>
            <a:off x="6419088" y="3968496"/>
            <a:ext cx="347472" cy="347472"/>
          </a:xfrm>
          <a:prstGeom prst="ellipse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19088" y="3986783"/>
            <a:ext cx="347472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22007" y="3931920"/>
            <a:ext cx="4251960" cy="51206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A1–A7</a:t>
            </a:r>
          </a:p>
        </p:txBody>
      </p:sp>
      <p:sp>
        <p:nvSpPr>
          <p:cNvPr id="33" name="Oval 32"/>
          <p:cNvSpPr/>
          <p:nvPr/>
        </p:nvSpPr>
        <p:spPr>
          <a:xfrm>
            <a:off x="6419088" y="4626864"/>
            <a:ext cx="347472" cy="347472"/>
          </a:xfrm>
          <a:prstGeom prst="ellipse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19088" y="4645152"/>
            <a:ext cx="347472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22007" y="4590288"/>
            <a:ext cx="4251960" cy="51206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90 minutes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58368" y="6318504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58368" y="6382512"/>
            <a:ext cx="484632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Master Mobile Photography · TGS-2026064718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657600" y="6382512"/>
            <a:ext cx="50292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698480" y="6382512"/>
            <a:ext cx="73152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137</a:t>
            </a:r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1083564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ON ASSESSMENT DAY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835640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Assessment Flow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77240" y="2148840"/>
            <a:ext cx="1878177" cy="288036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48840"/>
            <a:ext cx="1878177" cy="91440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341424" y="2532888"/>
            <a:ext cx="749808" cy="749808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41424" y="2660904"/>
            <a:ext cx="749808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3544" y="3584448"/>
            <a:ext cx="1585569" cy="11887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TRAQOM digital attendance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55417" y="3337560"/>
            <a:ext cx="310896" cy="4572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966313" y="2148840"/>
            <a:ext cx="1878177" cy="288036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966313" y="2148840"/>
            <a:ext cx="1878177" cy="91440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530498" y="2532888"/>
            <a:ext cx="749808" cy="749808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30498" y="2660904"/>
            <a:ext cx="749808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12617" y="3584448"/>
            <a:ext cx="1585569" cy="11887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Assessment digital attendance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44491" y="3337560"/>
            <a:ext cx="310896" cy="4572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155387" y="2148840"/>
            <a:ext cx="1878177" cy="288036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155387" y="2148840"/>
            <a:ext cx="1878177" cy="91440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719572" y="2532888"/>
            <a:ext cx="749808" cy="749808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719572" y="2660904"/>
            <a:ext cx="749808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01691" y="3584448"/>
            <a:ext cx="1585569" cy="11887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Sit WA then PP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33564" y="3337560"/>
            <a:ext cx="310896" cy="4572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44460" y="2148840"/>
            <a:ext cx="1878177" cy="288036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344460" y="2148840"/>
            <a:ext cx="1878177" cy="91440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908645" y="2532888"/>
            <a:ext cx="749808" cy="749808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08645" y="2660904"/>
            <a:ext cx="749808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90764" y="3584448"/>
            <a:ext cx="1585569" cy="11887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Submit answers on LMS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22638" y="3337560"/>
            <a:ext cx="310896" cy="4572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533534" y="2148840"/>
            <a:ext cx="1878177" cy="288036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533534" y="2148840"/>
            <a:ext cx="1878177" cy="91440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0097719" y="2532888"/>
            <a:ext cx="749808" cy="749808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097719" y="2660904"/>
            <a:ext cx="749808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5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79838" y="3584448"/>
            <a:ext cx="1585569" cy="11887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Sign Assessment Summary Record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58368" y="6318504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58368" y="6382512"/>
            <a:ext cx="484632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Master Mobile Photography · TGS-2026064718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0" y="6382512"/>
            <a:ext cx="50292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98480" y="6382512"/>
            <a:ext cx="73152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138</a:t>
            </a:r>
          </a:p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1083564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TRAQOM · SSG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835640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Digital Attendance (Mandatory)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86384" y="1700784"/>
            <a:ext cx="10561320" cy="59436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32688" y="1801368"/>
            <a:ext cx="384048" cy="384048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1819656"/>
            <a:ext cx="384048" cy="32918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90472" y="1783080"/>
            <a:ext cx="9555480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Complete Assessment digital attendance before starting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86384" y="2450592"/>
            <a:ext cx="10561320" cy="59436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32688" y="2551176"/>
            <a:ext cx="384048" cy="384048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2569464"/>
            <a:ext cx="384048" cy="32918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90472" y="2532888"/>
            <a:ext cx="9555480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Use the SSG QR code shown by the trainer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86384" y="3200400"/>
            <a:ext cx="10561320" cy="59436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32688" y="3300984"/>
            <a:ext cx="384048" cy="384048"/>
          </a:xfrm>
          <a:prstGeom prst="ellipse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3319272"/>
            <a:ext cx="384048" cy="32918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90472" y="3282696"/>
            <a:ext cx="9555480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Submit attendance successfully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86384" y="3950208"/>
            <a:ext cx="10561320" cy="59436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32688" y="4050792"/>
            <a:ext cx="384048" cy="384048"/>
          </a:xfrm>
          <a:prstGeom prst="ellipse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2688" y="4069080"/>
            <a:ext cx="384048" cy="32918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90472" y="4032504"/>
            <a:ext cx="9555480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Ask the trainer if confirmation is not visible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8368" y="6318504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8368" y="6382512"/>
            <a:ext cx="484632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Master Mobile Photography · TGS-2026064718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0" y="6382512"/>
            <a:ext cx="50292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98480" y="6382512"/>
            <a:ext cx="73152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139</a:t>
            </a:r>
          </a:p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1083564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MASTER MOBILE PHOTOGRAPHY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835640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/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965960"/>
            <a:ext cx="10332720" cy="14173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3400" b="1">
                <a:solidFill>
                  <a:srgbClr val="161B26"/>
                </a:solidFill>
                <a:latin typeface="Arial"/>
              </a:rPr>
              <a:t>Thank You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3794760"/>
            <a:ext cx="9875520" cy="100584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900" b="0">
                <a:solidFill>
                  <a:srgbClr val="5B6372"/>
                </a:solidFill>
                <a:latin typeface="Arial"/>
              </a:rPr>
              <a:t>Make the next photograph intentional: plan the story, read the light, control the frame.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6318504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6382512"/>
            <a:ext cx="484632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Master Mobile Photography · TGS-2026064718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6382512"/>
            <a:ext cx="50292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98480" y="6382512"/>
            <a:ext cx="73152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140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