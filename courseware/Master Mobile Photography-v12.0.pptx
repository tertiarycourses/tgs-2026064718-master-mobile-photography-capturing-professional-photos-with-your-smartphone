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6064718-Master-Mobile-Photography-Capturing-Professional-Photos-with-Your-Smartphone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2.png"/>
          <p:cNvPicPr>
            <a:picLocks noChangeAspect="1"/>
          </p:cNvPicPr>
          <p:nvPr/>
        </p:nvPicPr>
        <p:blipFill>
          <a:blip r:embed="rId2"/>
          <a:srcRect l="21747" r="21747"/>
          <a:stretch>
            <a:fillRect/>
          </a:stretch>
        </p:blipFill>
        <p:spPr>
          <a:xfrm>
            <a:off x="5303520" y="0"/>
            <a:ext cx="688543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74920" y="0"/>
            <a:ext cx="54864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475488"/>
            <a:ext cx="44348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08A73"/>
                </a:solidFill>
                <a:latin typeface="Arial"/>
              </a:rPr>
              <a:t>WSQ · CAMERA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60120"/>
            <a:ext cx="4526280" cy="21488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Master Mobile Photography: Capturing Professional Photos with Your Smartphone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319272"/>
            <a:ext cx="425196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Capture with intent · compose with purpose · edit with restraint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4261104"/>
            <a:ext cx="4251960" cy="123444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480560"/>
            <a:ext cx="3794760" cy="82296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TGS-2022015227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v12.0 · 19 August 2026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Trainer: Dr Alfred 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788152"/>
            <a:ext cx="438912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5B6372"/>
                </a:solidFill>
                <a:latin typeface="Arial"/>
              </a:rPr>
              <a:t>Tertiary Infotech Academy Pte Ltd · UEN 201200696W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TRAQOM · SSG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Take AM, PM and Assessment digital attendance for this WSQ-funded course.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trainer or administrator displays the SSG attendance QR 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Scan with Singpass/mobile camera and submit each required attendance.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At least 75% attendance and a Competent assessment outcome are required.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5B6372"/>
          </a:solidFill>
          <a:ln>
            <a:solidFill>
              <a:srgbClr val="5B63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3337560" cy="42519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64208" y="2212848"/>
            <a:ext cx="1554480" cy="1554480"/>
          </a:xfrm>
          <a:prstGeom prst="ellipse">
            <a:avLst/>
          </a:prstGeom>
          <a:solidFill>
            <a:srgbClr val="5B6372"/>
          </a:solidFill>
          <a:ln>
            <a:solidFill>
              <a:srgbClr val="5B63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64208" y="2487168"/>
            <a:ext cx="155448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30632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880"/>
            <a:ext cx="306324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before delivery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737360"/>
            <a:ext cx="6949440" cy="6781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737360"/>
            <a:ext cx="91440" cy="67818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783080"/>
            <a:ext cx="6400800" cy="64008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446020"/>
            <a:ext cx="6949440" cy="6781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2446020"/>
            <a:ext cx="91440" cy="67818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491739"/>
            <a:ext cx="6400800" cy="64008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6D3FD2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154680"/>
            <a:ext cx="6949440" cy="6781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91440" cy="67818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200400"/>
            <a:ext cx="6400800" cy="64008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8A73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3863339"/>
            <a:ext cx="6949440" cy="6781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80560" y="3863339"/>
            <a:ext cx="91440" cy="67818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3909059"/>
            <a:ext cx="6400800" cy="64008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4572000"/>
            <a:ext cx="6949440" cy="6781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0560" y="4572000"/>
            <a:ext cx="91440" cy="67818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0" y="4617720"/>
            <a:ext cx="6400800" cy="64008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77600"/>
                </a:solidFill>
                <a:latin typeface="Arial"/>
              </a:rPr>
              <a:t>TRAINING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60" y="5280660"/>
            <a:ext cx="6949440" cy="6781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80560" y="5280660"/>
            <a:ext cx="91440" cy="67818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0" y="5326380"/>
            <a:ext cx="6400800" cy="64008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2413A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3337560" cy="42519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64208" y="2212848"/>
            <a:ext cx="1554480" cy="1554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64208" y="2487168"/>
            <a:ext cx="155448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30632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880"/>
            <a:ext cx="306324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737360"/>
            <a:ext cx="6949440" cy="101727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737360"/>
            <a:ext cx="91440" cy="101727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783080"/>
            <a:ext cx="6400800" cy="96012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Principal Trainer and courseware lead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800350"/>
            <a:ext cx="6949440" cy="101727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2800350"/>
            <a:ext cx="91440" cy="101727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846070"/>
            <a:ext cx="6400800" cy="96012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6D3FD2"/>
                </a:solidFill>
                <a:latin typeface="Arial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AI, automation, software and visual learning design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863339"/>
            <a:ext cx="6949440" cy="101727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80560" y="3863339"/>
            <a:ext cx="91440" cy="101727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909059"/>
            <a:ext cx="6400800" cy="96012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8A73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WSQ and professional digital-skills programmes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4926330"/>
            <a:ext cx="6949440" cy="101727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80560" y="4926330"/>
            <a:ext cx="91440" cy="101727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4972050"/>
            <a:ext cx="6400800" cy="96012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ORGANISATION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Tertiary Infotech Academy Pte Ltd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Name, organisation and role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Your main photography 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Phone model and camera experience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result you want by the end of Day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Phone on silent except during guided capture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Phone on silent except during guided capture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Participate actively and ask questions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Participate actively and ask questions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210312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Respect people, locations and differing 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Respect people, locations and differing views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21031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One conversation at a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One conversation at a time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31920"/>
            <a:ext cx="82296" cy="210312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11480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Return from breaks punctually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Return from breaks punctually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8426" y="3931920"/>
            <a:ext cx="82296" cy="210312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7882" y="411480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7882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8234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Stop any activity that becomes unsafe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4458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Stop any activity that becomes unsafe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COURSE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Profile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Programme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6517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2 days · 16 hours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31012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Beginner level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968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Camera Operations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26864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TSC MED-MPN-3034-1.1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What to bring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19088" y="2651760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Smartphone with camera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310128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Optional laptop for file review</a:t>
            </a:r>
          </a:p>
        </p:txBody>
      </p:sp>
      <p:sp>
        <p:nvSpPr>
          <p:cNvPr id="30" name="Oval 29"/>
          <p:cNvSpPr/>
          <p:nvPr/>
        </p:nvSpPr>
        <p:spPr>
          <a:xfrm>
            <a:off x="6419088" y="3968496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Activities in individual folders</a:t>
            </a:r>
          </a:p>
        </p:txBody>
      </p:sp>
      <p:sp>
        <p:nvSpPr>
          <p:cNvPr id="33" name="Oval 32"/>
          <p:cNvSpPr/>
          <p:nvPr/>
        </p:nvSpPr>
        <p:spPr>
          <a:xfrm>
            <a:off x="6419088" y="4626864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20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WA and Practical Performance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SMARTPHONE IMAGING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 Smartphone Builds an Image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401568" cy="3977639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55648"/>
            <a:ext cx="3401568" cy="1097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1"/>
            <a:ext cx="2834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Optics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2852928" cy="2514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lens and camera module set field of view, perspective and how much light reaches the sensor.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6824" y="1755648"/>
            <a:ext cx="3401568" cy="3977639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06824" y="1755648"/>
            <a:ext cx="3401568" cy="10972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2084831"/>
            <a:ext cx="2834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Sensor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6" y="2816352"/>
            <a:ext cx="2852928" cy="2514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sensor records light within physical limits such as noise, motion blur and dynamic range.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755648"/>
            <a:ext cx="3401568" cy="3977639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80" y="1755648"/>
            <a:ext cx="3401568" cy="109728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2084831"/>
            <a:ext cx="2834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08A73"/>
                </a:solidFill>
                <a:latin typeface="Arial"/>
              </a:rPr>
              <a:t>Computation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816352"/>
            <a:ext cx="2852928" cy="2514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phone aligns and merges frames, then applies tone, colour, sharpening and noise reduction.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Set up a mobile phone camera for shooting and interpret a shot plan.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Perform basic mobile photography while meeting safety requirements.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Apply framing and composition techniques using a mobile phone camera.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Enhance visual quality and effects using capture and editing controls.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KNOWLEDGE K1–K8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Technical specifications for camera equipment and accessories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Features and functions of camera equipment and accessories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210312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Instructions for operating different cameras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21031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Camera positions used to shoot and frame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31920"/>
            <a:ext cx="82296" cy="210312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11480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Principles of picture composition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8426" y="3931920"/>
            <a:ext cx="82296" cy="210312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7882" y="411480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7882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8234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4458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Cinematography techniques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8483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8483" y="3931920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77940" y="411480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7940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8292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4516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Specialty camera equipment and accessories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08542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08542" y="3931920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27998" y="411480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7998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8350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574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Safety regulations and procedures for camera operations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ABILITIES A1–A7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Ability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Interpret detailed shot plans and technical requirements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Coordinate teams for mounted or complex shots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210312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Inspect equipment for correct and safe fitting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21031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Operate cameras to meet aesthetic requirements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31920"/>
            <a:ext cx="82296" cy="210312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11480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Control camera movement, framing and composition safely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8426" y="3931920"/>
            <a:ext cx="82296" cy="210312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7882" y="411480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7882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8234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4458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Alter settings or equipment to compensate for variables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8483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8483" y="3931920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77940" y="411480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7940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8292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4516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Provide feedback on angles and movement to improve visual effects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Day 1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Morning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6517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09:00 Admin, outcomes and assessment briefing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31012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09:45 Topic 1 concepts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968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11:20 Activity 1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26864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12:15 Lunch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Afternoon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19088" y="2651760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13:00 Activity 2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310128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14:00 Topic 2 concepts</a:t>
            </a:r>
          </a:p>
        </p:txBody>
      </p:sp>
      <p:sp>
        <p:nvSpPr>
          <p:cNvPr id="30" name="Oval 29"/>
          <p:cNvSpPr/>
          <p:nvPr/>
        </p:nvSpPr>
        <p:spPr>
          <a:xfrm>
            <a:off x="6419088" y="3968496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16:00 Activities 3–4</a:t>
            </a:r>
          </a:p>
        </p:txBody>
      </p:sp>
      <p:sp>
        <p:nvSpPr>
          <p:cNvPr id="33" name="Oval 32"/>
          <p:cNvSpPr/>
          <p:nvPr/>
        </p:nvSpPr>
        <p:spPr>
          <a:xfrm>
            <a:off x="6419088" y="4626864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20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17:40 Review and Day 1 close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Day 2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Morning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6517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09:00 Topic 3 concepts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31012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10:30 Activities 5–6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968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12:15 Lunch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26864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13:00 Topic 4 concepts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Afternoon and assessment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19088" y="2651760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14:00 Activities 7–8 and course review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310128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15:00 Written Assessment · 90 min</a:t>
            </a:r>
          </a:p>
        </p:txBody>
      </p:sp>
      <p:sp>
        <p:nvSpPr>
          <p:cNvPr id="30" name="Oval 29"/>
          <p:cNvSpPr/>
          <p:nvPr/>
        </p:nvSpPr>
        <p:spPr>
          <a:xfrm>
            <a:off x="6419088" y="3968496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16:30 Practical Performance · 90 min</a:t>
            </a:r>
          </a:p>
        </p:txBody>
      </p:sp>
      <p:sp>
        <p:nvSpPr>
          <p:cNvPr id="33" name="Oval 32"/>
          <p:cNvSpPr/>
          <p:nvPr/>
        </p:nvSpPr>
        <p:spPr>
          <a:xfrm>
            <a:off x="6419088" y="4626864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20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18:00 End of class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BEFORE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Individual, open-book work; no discussion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only the slides, Learner Guide and approved materials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photographs or recordings of assessment scripts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Keep phones/materials under the table unless instructed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4700016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2688" y="4800600"/>
            <a:ext cx="384048" cy="38404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818888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0472" y="4782312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Submit on the LMS and sign the Assessment Summary Record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Knowledge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6517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Written Assessment (SAQ)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31012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8 open-ended questions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968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K1–K8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26864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90 minutes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19088" y="2651760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Practical Performance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310128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3 integrated tasks</a:t>
            </a:r>
          </a:p>
        </p:txBody>
      </p:sp>
      <p:sp>
        <p:nvSpPr>
          <p:cNvPr id="30" name="Oval 29"/>
          <p:cNvSpPr/>
          <p:nvPr/>
        </p:nvSpPr>
        <p:spPr>
          <a:xfrm>
            <a:off x="6419088" y="3968496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A1–A7</a:t>
            </a:r>
          </a:p>
        </p:txBody>
      </p:sp>
      <p:sp>
        <p:nvSpPr>
          <p:cNvPr id="33" name="Oval 32"/>
          <p:cNvSpPr/>
          <p:nvPr/>
        </p:nvSpPr>
        <p:spPr>
          <a:xfrm>
            <a:off x="6419088" y="4626864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20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90 minutes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5417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66313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8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8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4491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5387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7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2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2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1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3564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4446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60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5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answers on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263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33534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4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9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8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LEARNER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Course Activities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Clone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6517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the course repository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31012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Copy the repository address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968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the activities folder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Download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19088" y="2651760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Choose Code · Download ZIP</a:t>
            </a:r>
          </a:p>
        </p:txBody>
      </p:sp>
      <p:sp>
        <p:nvSpPr>
          <p:cNvPr id="24" name="Oval 23"/>
          <p:cNvSpPr/>
          <p:nvPr/>
        </p:nvSpPr>
        <p:spPr>
          <a:xfrm>
            <a:off x="6419088" y="3310128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Extract the downloaded file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968496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Each activity is self-contained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797296"/>
            <a:ext cx="1037844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https://github.com/tertiarycourses/TGS-2026064718-Master-Mobile-Photography-Capturing-Professional-Photos-with-Your-Smartphone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DOWNLOAD COURSE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Open the LMS/TMS portal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Download the learner slides and Learner Guide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the detailed activity procedures in the Learner Guide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Submit the two assessment instruments on the LMS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48840"/>
            <a:ext cx="8686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896112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Setting Up a Mobile Camera for Shooting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03320"/>
            <a:ext cx="896112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Camera systems · accessories · inspection · shot planning · team coordination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60" y="2194560"/>
            <a:ext cx="1097280" cy="10972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56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K1 · K2 · A1 · A2 · A3 ·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01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From Film to Computational Cameras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From Film to Computational Cameras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Inside a Smartphone Camera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Inside a Smartphone Camera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210312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Camera Types and Choosing Well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Camera Types and Choosing Well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21031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Multi-Camera Phone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Multi-Camera Phone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31920"/>
            <a:ext cx="82296" cy="210312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11480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Fixed Aperture, Variable Decisions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Fixed Aperture, Variable Decisions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8426" y="3931920"/>
            <a:ext cx="82296" cy="210312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7882" y="411480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7882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8234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File Formats and Resolution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4458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File Formats and Resolution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8483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8483" y="3931920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77940" y="411480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7940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8292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Why Mobile Photography Works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4516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Why Mobile Photography Works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08542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08542" y="3931920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27998" y="411480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7998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8350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Limits to Plan Around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574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Limits to Plan Around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K1 · K2 · A1 · A2 · A3 ·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01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Stability Accessories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Stability Accessories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64208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44568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Optical and Lighting Accessories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Optical and Lighting Accessories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91856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1856" y="1664208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11312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Accessory Selection Matrix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Accessory Selection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3176016"/>
            <a:ext cx="82296" cy="1347216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3358896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Pre-Shoot Inspection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Pre-Shoot Inspection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5112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25112" y="3176016"/>
            <a:ext cx="82296" cy="1347216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44568" y="3358896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Safe Camera Handling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81144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Safe Camera Handling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1856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91856" y="3176016"/>
            <a:ext cx="82296" cy="1347216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211312" y="3358896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11312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1664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Anatomy of a Shot Plan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8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Anatomy of a Shot Plan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4687824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77824" y="4870704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824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08176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Translate a Brief into Pictures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Translate a Brief into Pictures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5112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25112" y="4687824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44568" y="4870704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44568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74920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Coordinate a Mounted Shot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81144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Coordinate a Mounted Shot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91856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991856" y="4687824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211312" y="4870704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11312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41664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Privacy, Property and Consent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47888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Privacy, Property and Consent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Film to Computational Cameras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35 mm film records light chemically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35 mm film records light chemically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Digital cameras record light on a sensor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Digital cameras record light on a sensor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Smartphones combine optics, sensor and algorithms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Smartphones combine optics, sensor and algorithms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useful question is fitness for purpose—not 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useful question is fitness for purpose—not status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Inside a Smartphone Camera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Lens gathers and directs 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Sensor converts light into electrical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Image processor reduces noise and builds colour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Computational capture may merge several frames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Camera Types and Choosing Well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tactile process and finite frames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Dedicated digital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larger controls and system lenses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Mobile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always available, connected and discreet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Choose by purpose, budget, speed and acceptable quality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Choose by purpose, budget, speed and acceptable quality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Multi-Camera Phone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Ultra-wide expands the field of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Ultra-wide expands the field of 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Wide/main camera is usually the strongest all-rounder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Wide/main camera is usually the strongest all-rounder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Telephoto changes framing without walking closer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Telephoto changes framing without walking closer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Macro/depth/periscope modules vary by device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Macro/depth/periscope modules vary by device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Fixed Aperture, Variable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Most phone lenses use a fixed physical aperture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Most phone lenses use a fixed physical aperture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Shutter time and ISO remain key exposure controls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Shutter time and ISO remain key exposure controls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Portrait blur is often computed from depth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Portrait blur is often computed from depth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 not promise an aperture control a phone does not have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 not promise an aperture control a phone does not have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File Formats and Resolution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JPEG/HEIF are processed and compact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JPEG/HEIF are processed and compact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RAW preserves more adjustment latitude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RAW preserves more adjustment latitude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Higher resolution gives crop room but uses 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Higher resolution gives crop room but uses storage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format and aspect ratio for the final channel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Select format and aspect ratio for the final channel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Mobile Photography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camera is already with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camera is already with you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Capture, edit and share on one device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Capture, edit and share on one device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Small size supports candid and low-profile 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Small size supports candid and low-profile 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Accessories cost less than a full camera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Accessories cost less than a full camera system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Limits to Plan Around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Small sensors struggle when light is scarce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Small sensors struggle when light is scarce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Digital zoom removes pixels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Digital zoom removes pixels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Tiny lenses exaggerate flare and smudges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Tiny lenses exaggerate flare and smudges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Automation can misread focus, colour or depth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Automation can misread focus, colour or depth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Stability Accessories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Two-handed grip reduces shake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Two-handed grip reduces shake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Tripod supports low light, panorama and repeatable framing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Tripod supports low light, panorama and repeatable framing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Bluetooth or timer release avoids touch vibration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Bluetooth or timer release avoids touch vibration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clamp must fit the phone and tighten securely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 clamp must fit the phone and tighten securely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Optical and Lighting Accessories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Clip-on lenses must align with the correct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Clip-on lenses must align with the correct module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Filters can control glare or incoming light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Filters can control glare or incoming light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LED panels provide continuous, directional 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LED panels provide continuous, directional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power bank protects a long assignment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 power bank protects a long assignment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Accessory Selection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solve a real capture problem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verify model, clamp and load compatibility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check sharpness, flare and build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Safety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inspect edges, joints, heat and cables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Pre-Shoot Inspection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Clean all active lenses with a microfibre cloth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Check battery, storage and chosen format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tripod locks, clamp, remote and 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Record defects and remove unsafe equipment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Safe Camera Handling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fingers clear of lenses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Keep fingers clear of lenses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Stand balanced and stop before composing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Stand balanced and stop before composing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a wrist strap where a drop could injure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a wrist strap where a drop could injure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Never step backward into traffic or hazards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Never step backward into traffic or hazards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Anatomy of a Shot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Objective and audience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Objective and audience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Subject, location and production style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Subject, location and production style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Shot list with size, angle and composition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Shot list with size, angle and composition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Light, settings, equipment, safety and permissions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Light, settings, equipment, safety and permissions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Translate a Brief into Pictures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Identify the message the client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Select a visual style that supports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Turn deliverables into observable shot requirements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acceptance criteria before capture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Coordinate a Mounted 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Agree roles and a clear call sequence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Agree roles and a clear call sequence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Mark the tripod footprint away from public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Mark the tripod footprint away from public 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Confirm horizon, sweep direction and start/end points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Confirm horizon, sweep direction and start/end points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Stop when people enter the operating zone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Stop when people enter the operating zone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Privacy, Property and Consent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permission for identifiable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Ask permission for identifiable people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Avoid confidential screens, documents and badges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Avoid confidential screens, documents and badges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Respect property rules and restricted locations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Respect property rules and restricted locations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 not publish logos or faces without authority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 not publish logos or faces without authority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01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Plan and Inspect a Café Product Shoot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neighbourhood café needs eight smartphone photographs of a signature dish and wellness product for a launch post.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Approved shot plan, equipment inspection, safety check and two test frames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cover-hero-v12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A1 · A3 · Smartphone, microfibre cloth, tabletop tripod, LED panel, reflector, power bank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1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ver-hero-v12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1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All eight shots map to a clear purpose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Inspection checklist is complete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unsafe equipment remains in use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Test frames meet focus and highlight criteria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01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Coordinate a Safe Retail Panorama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retail centre needs a clean panorama and supporting wide photographs showing an atrium without obstructing public movement.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Role call sheet, safe tripod setup, panorama and two supporting wide shots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activity-02-panorama-team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A2 · A4 · Smartphone, tripod and clamp, Bluetooth remote, floor markers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2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ty-02-panorama-team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2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Roles and stop signals are documented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Tripod is stable and non-obstructive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Panorama has a level horizon and clean seams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Supporting shots meet the aesthetic brief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01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Anatomy of a Shot 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Translate a Brief into Pictures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Coordinate a Mounted Shot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Privacy, Property and Consent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C77600"/>
                </a:solidFill>
                <a:latin typeface="Arial"/>
              </a:rPr>
              <a:t>45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48840"/>
            <a:ext cx="8686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896112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Basic Mobile Photography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03320"/>
            <a:ext cx="896112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Exposure · focus · colour · light · lenses · low-light and motion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60" y="2194560"/>
            <a:ext cx="1097280" cy="10972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56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K3 · K8 · A3 · A4 · A6 ·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02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Exposure Is a Creative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Exposure Is a Creative Choice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Exposure Triangle—Adapted for Phones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Exposure Triangle—Adapted for Phones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210312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Shutter Time and Motion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Shutter Time and Motion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21031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ISO and Image Quality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ISO and Image Quality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31920"/>
            <a:ext cx="82296" cy="210312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11480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Tap Focus and Focus Lock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Tap Focus and Focus Lock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8426" y="3931920"/>
            <a:ext cx="82296" cy="210312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7882" y="411480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7882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8234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Exposure Compensation and AE Lock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4458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Exposure Compensation and AE Lock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8483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8483" y="3931920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77940" y="411480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7940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8292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White Balance and Colour Temperature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4516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White Balance and Colour Temperature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08542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08542" y="3931920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27998" y="411480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7998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8350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HDR and Dynamic Range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574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HDR and Dynamic Range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K3 · K8 · A3 · A4 · A6 ·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02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Optical vs Digital Zoom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Optical vs Digital Zoom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64208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44568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Perspective and Compression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Perspective and Compression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91856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1856" y="1664208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11312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Direction of 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Read the Direction of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3176016"/>
            <a:ext cx="82296" cy="1347216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3358896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Soft, Hard and Available Light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Soft, Hard and Available Light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5112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25112" y="3176016"/>
            <a:ext cx="82296" cy="1347216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44568" y="3358896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Golden Hour, Blue Hour and Midday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81144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Golden Hour, Blue Hour and Midday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1856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91856" y="3176016"/>
            <a:ext cx="82296" cy="1347216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211312" y="3358896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11312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1664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Night and Low-Light Strategy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8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Night and Low-Light Strategy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4687824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77824" y="4870704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824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08176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Burst, Panorama and Portrait Modes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Burst, Panorama and Portrait Modes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5112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25112" y="4687824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44568" y="4870704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44568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74920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Flash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81144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with Intent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91856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991856" y="4687824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211312" y="4870704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11312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41664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Clean Capture Routine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47888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 Clean Capture Routine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Exposure Is a Creative Choice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Protect important highlight detail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Protect important highlight detail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the subject bright enough to 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Keep the subject bright enough to read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Accept or suppress shadow detail deliberately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Accept or suppress shadow detail deliberately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brightness to support mood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brightness to support mood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Exposure Triangle—Adapted for Phones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Shutter time controls motion and incoming 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Shutter time controls motion and incoming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ISO amplifies the sensor signal and noise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ISO amplifies the sensor signal and noise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Aperture is normally fixed on the phone module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Aperture is normally fixed on the phone module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Automation and multi-frame processing share the workload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Automation and multi-frame processing share the workload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Shutter Time and Motion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Fast capture freezes 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Fast capture freezes 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Slow capture records motion as blur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Slow capture records motion as blur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Panning follows a moving subject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Panning follows a moving subject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Long exposure needs stability and a controlled scene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Long exposure needs stability and a controlled scene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ISO and Image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Low ISO generally gives cleaner detail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Low ISO generally gives cleaner detail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Higher ISO helps in low light but adds noise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Higher ISO helps in low light but adds noise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Stabilise before raising ISO unnecessarily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Stabilise before raising ISO unnecessarily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Judge the result at useful viewing size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Judge the result at useful viewing size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Tap Focus and Focus Lock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Place focus on the intended subject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Place focus on the intended subject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Check eyes for portraits and detail for products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Check eyes for portraits and detail for products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Lock focus when recomposing or waiting for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Lock focus when recomposing or waiting for 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Re-focus if subject distance changes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Re-focus if subject distance changes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Exposure Compensation and AE Lock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Tap the subject or priority tone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Move the brightness control up or 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Lock exposure for a consistent sequence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 highlights and re-adjust before capture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White Balance and Colour Temperature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Warm light shifts toward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Warm light shifts toward amber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Cool light shifts toward blue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Cool light shifts toward blue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 white balance may change between frames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Auto white balance may change between frames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Set a preset or manual value for consistency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Set a preset or manual value for consistency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HDR and Dynamic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High-contrast scenes exceed one exposure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High-contrast scenes exceed one exposure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HDR blends frames for shadow and highlight detail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HDR blends frames for shadow and highlight detail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Movement can cause ghosting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Movement can cause ghosting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the phone steady and inspect edges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Keep the phone steady and inspect edges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Optical vs Digital Zoom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Optical steps use another physical camera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Optical steps use another physical camera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Digital zoom crops and enlarges pixels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Digital zoom crops and enlarges pixels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Move closer when it is safe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Move closer when it is safe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Crop later when composition allows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Crop later when composition allows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Perspective and Compression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Camera position controls perspective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Camera position controls perspective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Close wide-angle views exaggerate near objects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Close wide-angle views exaggerate near objects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Farther tele views appear more compressed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Farther tele views appear more compressed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Choose position first, then lens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Choose position first, then lens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Read the Direction of Light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Front light reveals detail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Front light reveals detail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Side light models form and texture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Side light models form and texture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Backlight creates rim light or silhouette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Backlight creates rim light or silhouette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Top light can deepen eye and nose shadows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Top light can deepen eye and nose shadows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Soft, Hard and Available Light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Large close sources create softer transitions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Large close sources create softer transitions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Small or distant sources make hard edges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Small or distant sources make hard edges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Window light is an efficient soft 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Window light is an efficient soft source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reflectors or white surfaces before flash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reflectors or white surfaces before flash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Golden Hour, Blue Hour and Midday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Golden hour gives warm directional 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Golden hour gives warm directional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Blue hour balances sky and city lights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Blue hour balances sky and city lights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Midday produces hard shadows and bright highlights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Midday produces hard shadows and bright highlights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Match the time of day to the intended mood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Match the time of day to the intended mood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Night and Low-Light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Clean the lens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night mode or a stable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Lower exposure to protect bright lamps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available light and expect some texture/noise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Burst, Panorama and Portrait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Burst improves timing for 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Burst improves timing for 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Panorama stitches a controlled sweep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Panorama stitches a controlled sweep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Portrait mode estimates subject separation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Portrait mode estimates subject separation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Review seams, edges and depth errors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Review seams, edges and depth errors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Flash: Use with Intent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On-phone flash is small and near the lens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On-phone flash is small and near the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It can flatten faces and create hard reflections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It can flatten faces and create hard reflections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Prefer window, ambient or off-axis LED 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Prefer window, ambient or off-axis LED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flash only when its look solves the brief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flash only when its look solves the brief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Clean Capture Routine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Clean · stabilise ·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Focus · set brightness · lock if needed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Capture a short variation 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 sharpness, highlights and distractions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02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Exposure and Colour at a Corporate Event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An event organiser needs speaker and audience photographs under mixed warm stage light and cool ambient light.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Exposure/focus test set, white-balance comparison and five usable event frames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activity-03-event-exposure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A4 · A6 · Smartphone with Pro/Manual mode or exposure compensation, optional monopod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3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ty-03-event-exposure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3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Faces are sharp and readable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Important highlights are not clipped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White balance is consistent across the sequence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Five frames cover place, action and reaction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02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Freeze and Blur Motion at Blue Hour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city mobility campaign needs one frozen-action frame and one creative motion frame from a safe waterfront location.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Frozen-action image, panning image, low-light comparison and settings log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activity-04-motion-low-light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A4 · A5 · A6 · Smartphone with burst/manual controls, tripod or stable support, Bluetooth remote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4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ty-04-motion-low-light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4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Capture position is safe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Frozen frame has a readable subject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Panning frame communicates motion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Settings/effect relationship is explained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02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Night and Low-Light Strategy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Burst, Panorama and Portrait Modes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Flash: Use with Intent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 Clean Capture Routine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End of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108A73"/>
                </a:solidFill>
                <a:latin typeface="Arial"/>
              </a:rPr>
              <a:t>Return refreshed for composition and creative capture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48840"/>
            <a:ext cx="8686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896112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Framing and Composition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03320"/>
            <a:ext cx="896112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Visual hierarchy · placement · lines · space · depth · patterns · emotive arrangement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60" y="2194560"/>
            <a:ext cx="1097280" cy="10972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56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K4 · K5 · A5 ·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03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Composition Directs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Composition Directs Attention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Rule of Thirds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Rule of Thirds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210312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When Centre Composition Works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When Centre Composition Works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21031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Balance and Symmetry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Balance and Symmetry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31920"/>
            <a:ext cx="82296" cy="210312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11480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Pattern, Proportion, Rhythm and Unity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Pattern, Proportion, Rhythm and Unity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8426" y="3931920"/>
            <a:ext cx="82296" cy="210312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7882" y="411480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7882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8234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Negative Space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4458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Negative Space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8483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8483" y="3931920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77940" y="411480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7940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8292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Leading Lines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4516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Leading Lines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08542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08542" y="3931920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27998" y="411480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7998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8350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Frame Within a Frame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574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Frame Within a Frame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K4 · K5 · A5 ·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03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Patterns, Texture and Repetition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Patterns, Texture and Repetition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64208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44568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Contrast Creates Separation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Contrast Creates Separation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91856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1856" y="1664208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11312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Reflections and Visual Effects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Reflections and Visual Effects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3176016"/>
            <a:ext cx="82296" cy="1347216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3358896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Scale and Depth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Scale and Depth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5112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25112" y="3176016"/>
            <a:ext cx="82296" cy="1347216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44568" y="3358896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Rule of Space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81144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Rule of Space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1856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91856" y="3176016"/>
            <a:ext cx="82296" cy="1347216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211312" y="3358896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11312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1664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Point of 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8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Point of View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4687824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77824" y="4870704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824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08176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Arrange Subjects for Emotion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Arrange Subjects for Emotion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5112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25112" y="4687824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44568" y="4870704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44568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74920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Blank-Canvas Check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81144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Blank-Canvas Check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91856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991856" y="4687824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211312" y="4870704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11312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41664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Orientation, Crop and Aspect Ratio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47888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Orientation, Crop and Aspect Ratio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Composition Directs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Choose one primary subject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Choose one primary subject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Remove elements that compete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Remove elements that compete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placement, scale and contrast to guide the eye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placement, scale and contrast to guide the eye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frame includes everything—wanted or not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frame includes everything—wanted or not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Rule of Thirds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Divide the frame into a three-by-three grid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Divide the frame into a three-by-three grid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Place key subjects near intersections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Place key subjects near intersections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Align important horizons with a third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Align important horizons with a third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Leave space toward a gaze or movement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Leave space toward a gaze or movement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When Centre Composition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Symmetrical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Symmetrical architecture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Strong faces and direct gaze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Strong faces and direct gaze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Graphic shapes and isolated subjects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Graphic shapes and isolated subjects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deliberate balance—not automatic centring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deliberate balance—not automatic centring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Balance and Symmetry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Symmetry can be vertical, horizontal or radial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Symmetry can be vertical, horizontal or radial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Visual weight includes brightness, colour and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Visual weight includes brightness, colour and size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Asymmetrical balance feels dynamic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Asymmetrical balance feels dynamic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Minor imperfection can keep symmetry human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Minor imperfection can keep symmetry human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Pattern, Proportion, Rhythm and 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Pattern repeats form or colour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Pattern repeats form or colour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Proportion compares visual sizes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Proportion compares visual sizes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Rhythm controls the repeated path of the eye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Rhythm controls the repeated path of the eye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Unity makes separate elements feel intentional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Unity makes separate elements feel intentional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Negative Space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Give the subject room to stand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Give the subject room to stand 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Choose a simple area with low detail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Choose a simple area with low detail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empty space for mood or copy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empty space for mood or copy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 not confuse empty with accidental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 not confuse empty with accidental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Leading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Roads, rails, shadows and edges can guide the eye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Roads, rails, shadows and edges can guide the eye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Enter the frame cleanly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Enter the frame cleanly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Aim toward the subject or story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Aim toward the subject or story point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Avoid lines that lead viewers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Avoid lines that lead viewers out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Frame Within a Frame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doors, windows, branches or foreground shapes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doors, windows, branches or foreground shapes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inner frame concentrates 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inner frame concentrates attention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the frame relevant to the setting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Keep the frame relevant to the setting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 not cover important subject detail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 not cover important subject detail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Patterns, Texture and Repetition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Fill the frame to strengthen rhythm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Fill the frame to strengthen rhythm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Break a pattern with one contrasting subject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Break a pattern with one contrasting subject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Side light reveals texture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Side light reveals texture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Repetition may be natural or arranged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Repetition may be natural or arranged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Contrast Creates Separation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light against dark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Colour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warm against cool or complementary hues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large against small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Concept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old against new, still against moving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Reflections and Visual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water, glass or polished metal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water, glass or polished metal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Control angle to keep or remove reflections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Control angle to keep or remove reflections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Symmetry can strengthen a mirrored 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Symmetry can strengthen a mirrored scene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Check for unwanted photographer reflections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Check for unwanted photographer reflections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Scale and Depth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Include a known-size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Include a known-size reference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Layer foreground, midground and background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Layer foreground, midground and background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Overlap creates depth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Overlap creates depth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Perspective and focus can separate planes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Perspective and focus can separate planes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Rule of Space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Leave room in front of a moving subject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Leave room in front of a moving subject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Leave looking room in portraits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Leave looking room in portraits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Tight space can communicate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Tight space can communicate pressure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Match the space to the emotional intent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Match the space to the emotional intent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Point of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Eye level feels neutral and relational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Eye level feels neutral and relational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High angle can reveal layout or reduce dominance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High angle can reveal layout or reduce dominance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Low angle can add presence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Low angle can add presence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Bird's-eye and worm's-eye views reshape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Bird's-eye and worm's-eye views reshape context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Arrange Subjects for Emotion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Distance can imply connection or isolation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Distance can imply connection or isolation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Body direction creates relationships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Body direction creates relationships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Eye lines connect people and objects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Eye lines connect people and objects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Natural gestures read more credibly than rigid poses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Natural gestures read more credibly than rigid poses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Blank-Canvas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every edge and corner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Move yourself before moving the subject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Simplify backgrounds and merge lines carefully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Make every object earn its place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Orientation, Crop and Aspect Ratio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Portrait suits people and vertical channels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Portrait suits people and vertical 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Landscape suits environments and groups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Landscape suits environments and groups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Square is graphic but removes side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Square is graphic but removes side context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Capture with the final use in mind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Capture with the final use in mind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Complete a Composition Photo Walk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design studio needs a visual library of textures and urban details for a Singapore-themed mood board.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Ten-image contact sheet demonstrating ten named composition techniques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activity-05-composition-macro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A5 · Smartphone, grid overlay, optional macro attachment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5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ty-05-composition-macro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5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Ten distinct labelled techniques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Primary subject is immediately identifiable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Edges are clean and horizons intentional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privacy or location-rule breach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Direct an Environmental Portrait and Property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small-business profile needs an owner portrait plus an interior image that describes the working environment.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Three portrait variations and two corrected interior views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activity-06-portrait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A4 · A5 · Smartphone, window light, reflector/white card, tripod if available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6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ty-06-property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6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Consent and use are recorded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Portrait has credible skin tone and sharp eyes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Interior verticals are controlled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Five images communicate person and place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03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Point of 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Arrange Subjects for Emotion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Blank-Canvas Check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Orientation, Crop and Aspect Ratio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C77600"/>
                </a:solidFill>
                <a:latin typeface="Arial"/>
              </a:rPr>
              <a:t>45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48840"/>
            <a:ext cx="8686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896112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Enhancing Visual Quality and Effects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03320"/>
            <a:ext cx="896112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Shot size · camera angle · creative capture · specialty cameras · editing · critique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60" y="2194560"/>
            <a:ext cx="1097280" cy="10972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5600" b="1">
                <a:solidFill>
                  <a:srgbClr val="16845B"/>
                </a:solidFill>
                <a:latin typeface="Arial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K6 · K7 · A6 · A7 ·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04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Shot Sizes Build a Visual 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Shot Sizes Build a Visual Story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Five-Shot Coverage Pattern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 Five-Shot Coverage Pattern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210312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Camera Height and Angle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Camera Height and Angle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21031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Perspective as an Effect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Perspective as an Effect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31920"/>
            <a:ext cx="82296" cy="210312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11480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Portrait Mode and Depth Effects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Portrait Mode and Depth Effects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8426" y="3931920"/>
            <a:ext cx="82296" cy="210312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7882" y="411480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7882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8234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Macro and Close-Up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4458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Macro and Close-Up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8483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8483" y="3931920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77940" y="411480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7940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8292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Panorama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4516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Panorama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08542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08542" y="3931920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27998" y="411480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7998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8350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Panning and Motion Blur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574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Panning and Motion Blur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K6 · K7 · A6 · A7 ·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04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Long Exposure and Light Painting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Long Exposure and Light Painting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64208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44568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Silhouette, Reflection and Flare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Silhouette, Reflection and Flare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91856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1856" y="1664208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11312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Specialty Camera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Action Camera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3176016"/>
            <a:ext cx="82296" cy="1347216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3358896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Specialty Camera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Lomography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5112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25112" y="3176016"/>
            <a:ext cx="82296" cy="1347216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44568" y="3358896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Lens and Equipment Care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81144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Lens and Equipment Care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1856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91856" y="3176016"/>
            <a:ext cx="82296" cy="1347216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211312" y="3358896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11312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1664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Mobile Editing Pipeline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8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Mobile Editing Pipeline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4687824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77824" y="4870704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824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08176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Tone Before Colour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Tone Before Colour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5112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25112" y="4687824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44568" y="4870704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44568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74920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Colour and Detail with Restraint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81144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Colour and Detail with Restraint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91856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991856" y="4687824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211312" y="4870704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11312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41664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Feedback That Improves the Next Shot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47888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Feedback That Improves the Next Shot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Shot Sizes Build a Visual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Extreme long establishes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Extreme long establishes place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Long/full shows the whole subject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Long/full shows the whole subject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Medium shows action and relationship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Medium shows action and relationship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Close and extreme close reveal emotion or detail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Close and extreme close reveal emotion or detail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Five-Shot Coverage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878177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Establishing wide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5417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66313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148840"/>
            <a:ext cx="1878177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8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8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Medium 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4491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5387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7" y="2148840"/>
            <a:ext cx="1878177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2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2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1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Close-up detail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3564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4446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60" y="2148840"/>
            <a:ext cx="1878177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5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Reaction or portrait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263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33534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4" y="2148840"/>
            <a:ext cx="1878177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9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8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Alternative angle for edit flexibility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Camera Height and Angle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Eye level feels balanced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Eye level feels balanced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High angle reveals layout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High angle reveals layout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Low angle gives presence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Low angle gives presence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Bird's-eye and worm's-eye create graphic views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Bird's-eye and worm's-eye create graphic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Perspective as an Effect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 close for exaggerated foreground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Get close for exaggerated foreground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Step back for more natural proportions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Step back for more natural proportions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Tilt only when the instability is intentional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Tilt only when the instability is intentional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verticals straight for property and product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Keep verticals straight for property and product 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Portrait Mode and Depth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Separate subject from background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Separate subject from background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edges away from busy textures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Keep edges away from busy textures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sufficient 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sufficient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Inspect hair, glasses, fingers and foreground errors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Inspect hair, glasses, fingers and foreground errors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Macro and Close-Up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Stabilise the 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Stabilise the phone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Find the minimum focus distance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Find the minimum focus distance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Focus on the most informative detail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Focus on the most informative detail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side light for texture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side light for texture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Panorama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Lock a stable stance and level horizon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Lock a stable stance and level horizon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Sweep slowly around the phone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Sweep slowly around the phone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Avoid subjects crossing the seam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Avoid subjects crossing the seam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Review joins and bent lines before leaving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Review joins and bent lines before leaving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Panning and Motion Blur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Match the subject's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Match the subject's direction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Begin tracking before release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Begin tracking before release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Continue after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Continue after capture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Choose a background that shows motion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Choose a background that shows motion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Long Exposure and Light Painting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Mount the 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Mount the phone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Reduce ambient brightness or use an ND filter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Reduce ambient brightness or use an ND filter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 without touching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Trigger without touching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light movement controlled and safe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Keep light movement controlled and safe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Silhouette, Reflection and Flare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Expose for the bright background to make a silhouette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Expose for the bright background to make a silhouette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Change angle to control reflected detail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Change angle to control reflected detail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Shade the lens when flare reduces contrast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Shade the lens when flare reduces contrast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effects intentionally—not by accident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effects intentionally—not by accident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Specialty Camera: Action Camera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Small and mountable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Small and mountable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Protective housings support difficult environments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Protective housings support difficult environments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Wide view captures context and movement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Wide view captures context and movement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Mounts must be load-rated and secure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Mounts must be load-rated and secure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Specialty Camera: Lomography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Simple optics may create vignette, blur or light leaks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Simple optics may create vignette, blur or light leaks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result is an aesthetic choice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result is an aesthetic choice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Unpredictability can suit candid 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Unpredictability can suit candid 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 not confuse an effect with technical failure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 not confuse an effect with technical failure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Lens and Equipment 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a blower or microfibre cloth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a blower or microfibre cloth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Avoid touching optical surfaces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Avoid touching optical surfaces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Store dry in a protective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Store dry in a protective case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Check condensation, caps and mount wear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Check condensation, caps and mount wear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Mobile Editing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Select the strongest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Crop and straighten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Balance exposure and tone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Correct colour, refine detail and export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Tone Before Colour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Set overall exposure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Set overall exposure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Recover highlights and open shadows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Recover highlights and open shadows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contrast to shape—not crush—the image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contrast to shape—not crush—the image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Check black and white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Check black and white points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Colour and Detail with Restraint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Correct white balance before creative grading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Correct white balance before creative grading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saturation selectively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saturation selectively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Sharpen lightly at final size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Sharpen lightly at final size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Avoid halos, waxy noise reduction and fake HDR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Avoid halos, waxy noise reduction and fake HDR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Feedback That Improves the Next 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Describe what is visible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Connect it to the brief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Identify one cause, not a vague dislike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Recommend a specific camera position, setting or timing change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04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Select and Mount Specialty Camera Equipment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An outdoor education provider needs a safe action sequence and asks whether a phone, action camera or creative toy-camera look is appropriate.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Equipment decision, mounting inspection, five-shot action sequence and feedback note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activity-07-specialty-kit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A2 · A3 · A7 · Smartphone, action camera/housing or simulator, rated mount, safety tether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7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ty-07-specialty-kit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7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Equipment choice is justified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Mount and tether pass inspection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Five-shot sequence covers the 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Feedback links an observable defect to a specific correction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04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Edit and Deliver a Tourism Campaign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local travel business needs six consistent photographs for a web page, square social post and vertical story.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Six-image final set, before/after comparisons, export matrix and critique record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cover-hero-v12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A6 · A7 · Built-in editor, Lightroom Mobile or Snapseed; file manager/cloud folder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8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ver-hero-v12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8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Six images are visually consistent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Edits retain natural texture and colour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Exports match the named channels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Critique contains a specific evidence-based improvement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04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Mobile Editing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Tone Before Colour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Colour and Detail with Restraint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Feedback That Improves the Next Shot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48840"/>
            <a:ext cx="8686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896112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Professional Mobile Photography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03320"/>
            <a:ext cx="896112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Plan · inspect · capture · review · edit · deliver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60" y="2194560"/>
            <a:ext cx="1097280" cy="10972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5600" b="1">
                <a:solidFill>
                  <a:srgbClr val="108A73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Complete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878177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Interpret brief and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5417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66313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148840"/>
            <a:ext cx="1878177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8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8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Inspect gear and location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4491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5387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7" y="2148840"/>
            <a:ext cx="1878177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2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2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1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Control light, focus and exposure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3564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4446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60" y="2148840"/>
            <a:ext cx="1878177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5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Compose and capture variations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263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33534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4" y="2148840"/>
            <a:ext cx="1878177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9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8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Edit, export and critique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Can Now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Set up a mobile phone camera for shooting and interpret a shot plan.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Perform basic mobile photography while meeting safety requirements.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Apply framing and composition techniques using a mobile phone camera.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Enhance visual quality and effects using capture and editing controls.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QUALITY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Professional Self-Critique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Image craft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6517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is the intended subject and message?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31012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Where does the eye go first?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968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Are focus, exposure and colour controlled?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26864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Is the composition deliberate?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Fitness for use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19088" y="2651760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Does the image meet the brief?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310128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Are privacy and safety protected?</a:t>
            </a:r>
          </a:p>
        </p:txBody>
      </p:sp>
      <p:sp>
        <p:nvSpPr>
          <p:cNvPr id="30" name="Oval 29"/>
          <p:cNvSpPr/>
          <p:nvPr/>
        </p:nvSpPr>
        <p:spPr>
          <a:xfrm>
            <a:off x="6419088" y="3968496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Is the edit natural and consistent?</a:t>
            </a:r>
          </a:p>
        </p:txBody>
      </p:sp>
      <p:sp>
        <p:nvSpPr>
          <p:cNvPr id="33" name="Oval 32"/>
          <p:cNvSpPr/>
          <p:nvPr/>
        </p:nvSpPr>
        <p:spPr>
          <a:xfrm>
            <a:off x="6419088" y="4626864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20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one change improves the next capture?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APPROVED RESEARCH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Source and Evidence Register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Course page · www.tertiarycourses.com.sg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Adobe smartphone photography guide · www.adobe.com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Digital Photography School beginner tips · digital-photography-school.com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TIU Mobile Photography Composition Techniques · lecture-notes.tiu.edu.iq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4700016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2688" y="4800600"/>
            <a:ext cx="384048" cy="38404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818888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0472" y="4782312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Techformatics mobile photography skills guide · techformatics.com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" y="544982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2688" y="5550408"/>
            <a:ext cx="384048" cy="384048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56869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90472" y="553212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Full URLs and coverage notes are in the Learner Guide source register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APPROVED RESEARCH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Additional Research and Video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Aesthetics of Photography smartphone mastery · aestheticsofphotography.com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School of Photography phone tips · www.theschoolofphotography.com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YouTube: 13 Smartphone Photography Tips &amp; Tricks · www.youtube.com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YouTube supplied reference · www.youtube.com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4700016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2688" y="4800600"/>
            <a:ext cx="384048" cy="38404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818888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0472" y="4782312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YouTube supplied reference · www.youtube.com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" y="544982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2688" y="5550408"/>
            <a:ext cx="384048" cy="384048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56869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90472" y="553212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Full URLs and coverage notes are in the Learner Guide source register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LMS/TMS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Download current learner materials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Complete the WA then 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Upload completed answers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Contact enquiry@tertiaryinfotech.com for support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6517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Written Assessment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31012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8 open-ended questions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968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K1–K8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26864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90 minutes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19088" y="2651760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Practical Performance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310128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3 tasks</a:t>
            </a:r>
          </a:p>
        </p:txBody>
      </p:sp>
      <p:sp>
        <p:nvSpPr>
          <p:cNvPr id="30" name="Oval 29"/>
          <p:cNvSpPr/>
          <p:nvPr/>
        </p:nvSpPr>
        <p:spPr>
          <a:xfrm>
            <a:off x="6419088" y="3968496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A1–A7</a:t>
            </a:r>
          </a:p>
        </p:txBody>
      </p:sp>
      <p:sp>
        <p:nvSpPr>
          <p:cNvPr id="33" name="Oval 32"/>
          <p:cNvSpPr/>
          <p:nvPr/>
        </p:nvSpPr>
        <p:spPr>
          <a:xfrm>
            <a:off x="6419088" y="4626864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20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90 minutes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5417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66313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8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8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4491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5387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7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2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2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1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3564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4446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60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5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answers on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263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33534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4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9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8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TRAQOM · SSG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Complete Assessment digital attendance before starting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the SSG QR code shown by the trainer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Submit attendance successfully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Ask the trainer if confirmation is not visible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MASTER MOBILE PHOTOGRAPHY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1417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94760"/>
            <a:ext cx="9875520" cy="10058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Make the next photograph intentional: plan the story, read the light, control the frame.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TGS-2022015227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